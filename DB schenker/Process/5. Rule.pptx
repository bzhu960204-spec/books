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2713" r:id="rId5"/>
    <p:sldId id="2717" r:id="rId6"/>
    <p:sldId id="2750" r:id="rId7"/>
    <p:sldId id="2756" r:id="rId8"/>
    <p:sldId id="2757" r:id="rId9"/>
    <p:sldId id="2758" r:id="rId10"/>
    <p:sldId id="2760" r:id="rId11"/>
    <p:sldId id="2759" r:id="rId12"/>
    <p:sldId id="2763" r:id="rId13"/>
    <p:sldId id="2774" r:id="rId14"/>
    <p:sldId id="2773" r:id="rId15"/>
    <p:sldId id="2715" r:id="rId16"/>
    <p:sldId id="2714" r:id="rId17"/>
    <p:sldId id="2716" r:id="rId18"/>
    <p:sldId id="2762" r:id="rId19"/>
    <p:sldId id="2775" r:id="rId20"/>
    <p:sldId id="2761" r:id="rId21"/>
    <p:sldId id="2771" r:id="rId22"/>
    <p:sldId id="2753" r:id="rId23"/>
    <p:sldId id="2764" r:id="rId24"/>
    <p:sldId id="2765" r:id="rId25"/>
    <p:sldId id="2754" r:id="rId26"/>
    <p:sldId id="2751" r:id="rId27"/>
    <p:sldId id="2752" r:id="rId28"/>
    <p:sldId id="2766" r:id="rId29"/>
    <p:sldId id="2767" r:id="rId30"/>
    <p:sldId id="2772" r:id="rId31"/>
    <p:sldId id="2768" r:id="rId32"/>
    <p:sldId id="2769" r:id="rId33"/>
    <p:sldId id="2770" r:id="rId34"/>
    <p:sldId id="333" r:id="rId35"/>
    <p:sldId id="334" r:id="rId36"/>
    <p:sldId id="335" r:id="rId37"/>
    <p:sldId id="2677" r:id="rId38"/>
  </p:sldIdLst>
  <p:sldSz cx="12192000" cy="6858000"/>
  <p:notesSz cx="6858000" cy="9144000"/>
  <p:custDataLst>
    <p:tags r:id="rId4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layouts" id="{FA43EFFD-A950-45C7-9495-FF65CA0A34A2}">
          <p14:sldIdLst>
            <p14:sldId id="256"/>
            <p14:sldId id="2713"/>
            <p14:sldId id="2717"/>
            <p14:sldId id="2750"/>
            <p14:sldId id="2756"/>
            <p14:sldId id="2757"/>
            <p14:sldId id="2758"/>
            <p14:sldId id="2760"/>
            <p14:sldId id="2759"/>
            <p14:sldId id="2763"/>
            <p14:sldId id="2774"/>
            <p14:sldId id="2773"/>
            <p14:sldId id="2715"/>
            <p14:sldId id="2714"/>
            <p14:sldId id="2716"/>
            <p14:sldId id="2762"/>
            <p14:sldId id="2775"/>
            <p14:sldId id="2761"/>
            <p14:sldId id="2771"/>
            <p14:sldId id="2753"/>
            <p14:sldId id="2764"/>
            <p14:sldId id="2765"/>
            <p14:sldId id="2754"/>
            <p14:sldId id="2751"/>
            <p14:sldId id="2752"/>
            <p14:sldId id="2766"/>
            <p14:sldId id="2767"/>
            <p14:sldId id="2772"/>
            <p14:sldId id="2768"/>
            <p14:sldId id="2769"/>
            <p14:sldId id="2770"/>
            <p14:sldId id="333"/>
            <p14:sldId id="334"/>
            <p14:sldId id="335"/>
            <p14:sldId id="26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015"/>
    <a:srgbClr val="006E6B"/>
    <a:srgbClr val="D9D9D9"/>
    <a:srgbClr val="F7F6F3"/>
    <a:srgbClr val="BC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5.e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685213"/>
            <a:ext cx="5292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1000"/>
              <a:t>DB SCHENKER | First Name Surname | Department | Date ("Insert&gt; Header and Footer")</a:t>
            </a:r>
            <a:endParaRPr lang="en-US" sz="10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841328" y="8685213"/>
            <a:ext cx="540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14EDE44D-4B77-4836-9946-DA3A9454836B}" type="slidenum">
              <a:rPr lang="de-DE" sz="1000" b="1" smtClean="0">
                <a:latin typeface="+mj-lt"/>
              </a:rPr>
            </a:fld>
            <a:endParaRPr lang="de-DE" sz="1000" b="1">
              <a:latin typeface="+mj-lt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48101" y="8633026"/>
            <a:ext cx="540000" cy="534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5.e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64212" y="611560"/>
            <a:ext cx="5919126" cy="332950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9426" y="4139952"/>
            <a:ext cx="5903912" cy="386104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Edit master text format</a:t>
            </a:r>
            <a:endParaRPr lang="de-DE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5"/>
          </p:nvPr>
        </p:nvSpPr>
        <p:spPr>
          <a:xfrm>
            <a:off x="5848101" y="8685213"/>
            <a:ext cx="540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 b="1">
                <a:latin typeface="+mj-lt"/>
              </a:defRPr>
            </a:lvl1pPr>
          </a:lstStyle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4"/>
          </p:nvPr>
        </p:nvSpPr>
        <p:spPr>
          <a:xfrm>
            <a:off x="479423" y="8685213"/>
            <a:ext cx="5292000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/>
            </a:lvl1pPr>
          </a:lstStyle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101" y="8633026"/>
            <a:ext cx="540000" cy="534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68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1655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2630" indent="-18097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14375" indent="-171450" algn="l" defTabSz="914400" rtl="0" eaLnBrk="1" latinLnBrk="0" hangingPunct="1">
      <a:buClr>
        <a:schemeClr val="tx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722630" indent="-179705" algn="l" defTabSz="914400" rtl="0" eaLnBrk="1" latinLnBrk="0" hangingPunct="1">
      <a:buClr>
        <a:schemeClr val="tx2"/>
      </a:buClr>
      <a:buFont typeface="DB Sans" panose="020B050205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63550" y="611188"/>
            <a:ext cx="5919788" cy="33305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3550" y="611188"/>
            <a:ext cx="5919788" cy="3330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7BE68D-AF28-43C4-991C-34CCD47E1770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DB SCHENKER | First Name Surname | Department | Date ("Insert&gt; Header and Footer")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lienbildplatzhalt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3788" y="285750"/>
            <a:ext cx="4606925" cy="3190875"/>
          </a:xfrm>
        </p:spPr>
      </p:sp>
      <p:sp>
        <p:nvSpPr>
          <p:cNvPr id="40963" name="Notizenplatzhalt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DB Office" panose="020B0604020202020204" pitchFamily="34" charset="0"/>
            </a:endParaRPr>
          </a:p>
        </p:txBody>
      </p:sp>
      <p:sp>
        <p:nvSpPr>
          <p:cNvPr id="40964" name="Fußzeilenplatzhalter 3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100" b="0" i="0">
              <a:latin typeface="Times New Roman" panose="02020603050405020304" pitchFamily="18" charset="0"/>
            </a:endParaRPr>
          </a:p>
        </p:txBody>
      </p:sp>
      <p:sp>
        <p:nvSpPr>
          <p:cNvPr id="40965" name="Foliennummernplatzhalter 4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34F195E2-1CAC-4D8B-B96B-6D26843A4A37}" type="slidenum">
              <a:rPr lang="de-DE" altLang="en-US" sz="1100" b="0" i="0" smtClean="0">
                <a:latin typeface="Times New Roman" panose="02020603050405020304" pitchFamily="18" charset="0"/>
              </a:rPr>
            </a:fld>
            <a:endParaRPr lang="de-DE" altLang="en-US" sz="1100" b="0" i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lienbildplatzhalt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61975" y="285750"/>
            <a:ext cx="5670550" cy="3190875"/>
          </a:xfrm>
        </p:spPr>
      </p:sp>
      <p:sp>
        <p:nvSpPr>
          <p:cNvPr id="43011" name="Notizenplatzhalt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DB Office" panose="020B0604020202020204" pitchFamily="34" charset="0"/>
            </a:endParaRPr>
          </a:p>
        </p:txBody>
      </p:sp>
      <p:sp>
        <p:nvSpPr>
          <p:cNvPr id="43012" name="Fußzeilenplatzhalter 3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100" b="0" i="0">
              <a:latin typeface="Times New Roman" panose="02020603050405020304" pitchFamily="18" charset="0"/>
            </a:endParaRPr>
          </a:p>
        </p:txBody>
      </p:sp>
      <p:sp>
        <p:nvSpPr>
          <p:cNvPr id="43013" name="Foliennummernplatzhalter 4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13705C3F-1C95-4083-B867-6AEE53F41EC5}" type="slidenum">
              <a:rPr lang="de-DE" altLang="en-US" sz="1100" b="0" i="0" smtClean="0">
                <a:latin typeface="Times New Roman" panose="02020603050405020304" pitchFamily="18" charset="0"/>
              </a:rPr>
            </a:fld>
            <a:endParaRPr lang="de-DE" altLang="en-US" sz="1100" b="0" i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lienbildplatzhalt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93788" y="285750"/>
            <a:ext cx="4606925" cy="3190875"/>
          </a:xfrm>
        </p:spPr>
      </p:sp>
      <p:sp>
        <p:nvSpPr>
          <p:cNvPr id="45059" name="Notizenplatzhalt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>
              <a:latin typeface="DB Office" panose="020B0604020202020204" pitchFamily="34" charset="0"/>
            </a:endParaRPr>
          </a:p>
        </p:txBody>
      </p:sp>
      <p:sp>
        <p:nvSpPr>
          <p:cNvPr id="45060" name="Fußzeilenplatzhalter 3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100" b="0" i="0">
              <a:latin typeface="Times New Roman" panose="02020603050405020304" pitchFamily="18" charset="0"/>
            </a:endParaRPr>
          </a:p>
        </p:txBody>
      </p:sp>
      <p:sp>
        <p:nvSpPr>
          <p:cNvPr id="45061" name="Foliennummernplatzhalter 4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38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38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B3709AF-CB4B-4455-8818-6AC125A10C4F}" type="slidenum">
              <a:rPr lang="de-DE" altLang="en-US" sz="1100" b="0" i="0" smtClean="0">
                <a:latin typeface="Times New Roman" panose="02020603050405020304" pitchFamily="18" charset="0"/>
              </a:rPr>
            </a:fld>
            <a:endParaRPr lang="de-DE" altLang="en-US" sz="1100" b="0" i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0864" y="1412875"/>
            <a:ext cx="11233149" cy="295222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0863" y="4365104"/>
            <a:ext cx="11232521" cy="648000"/>
          </a:xfrm>
        </p:spPr>
        <p:txBody>
          <a:bodyPr/>
          <a:lstStyle>
            <a:lvl1pPr marL="0" indent="0" algn="l">
              <a:buNone/>
              <a:defRPr sz="3200">
                <a:latin typeface="DB Head Light" panose="020B0302050202020204" pitchFamily="34" charset="0"/>
              </a:defRPr>
            </a:lvl1pPr>
            <a:lvl2pPr marL="0" indent="0" algn="l">
              <a:buNone/>
              <a:defRPr sz="3200" b="0">
                <a:latin typeface="DB Head Light" panose="020B0302050202020204" pitchFamily="34" charset="0"/>
              </a:defRPr>
            </a:lvl2pPr>
            <a:lvl3pPr marL="0" indent="0" algn="l">
              <a:buNone/>
              <a:defRPr sz="3200" b="0">
                <a:latin typeface="DB Head Light" panose="020B0302050202020204" pitchFamily="34" charset="0"/>
              </a:defRPr>
            </a:lvl3pPr>
            <a:lvl4pPr marL="0" indent="0" algn="l">
              <a:buNone/>
              <a:defRPr sz="3200" b="0">
                <a:latin typeface="DB Head Light" panose="020B0302050202020204" pitchFamily="34" charset="0"/>
              </a:defRPr>
            </a:lvl4pPr>
            <a:lvl5pPr marL="0" indent="0" algn="l">
              <a:buNone/>
              <a:defRPr sz="3200" b="0">
                <a:latin typeface="DB Head Light" panose="020B0302050202020204" pitchFamily="34" charset="0"/>
              </a:defRPr>
            </a:lvl5pPr>
            <a:lvl6pPr marL="0" indent="0" algn="l">
              <a:buNone/>
              <a:defRPr sz="3200" b="0">
                <a:latin typeface="DB Head Light" panose="020B0302050202020204" pitchFamily="34" charset="0"/>
              </a:defRPr>
            </a:lvl6pPr>
            <a:lvl7pPr marL="0" indent="0" algn="l">
              <a:buNone/>
              <a:defRPr sz="3200" b="0">
                <a:latin typeface="DB Head Light" panose="020B0302050202020204" pitchFamily="34" charset="0"/>
              </a:defRPr>
            </a:lvl7pPr>
            <a:lvl8pPr marL="0" indent="0" algn="l">
              <a:buNone/>
              <a:defRPr sz="3200" b="0">
                <a:latin typeface="DB Head Light" panose="020B0302050202020204" pitchFamily="34" charset="0"/>
              </a:defRPr>
            </a:lvl8pPr>
            <a:lvl9pPr marL="0" indent="0" algn="l">
              <a:buNone/>
              <a:defRPr sz="3200" b="0"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632" y="5949320"/>
            <a:ext cx="11232000" cy="360000"/>
          </a:xfrm>
        </p:spPr>
        <p:txBody>
          <a:bodyPr/>
          <a:lstStyle>
            <a:lvl1pPr marL="0" indent="0">
              <a:buNone/>
              <a:defRPr>
                <a:latin typeface="DB Head Light" panose="020B0302050202020204" pitchFamily="34" charset="0"/>
              </a:defRPr>
            </a:lvl1pPr>
            <a:lvl2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11" name="Rechteck: abgerundete Ecken 10"/>
          <p:cNvSpPr/>
          <p:nvPr userDrawn="1"/>
        </p:nvSpPr>
        <p:spPr bwMode="gray">
          <a:xfrm>
            <a:off x="550800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537132" y="518200"/>
            <a:ext cx="5040000" cy="8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1412875"/>
            <a:ext cx="11232000" cy="2952229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08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366800"/>
            <a:ext cx="11232000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49320"/>
            <a:ext cx="11232000" cy="360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>
              <a:buFontTx/>
              <a:buNone/>
              <a:defRPr>
                <a:latin typeface="DB Head Light" panose="020B0302050202020204" pitchFamily="34" charset="0"/>
              </a:defRPr>
            </a:lvl2pPr>
            <a:lvl3pPr marL="0" indent="0">
              <a:buFontTx/>
              <a:buNone/>
              <a:defRPr>
                <a:latin typeface="DB Head Light" panose="020B0302050202020204" pitchFamily="34" charset="0"/>
              </a:defRPr>
            </a:lvl3pPr>
            <a:lvl4pPr marL="0" indent="0">
              <a:buFontTx/>
              <a:buNone/>
              <a:defRPr>
                <a:latin typeface="DB Head Light" panose="020B0302050202020204" pitchFamily="34" charset="0"/>
              </a:defRPr>
            </a:lvl4pPr>
            <a:lvl5pPr marL="0" indent="0">
              <a:buFontTx/>
              <a:buNone/>
              <a:defRPr>
                <a:latin typeface="DB Head Light" panose="020B0302050202020204" pitchFamily="34" charset="0"/>
              </a:defRPr>
            </a:lvl5pPr>
            <a:lvl6pPr marL="0" indent="0">
              <a:buFontTx/>
              <a:buNone/>
              <a:defRPr>
                <a:latin typeface="DB Head Light" panose="020B0302050202020204" pitchFamily="34" charset="0"/>
              </a:defRPr>
            </a:lvl6pPr>
            <a:lvl7pPr marL="0" indent="0">
              <a:buFontTx/>
              <a:buNone/>
              <a:defRPr>
                <a:latin typeface="DB Head Light" panose="020B0302050202020204" pitchFamily="34" charset="0"/>
              </a:defRPr>
            </a:lvl7pPr>
            <a:lvl8pPr marL="0" indent="0">
              <a:buFontTx/>
              <a:buNone/>
              <a:defRPr>
                <a:latin typeface="DB Head Light" panose="020B0302050202020204" pitchFamily="34" charset="0"/>
              </a:defRPr>
            </a:lvl8pPr>
            <a:lvl9pPr marL="0" indent="0">
              <a:buFontTx/>
              <a:buNone/>
              <a:defRPr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537132" y="519400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204864"/>
            <a:ext cx="11232000" cy="2160240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08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366800"/>
            <a:ext cx="11232000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49320"/>
            <a:ext cx="11232000" cy="360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537132" y="519400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384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485638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3576000" y="814167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2000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485638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 bwMode="gray">
          <a:xfrm>
            <a:off x="3576000" y="814167"/>
            <a:ext cx="5040000" cy="838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centered (teal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/>
          <p:cNvSpPr/>
          <p:nvPr userDrawn="1"/>
        </p:nvSpPr>
        <p:spPr bwMode="gray">
          <a:xfrm>
            <a:off x="5485638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551692" y="2276872"/>
            <a:ext cx="11088000" cy="151190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1692" y="5950800"/>
            <a:ext cx="11088000" cy="3600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692" y="3789040"/>
            <a:ext cx="11088000" cy="6480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pic>
        <p:nvPicPr>
          <p:cNvPr id="8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3576000" y="812967"/>
            <a:ext cx="5040000" cy="8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teal frame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0" y="0"/>
            <a:ext cx="6240463" cy="6858000"/>
          </a:xfrm>
          <a:solidFill>
            <a:schemeClr val="bg2">
              <a:alpha val="80000"/>
            </a:schemeClr>
          </a:solidFill>
        </p:spPr>
        <p:txBody>
          <a:bodyPr lIns="540000" rIns="324000" bIns="3348000"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5400000" cy="3600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FontTx/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5399538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20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551384" y="476672"/>
            <a:ext cx="4428000" cy="73694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(picture, white frame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0" y="0"/>
            <a:ext cx="6240463" cy="6858000"/>
          </a:xfrm>
          <a:solidFill>
            <a:schemeClr val="bg1">
              <a:alpha val="80000"/>
            </a:schemeClr>
          </a:solidFill>
        </p:spPr>
        <p:txBody>
          <a:bodyPr lIns="540000" rIns="324000" bIns="3348000"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52000" y="5950800"/>
            <a:ext cx="5400000" cy="3600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FontTx/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pPr lvl="0"/>
            <a:r>
              <a:rPr lang="en-US"/>
              <a:t>Add date | location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52000" y="3789040"/>
            <a:ext cx="5399538" cy="64800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2pPr>
            <a:lvl3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3pPr>
            <a:lvl4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4pPr>
            <a:lvl5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5pPr>
            <a:lvl6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6pPr>
            <a:lvl7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7pPr>
            <a:lvl8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8pPr>
            <a:lvl9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9pPr>
          </a:lstStyle>
          <a:p>
            <a:r>
              <a:rPr lang="en-US"/>
              <a:t>Add subtitle</a:t>
            </a:r>
            <a:endParaRPr lang="en-US"/>
          </a:p>
        </p:txBody>
      </p:sp>
      <p:sp>
        <p:nvSpPr>
          <p:cNvPr id="12" name="Textplatzhalter 6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2000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271780" indent="0">
              <a:buNone/>
              <a:defRPr/>
            </a:lvl2pPr>
          </a:lstStyle>
          <a:p>
            <a:pPr lvl="0"/>
            <a:r>
              <a:rPr lang="en-US"/>
              <a:t> </a:t>
            </a:r>
            <a:endParaRPr lang="en-US"/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551384" y="476672"/>
            <a:ext cx="4428000" cy="73694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tx1"/>
                </a:solidFill>
                <a:latin typeface="+mj-lt"/>
              </a:defRPr>
            </a:lvl1pPr>
            <a:lvl2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2pPr>
            <a:lvl3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3pPr>
            <a:lvl4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4pPr>
            <a:lvl5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5pPr>
            <a:lvl6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6pPr>
            <a:lvl7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7pPr>
            <a:lvl8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8pPr>
            <a:lvl9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bg1"/>
                </a:solidFill>
                <a:latin typeface="+mj-lt"/>
              </a:defRPr>
            </a:lvl1pPr>
            <a:lvl2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2pPr>
            <a:lvl3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3pPr>
            <a:lvl4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4pPr>
            <a:lvl5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5pPr>
            <a:lvl6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6pPr>
            <a:lvl7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7pPr>
            <a:lvl8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8pPr>
            <a:lvl9pPr marL="720090" indent="-720090">
              <a:buClr>
                <a:schemeClr val="accent2"/>
              </a:buClr>
              <a:buFont typeface="+mj-lt"/>
              <a:buAutoNum type="arabicPeriod"/>
              <a:defRPr sz="2200" b="1">
                <a:solidFill>
                  <a:schemeClr val="accent2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2" name="Rechteck 1"/>
          <p:cNvSpPr/>
          <p:nvPr userDrawn="1"/>
        </p:nvSpPr>
        <p:spPr bwMode="gray">
          <a:xfrm>
            <a:off x="9408368" y="260648"/>
            <a:ext cx="2592288" cy="864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7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  <p:sp>
        <p:nvSpPr>
          <p:cNvPr id="8" name="Fußzeilenplatzhalter 7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 anchorCtr="0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tx1"/>
                </a:solidFill>
                <a:latin typeface="+mj-lt"/>
              </a:defRPr>
            </a:lvl1pPr>
            <a:lvl2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2pPr>
            <a:lvl3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3pPr>
            <a:lvl4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4pPr>
            <a:lvl5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5pPr>
            <a:lvl6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6pPr>
            <a:lvl7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7pPr>
            <a:lvl8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8pPr>
            <a:lvl9pPr marL="720090" indent="-720090">
              <a:buClr>
                <a:schemeClr val="accent5"/>
              </a:buClr>
              <a:buFont typeface="+mj-lt"/>
              <a:buAutoNum type="arabicPeriod"/>
              <a:defRPr sz="2200" b="1">
                <a:solidFill>
                  <a:schemeClr val="accent5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1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/>
            </a:lvl2pPr>
            <a:lvl3pPr marL="0" indent="0">
              <a:buFontTx/>
              <a:buNone/>
              <a:defRPr sz="100"/>
            </a:lvl3pPr>
            <a:lvl4pPr marL="0" indent="0">
              <a:buFontTx/>
              <a:buNone/>
              <a:defRPr sz="100"/>
            </a:lvl4pPr>
            <a:lvl5pPr marL="0" indent="0">
              <a:buFontTx/>
              <a:buNone/>
              <a:defRPr sz="100"/>
            </a:lvl5pPr>
            <a:lvl6pPr marL="0" indent="0">
              <a:buFontTx/>
              <a:buNone/>
              <a:defRPr sz="100"/>
            </a:lvl6pPr>
            <a:lvl7pPr marL="0" indent="0">
              <a:buFontTx/>
              <a:buNone/>
              <a:defRPr sz="100"/>
            </a:lvl7pPr>
            <a:lvl8pPr marL="0" indent="0">
              <a:buFontTx/>
              <a:buNone/>
              <a:defRPr sz="100"/>
            </a:lvl8pPr>
            <a:lvl9pPr marL="0" indent="0">
              <a:buFontTx/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 bwMode="gray">
          <a:xfrm>
            <a:off x="11244632" y="6471344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>
                <a:noFill/>
              </a:defRPr>
            </a:lvl2pPr>
            <a:lvl3pPr marL="0" indent="0">
              <a:buFontTx/>
              <a:buNone/>
              <a:defRPr sz="100">
                <a:noFill/>
              </a:defRPr>
            </a:lvl3pPr>
            <a:lvl4pPr marL="0" indent="0">
              <a:buFontTx/>
              <a:buNone/>
              <a:defRPr sz="100">
                <a:noFill/>
              </a:defRPr>
            </a:lvl4pPr>
            <a:lvl5pPr marL="0" indent="0">
              <a:buFontTx/>
              <a:buNone/>
              <a:defRPr sz="100">
                <a:noFill/>
              </a:defRPr>
            </a:lvl5pPr>
            <a:lvl6pPr marL="0" indent="0">
              <a:buFontTx/>
              <a:buNone/>
              <a:defRPr sz="100">
                <a:noFill/>
              </a:defRPr>
            </a:lvl6pPr>
            <a:lvl7pPr marL="0" indent="0">
              <a:buFontTx/>
              <a:buNone/>
              <a:defRPr sz="100">
                <a:noFill/>
              </a:defRPr>
            </a:lvl7pPr>
            <a:lvl8pPr marL="0" indent="0">
              <a:buFontTx/>
              <a:buNone/>
              <a:defRPr sz="100">
                <a:noFill/>
              </a:defRPr>
            </a:lvl8pPr>
            <a:lvl9pPr marL="0" indent="0">
              <a:buFontTx/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07987" y="1845304"/>
            <a:ext cx="8783637" cy="4320000"/>
          </a:xfrm>
        </p:spPr>
        <p:txBody>
          <a:bodyPr/>
          <a:lstStyle>
            <a:lvl1pPr marL="720090" indent="-720090">
              <a:buClrTx/>
              <a:buFont typeface="+mj-lt"/>
              <a:buAutoNum type="arabicPeriod"/>
              <a:defRPr sz="2200" b="1">
                <a:solidFill>
                  <a:schemeClr val="bg1"/>
                </a:solidFill>
                <a:latin typeface="+mj-lt"/>
              </a:defRPr>
            </a:lvl1pPr>
            <a:lvl2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2pPr>
            <a:lvl3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3pPr>
            <a:lvl4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4pPr>
            <a:lvl5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5pPr>
            <a:lvl6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6pPr>
            <a:lvl7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7pPr>
            <a:lvl8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8pPr>
            <a:lvl9pPr marL="720090" indent="-720090">
              <a:buClr>
                <a:schemeClr val="accent6"/>
              </a:buClr>
              <a:buFont typeface="+mj-lt"/>
              <a:buAutoNum type="arabicPeriod"/>
              <a:defRPr sz="2200" b="1">
                <a:solidFill>
                  <a:schemeClr val="accent6"/>
                </a:solidFill>
                <a:latin typeface="+mj-lt"/>
              </a:defRPr>
            </a:lvl9pPr>
          </a:lstStyle>
          <a:p>
            <a:pPr lvl="0"/>
            <a:r>
              <a:rPr lang="en-US"/>
              <a:t>First level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1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/>
            </a:lvl2pPr>
            <a:lvl3pPr marL="0" indent="0">
              <a:buFontTx/>
              <a:buNone/>
              <a:defRPr sz="100"/>
            </a:lvl3pPr>
            <a:lvl4pPr marL="0" indent="0">
              <a:buFontTx/>
              <a:buNone/>
              <a:defRPr sz="100"/>
            </a:lvl4pPr>
            <a:lvl5pPr marL="0" indent="0">
              <a:buFontTx/>
              <a:buNone/>
              <a:defRPr sz="100"/>
            </a:lvl5pPr>
            <a:lvl6pPr marL="0" indent="0">
              <a:buFontTx/>
              <a:buNone/>
              <a:defRPr sz="100"/>
            </a:lvl6pPr>
            <a:lvl7pPr marL="0" indent="0">
              <a:buFontTx/>
              <a:buNone/>
              <a:defRPr sz="100"/>
            </a:lvl7pPr>
            <a:lvl8pPr marL="0" indent="0">
              <a:buFontTx/>
              <a:buNone/>
              <a:defRPr sz="100"/>
            </a:lvl8pPr>
            <a:lvl9pPr marL="0" indent="0">
              <a:buFontTx/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22"/>
          </p:nvPr>
        </p:nvSpPr>
        <p:spPr bwMode="gray">
          <a:xfrm>
            <a:off x="11244632" y="6471344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0" indent="0">
              <a:buFontTx/>
              <a:buNone/>
              <a:defRPr sz="100">
                <a:noFill/>
              </a:defRPr>
            </a:lvl2pPr>
            <a:lvl3pPr marL="0" indent="0">
              <a:buFontTx/>
              <a:buNone/>
              <a:defRPr sz="100">
                <a:noFill/>
              </a:defRPr>
            </a:lvl3pPr>
            <a:lvl4pPr marL="0" indent="0">
              <a:buFontTx/>
              <a:buNone/>
              <a:defRPr sz="100">
                <a:noFill/>
              </a:defRPr>
            </a:lvl4pPr>
            <a:lvl5pPr marL="0" indent="0">
              <a:buFontTx/>
              <a:buNone/>
              <a:defRPr sz="100">
                <a:noFill/>
              </a:defRPr>
            </a:lvl5pPr>
            <a:lvl6pPr marL="0" indent="0">
              <a:buFontTx/>
              <a:buNone/>
              <a:defRPr sz="100">
                <a:noFill/>
              </a:defRPr>
            </a:lvl6pPr>
            <a:lvl7pPr marL="0" indent="0">
              <a:buFontTx/>
              <a:buNone/>
              <a:defRPr sz="100">
                <a:noFill/>
              </a:defRPr>
            </a:lvl7pPr>
            <a:lvl8pPr marL="0" indent="0">
              <a:buFontTx/>
              <a:buNone/>
              <a:defRPr sz="100">
                <a:noFill/>
              </a:defRPr>
            </a:lvl8pPr>
            <a:lvl9pPr marL="0" indent="0">
              <a:buFontTx/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1412776"/>
            <a:ext cx="11376025" cy="216000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3717032"/>
            <a:ext cx="5543550" cy="244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  <a:lvl6pPr marL="0" indent="0">
              <a:buFontTx/>
              <a:buNone/>
              <a:defRPr/>
            </a:lvl6pPr>
            <a:lvl7pPr marL="0" indent="0">
              <a:buFontTx/>
              <a:buNone/>
              <a:defRPr/>
            </a:lvl7pPr>
            <a:lvl8pPr marL="0" indent="0">
              <a:buFontTx/>
              <a:buNone/>
              <a:defRPr/>
            </a:lvl8pPr>
            <a:lvl9pPr marL="0" indent="0">
              <a:buFontTx/>
              <a:buNone/>
              <a:defRPr/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Divider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756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6800" y="1412776"/>
            <a:ext cx="11376000" cy="2160000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3717032"/>
            <a:ext cx="5545137" cy="244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0" indent="0">
              <a:buFontTx/>
              <a:buNone/>
              <a:defRPr>
                <a:solidFill>
                  <a:schemeClr val="tx1"/>
                </a:solidFill>
              </a:defRPr>
            </a:lvl2pPr>
            <a:lvl3pPr marL="0" indent="0">
              <a:buFontTx/>
              <a:buNone/>
              <a:defRPr>
                <a:solidFill>
                  <a:schemeClr val="tx1"/>
                </a:solidFill>
              </a:defRPr>
            </a:lvl3pPr>
            <a:lvl4pPr marL="0" indent="0">
              <a:buFontTx/>
              <a:buNone/>
              <a:defRPr>
                <a:solidFill>
                  <a:schemeClr val="tx1"/>
                </a:solidFill>
              </a:defRPr>
            </a:lvl4pPr>
            <a:lvl5pPr marL="0" indent="0">
              <a:buFontTx/>
              <a:buNone/>
              <a:defRPr>
                <a:solidFill>
                  <a:schemeClr val="tx1"/>
                </a:solidFill>
              </a:defRPr>
            </a:lvl5pPr>
            <a:lvl6pPr marL="0" indent="0">
              <a:buFontTx/>
              <a:buNone/>
              <a:defRPr>
                <a:solidFill>
                  <a:schemeClr val="tx1"/>
                </a:solidFill>
              </a:defRPr>
            </a:lvl6pPr>
            <a:lvl7pPr marL="0" indent="0">
              <a:buFontTx/>
              <a:buNone/>
              <a:defRPr>
                <a:solidFill>
                  <a:schemeClr val="tx1"/>
                </a:solidFill>
              </a:defRPr>
            </a:lvl7pPr>
            <a:lvl8pPr marL="0" indent="0">
              <a:buFontTx/>
              <a:buNone/>
              <a:defRPr>
                <a:solidFill>
                  <a:schemeClr val="tx1"/>
                </a:solidFill>
              </a:defRPr>
            </a:lvl8pPr>
            <a:lvl9pPr marL="0" indent="0">
              <a:buFontTx/>
              <a:buNone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6"/>
          </p:nvPr>
        </p:nvSpPr>
        <p:spPr bwMode="gray">
          <a:xfrm>
            <a:off x="11244632" y="647191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Divider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756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6800" y="1412776"/>
            <a:ext cx="11376000" cy="2160000"/>
          </a:xfrm>
        </p:spPr>
        <p:txBody>
          <a:bodyPr anchor="b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Add chapter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368" y="3717032"/>
            <a:ext cx="5545137" cy="2448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0" indent="0"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buFontTx/>
              <a:buNone/>
              <a:defRPr>
                <a:solidFill>
                  <a:schemeClr val="bg1"/>
                </a:solidFill>
              </a:defRPr>
            </a:lvl4pPr>
            <a:lvl5pPr marL="0" indent="0">
              <a:buFontTx/>
              <a:buNone/>
              <a:defRPr>
                <a:solidFill>
                  <a:schemeClr val="bg1"/>
                </a:solidFill>
              </a:defRPr>
            </a:lvl5pPr>
            <a:lvl6pPr marL="0" indent="0">
              <a:buFontTx/>
              <a:buNone/>
              <a:defRPr>
                <a:solidFill>
                  <a:schemeClr val="bg1"/>
                </a:solidFill>
              </a:defRPr>
            </a:lvl6pPr>
            <a:lvl7pPr marL="0" indent="0">
              <a:buFontTx/>
              <a:buNone/>
              <a:defRPr>
                <a:solidFill>
                  <a:schemeClr val="bg1"/>
                </a:solidFill>
              </a:defRPr>
            </a:lvl7pPr>
            <a:lvl8pPr marL="0" indent="0">
              <a:buFontTx/>
              <a:buNone/>
              <a:defRPr>
                <a:solidFill>
                  <a:schemeClr val="bg1"/>
                </a:solidFill>
              </a:defRPr>
            </a:lvl8pPr>
            <a:lvl9pPr marL="0" indent="0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chapter description</a:t>
            </a:r>
            <a:endParaRPr lang="en-US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6"/>
          </p:nvPr>
        </p:nvSpPr>
        <p:spPr bwMode="gray">
          <a:xfrm>
            <a:off x="11244632" y="6471916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 noChangeAspect="1"/>
          </p:cNvSpPr>
          <p:nvPr>
            <p:ph type="body" sz="quarter" idx="18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8" name="Inhaltsplatzhalter 7"/>
          <p:cNvSpPr>
            <a:spLocks noGrp="1"/>
          </p:cNvSpPr>
          <p:nvPr>
            <p:ph sz="quarter" idx="13" hasCustomPrompt="1"/>
          </p:nvPr>
        </p:nvSpPr>
        <p:spPr bwMode="gray">
          <a:xfrm>
            <a:off x="407988" y="1412875"/>
            <a:ext cx="11376025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407988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 bwMode="gray">
          <a:xfrm>
            <a:off x="6240463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(left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7" name="Inhaltsplatzhalter 6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0463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0" y="1412875"/>
            <a:ext cx="5951538" cy="4752975"/>
          </a:xfrm>
          <a:solidFill>
            <a:schemeClr val="bg1">
              <a:lumMod val="75000"/>
            </a:schemeClr>
          </a:solidFill>
        </p:spPr>
        <p:txBody>
          <a:bodyPr bIns="1584000" anchor="ctr" anchorCtr="0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(right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7" name="Inhaltsplatzhalter 6"/>
          <p:cNvSpPr>
            <a:spLocks noGrp="1"/>
          </p:cNvSpPr>
          <p:nvPr>
            <p:ph sz="quarter" idx="18" hasCustomPrompt="1"/>
          </p:nvPr>
        </p:nvSpPr>
        <p:spPr bwMode="gray">
          <a:xfrm>
            <a:off x="407988" y="1412875"/>
            <a:ext cx="5543550" cy="4752975"/>
          </a:xfrm>
        </p:spPr>
        <p:txBody>
          <a:bodyPr/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40463" y="1412875"/>
            <a:ext cx="5951537" cy="4752975"/>
          </a:xfrm>
          <a:solidFill>
            <a:schemeClr val="bg1">
              <a:lumMod val="75000"/>
            </a:schemeClr>
          </a:solidFill>
        </p:spPr>
        <p:txBody>
          <a:bodyPr b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picture (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large picture (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(grey)">
    <p:bg>
      <p:bgPr>
        <a:solidFill>
          <a:srgbClr val="F5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/>
              <a:t>Add title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tIns="1440000" bIns="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7368" y="2060848"/>
            <a:ext cx="11376000" cy="1225550"/>
          </a:xfrm>
        </p:spPr>
        <p:txBody>
          <a:bodyPr/>
          <a:lstStyle>
            <a:lvl1pPr marL="0" indent="0">
              <a:buFontTx/>
              <a:buNone/>
              <a:defRPr sz="8500" b="1">
                <a:solidFill>
                  <a:schemeClr val="tx1"/>
                </a:solidFill>
                <a:latin typeface="+mj-lt"/>
              </a:defRPr>
            </a:lvl1pPr>
            <a:lvl2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2pPr>
            <a:lvl3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3pPr>
            <a:lvl4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4pPr>
            <a:lvl5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5pPr>
            <a:lvl6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6pPr>
            <a:lvl7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7pPr>
            <a:lvl8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8pPr>
            <a:lvl9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Statement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-1" y="0"/>
            <a:ext cx="12192001" cy="6858000"/>
          </a:xfrm>
          <a:noFill/>
        </p:spPr>
        <p:txBody>
          <a:bodyPr tIns="144000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8"/>
          </p:nvPr>
        </p:nvSpPr>
        <p:spPr bwMode="gray">
          <a:xfrm>
            <a:off x="11246400" y="6472800"/>
            <a:ext cx="540000" cy="54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Textplatzhalter 12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07368" y="2060848"/>
            <a:ext cx="11376000" cy="1225550"/>
          </a:xfrm>
        </p:spPr>
        <p:txBody>
          <a:bodyPr/>
          <a:lstStyle>
            <a:lvl1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1pPr>
            <a:lvl2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2pPr>
            <a:lvl3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3pPr>
            <a:lvl4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4pPr>
            <a:lvl5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5pPr>
            <a:lvl6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6pPr>
            <a:lvl7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7pPr>
            <a:lvl8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8pPr>
            <a:lvl9pPr marL="0" indent="0">
              <a:buFontTx/>
              <a:buNone/>
              <a:defRPr sz="8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Statement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tx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tx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tx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tx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tx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tx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tx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14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bIns="1584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platzhalter 14"/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9552384" y="3939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 bwMode="gray">
          <a:xfrm>
            <a:off x="9336360" y="260648"/>
            <a:ext cx="2664296" cy="6480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988" y="3501008"/>
            <a:ext cx="11376025" cy="936000"/>
          </a:xfrm>
          <a:noFill/>
        </p:spPr>
        <p:txBody>
          <a:bodyPr lIns="0" tIns="0" rIns="0" bIns="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Add a quote</a:t>
            </a:r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07988" y="5229304"/>
            <a:ext cx="11376026" cy="936000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 algn="ctr">
              <a:buFontTx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Tx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Tx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Tx/>
              <a:buNone/>
              <a:defRPr>
                <a:solidFill>
                  <a:schemeClr val="bg1"/>
                </a:solidFill>
              </a:defRPr>
            </a:lvl5pPr>
            <a:lvl6pPr marL="0" indent="0" algn="ctr">
              <a:buFontTx/>
              <a:buNone/>
              <a:defRPr>
                <a:solidFill>
                  <a:schemeClr val="bg1"/>
                </a:solidFill>
              </a:defRPr>
            </a:lvl6pPr>
            <a:lvl7pPr marL="0" indent="0" algn="ctr">
              <a:buFontTx/>
              <a:buNone/>
              <a:defRPr>
                <a:solidFill>
                  <a:schemeClr val="bg1"/>
                </a:solidFill>
              </a:defRPr>
            </a:lvl7pPr>
            <a:lvl8pPr marL="0" indent="0" algn="ctr">
              <a:buFontTx/>
              <a:buNone/>
              <a:defRPr>
                <a:solidFill>
                  <a:schemeClr val="bg1"/>
                </a:solidFill>
              </a:defRPr>
            </a:lvl8pPr>
            <a:lvl9pPr marL="0" indent="0" algn="ctr">
              <a:buFontTx/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Add First Name Surname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5"/>
          </p:nvPr>
        </p:nvSpPr>
        <p:spPr bwMode="gray">
          <a:xfrm>
            <a:off x="5485638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11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, bright)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7" name="Textplatzhalter 6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, dark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1" cy="6858000"/>
          </a:xfrm>
          <a:noFill/>
        </p:spPr>
        <p:txBody>
          <a:bodyPr bIns="1584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7" name="Textplatzhalter 6"/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9552384" y="392704"/>
            <a:ext cx="2232000" cy="3708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7368" y="2565304"/>
            <a:ext cx="11376025" cy="3600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Add final message</a:t>
            </a:r>
            <a:endParaRPr lang="en-US"/>
          </a:p>
        </p:txBody>
      </p:sp>
      <p:sp>
        <p:nvSpPr>
          <p:cNvPr id="5" name="Rechteck 4"/>
          <p:cNvSpPr/>
          <p:nvPr userDrawn="1"/>
        </p:nvSpPr>
        <p:spPr bwMode="gray">
          <a:xfrm>
            <a:off x="9336360" y="260648"/>
            <a:ext cx="2664296" cy="6480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pic>
        <p:nvPicPr>
          <p:cNvPr id="6" name="LOGO_SVG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picture and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 bwMode="gray">
          <a:xfrm>
            <a:off x="8832304" y="116632"/>
            <a:ext cx="3168352" cy="6480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 algn="ctr">
              <a:buClr>
                <a:schemeClr val="accent2"/>
              </a:buClr>
              <a:buFont typeface="DB Sans" panose="020B0502050202020204" pitchFamily="34" charset="0"/>
              <a:buChar char="‒"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tIns="1584000" anchor="ctr"/>
          <a:lstStyle>
            <a:lvl1pPr algn="ctr">
              <a:defRPr/>
            </a:lvl1pPr>
          </a:lstStyle>
          <a:p>
            <a:r>
              <a:rPr lang="en-US"/>
              <a:t>Add image by clicking icon</a:t>
            </a:r>
            <a:endParaRPr lang="en-US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 bwMode="gray">
          <a:xfrm>
            <a:off x="1992000" y="2276872"/>
            <a:ext cx="8208000" cy="136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200">
                <a:noFill/>
              </a:defRPr>
            </a:lvl1pPr>
            <a:lvl2pPr marL="0" indent="0">
              <a:buFontTx/>
              <a:buNone/>
              <a:defRPr sz="200">
                <a:noFill/>
              </a:defRPr>
            </a:lvl2pPr>
            <a:lvl3pPr marL="0" indent="0">
              <a:buFontTx/>
              <a:buNone/>
              <a:defRPr sz="200">
                <a:noFill/>
              </a:defRPr>
            </a:lvl3pPr>
            <a:lvl4pPr marL="0" indent="0">
              <a:buFontTx/>
              <a:buNone/>
              <a:defRPr sz="200">
                <a:noFill/>
              </a:defRPr>
            </a:lvl4pPr>
            <a:lvl5pPr marL="0" indent="0">
              <a:buFontTx/>
              <a:buNone/>
              <a:defRPr sz="200">
                <a:noFill/>
              </a:defRPr>
            </a:lvl5pPr>
            <a:lvl6pPr marL="0" indent="0">
              <a:buFontTx/>
              <a:buNone/>
              <a:defRPr sz="200">
                <a:noFill/>
              </a:defRPr>
            </a:lvl6pPr>
            <a:lvl7pPr marL="0" indent="0">
              <a:buFontTx/>
              <a:buNone/>
              <a:defRPr sz="200">
                <a:noFill/>
              </a:defRPr>
            </a:lvl7pPr>
            <a:lvl8pPr marL="0" indent="0">
              <a:buFontTx/>
              <a:buNone/>
              <a:defRPr sz="200">
                <a:noFill/>
              </a:defRPr>
            </a:lvl8pPr>
            <a:lvl9pPr marL="0" indent="0">
              <a:buFontTx/>
              <a:buNone/>
              <a:defRPr sz="2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0"/>
          </p:nvPr>
        </p:nvSpPr>
        <p:spPr bwMode="gray">
          <a:xfrm>
            <a:off x="777631" y="6692901"/>
            <a:ext cx="8509001" cy="93663"/>
          </a:xfrm>
          <a:prstGeom prst="rect">
            <a:avLst/>
          </a:prstGeom>
        </p:spPr>
        <p:txBody>
          <a:bodyPr vert="horz" wrap="none" lIns="0" tIns="0" rIns="0" bIns="0" numCol="1" anchor="ctr" anchorCtr="0" compatLnSpc="1"/>
          <a:lstStyle>
            <a:lvl1pPr algn="l">
              <a:defRPr sz="900"/>
            </a:lvl1pPr>
          </a:lstStyle>
          <a:p>
            <a:pPr>
              <a:defRPr/>
            </a:pPr>
            <a:r>
              <a:rPr lang="de-DE" altLang="de-DE"/>
              <a:t>Schenker AG | Technology Solution Center | 2017-03-13</a:t>
            </a:r>
            <a:endParaRPr lang="en-GB" altLang="de-DE" dirty="0"/>
          </a:p>
        </p:txBody>
      </p:sp>
      <p:sp>
        <p:nvSpPr>
          <p:cNvPr id="5" name="Foliennummernplatzhalter 1"/>
          <p:cNvSpPr>
            <a:spLocks noGrp="1"/>
          </p:cNvSpPr>
          <p:nvPr>
            <p:ph type="sldNum" sz="quarter" idx="11"/>
          </p:nvPr>
        </p:nvSpPr>
        <p:spPr>
          <a:xfrm>
            <a:off x="332154" y="6692901"/>
            <a:ext cx="353647" cy="9366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0D66B11-4802-4A7F-9B3D-7028C87554B7}" type="slidenum">
              <a:rPr lang="en-GB" altLang="en-US"/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9" Type="http://schemas.openxmlformats.org/officeDocument/2006/relationships/theme" Target="../theme/theme1.xml"/><Relationship Id="rId38" Type="http://schemas.openxmlformats.org/officeDocument/2006/relationships/image" Target="../media/image2.svg"/><Relationship Id="rId37" Type="http://schemas.openxmlformats.org/officeDocument/2006/relationships/image" Target="../media/image1.png"/><Relationship Id="rId36" Type="http://schemas.openxmlformats.org/officeDocument/2006/relationships/image" Target="../media/image5.emf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07368" y="296744"/>
            <a:ext cx="8784000" cy="82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Edit master title format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07988" y="1412875"/>
            <a:ext cx="11376025" cy="47519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format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  <a:p>
            <a:pPr lvl="5"/>
            <a:r>
              <a:rPr lang="en-US"/>
              <a:t>Sechste Ebene</a:t>
            </a:r>
            <a:endParaRPr lang="en-US"/>
          </a:p>
          <a:p>
            <a:pPr lvl="6"/>
            <a:r>
              <a:rPr lang="en-US"/>
              <a:t>Siebte Ebene</a:t>
            </a:r>
            <a:endParaRPr lang="en-US"/>
          </a:p>
          <a:p>
            <a:pPr lvl="7"/>
            <a:r>
              <a:rPr lang="en-US"/>
              <a:t>Achte Ebene</a:t>
            </a:r>
            <a:endParaRPr lang="en-US"/>
          </a:p>
          <a:p>
            <a:pPr lvl="8"/>
            <a:r>
              <a:rPr lang="en-US"/>
              <a:t>Neunte Ebene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407368" y="6525344"/>
            <a:ext cx="10584000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defRPr sz="1000">
                <a:solidFill>
                  <a:schemeClr val="tx1"/>
                </a:solidFill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  <a:lvl6pPr marL="0" indent="0">
              <a:defRPr/>
            </a:lvl6pPr>
            <a:lvl7pPr marL="0" indent="0">
              <a:defRPr/>
            </a:lvl7pPr>
            <a:lvl8pPr marL="0" indent="0">
              <a:defRPr/>
            </a:lvl8pPr>
            <a:lvl9pPr marL="0" indent="0">
              <a:defRPr/>
            </a:lvl9pPr>
          </a:lstStyle>
          <a:p>
            <a:r>
              <a:rPr lang="en-US"/>
              <a:t>DB SCHENKER | Claudia Chen | AM | Date June 22, 2020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44632" y="6525344"/>
            <a:ext cx="540000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en-US" smtClean="0"/>
            </a:fld>
            <a:endParaRPr lang="en-US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6" cstate="print"/>
          <a:stretch>
            <a:fillRect/>
          </a:stretch>
        </p:blipFill>
        <p:spPr bwMode="gray">
          <a:xfrm>
            <a:off x="11244632" y="6471916"/>
            <a:ext cx="540000" cy="53428"/>
          </a:xfrm>
          <a:prstGeom prst="rect">
            <a:avLst/>
          </a:prstGeom>
        </p:spPr>
      </p:pic>
      <p:grpSp>
        <p:nvGrpSpPr>
          <p:cNvPr id="7" name="Gruppieren 6"/>
          <p:cNvGrpSpPr/>
          <p:nvPr userDrawn="1"/>
        </p:nvGrpSpPr>
        <p:grpSpPr bwMode="gray">
          <a:xfrm>
            <a:off x="407368" y="-171400"/>
            <a:ext cx="11377264" cy="72000"/>
            <a:chOff x="407368" y="-243408"/>
            <a:chExt cx="11377264" cy="216000"/>
          </a:xfrm>
        </p:grpSpPr>
        <p:cxnSp>
          <p:nvCxnSpPr>
            <p:cNvPr id="8" name="Gerader Verbinder 7"/>
            <p:cNvCxnSpPr/>
            <p:nvPr userDrawn="1"/>
          </p:nvCxnSpPr>
          <p:spPr bwMode="gray">
            <a:xfrm>
              <a:off x="407368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/>
            <p:cNvCxnSpPr/>
            <p:nvPr userDrawn="1"/>
          </p:nvCxnSpPr>
          <p:spPr bwMode="gray">
            <a:xfrm>
              <a:off x="4007768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/>
            <p:cNvCxnSpPr/>
            <p:nvPr userDrawn="1"/>
          </p:nvCxnSpPr>
          <p:spPr bwMode="gray">
            <a:xfrm>
              <a:off x="429580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/>
            <p:cNvCxnSpPr/>
            <p:nvPr userDrawn="1"/>
          </p:nvCxnSpPr>
          <p:spPr bwMode="gray">
            <a:xfrm>
              <a:off x="5951984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/>
            <p:cNvCxnSpPr/>
            <p:nvPr userDrawn="1"/>
          </p:nvCxnSpPr>
          <p:spPr bwMode="gray">
            <a:xfrm>
              <a:off x="6240016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/>
            <p:cNvCxnSpPr/>
            <p:nvPr userDrawn="1"/>
          </p:nvCxnSpPr>
          <p:spPr bwMode="gray">
            <a:xfrm>
              <a:off x="7896200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 userDrawn="1"/>
          </p:nvCxnSpPr>
          <p:spPr bwMode="gray">
            <a:xfrm>
              <a:off x="81842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/>
            <p:cNvCxnSpPr/>
            <p:nvPr userDrawn="1"/>
          </p:nvCxnSpPr>
          <p:spPr bwMode="gray">
            <a:xfrm>
              <a:off x="11784632" y="-243408"/>
              <a:ext cx="0" cy="216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/>
          <p:cNvGrpSpPr/>
          <p:nvPr userDrawn="1"/>
        </p:nvGrpSpPr>
        <p:grpSpPr bwMode="gray">
          <a:xfrm>
            <a:off x="-168688" y="1412776"/>
            <a:ext cx="72000" cy="4752528"/>
            <a:chOff x="-456728" y="1412776"/>
            <a:chExt cx="216000" cy="4752528"/>
          </a:xfrm>
        </p:grpSpPr>
        <p:cxnSp>
          <p:nvCxnSpPr>
            <p:cNvPr id="18" name="Gerader Verbinder 17"/>
            <p:cNvCxnSpPr/>
            <p:nvPr userDrawn="1"/>
          </p:nvCxnSpPr>
          <p:spPr bwMode="gray">
            <a:xfrm>
              <a:off x="-456728" y="1412776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 userDrawn="1"/>
          </p:nvCxnSpPr>
          <p:spPr bwMode="gray">
            <a:xfrm>
              <a:off x="-456728" y="616530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LOGO_SVG"/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9552384" y="392704"/>
            <a:ext cx="2232000" cy="37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9705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90" indent="-179705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23.png"/><Relationship Id="rId3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5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3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52.png"/><Relationship Id="rId3" Type="http://schemas.openxmlformats.org/officeDocument/2006/relationships/image" Target="../media/image51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5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5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5.xml"/><Relationship Id="rId2" Type="http://schemas.openxmlformats.org/officeDocument/2006/relationships/image" Target="../media/image59.png"/><Relationship Id="rId1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platzhalter 32"/>
          <p:cNvPicPr>
            <a:picLocks noGrp="1" noChangeAspect="1"/>
          </p:cNvPicPr>
          <p:nvPr>
            <p:ph type="pic" sz="quarter" idx="15"/>
          </p:nvPr>
        </p:nvPicPr>
        <p:blipFill>
          <a:blip r:embed="rId1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-1" y="-6849"/>
            <a:ext cx="12192001" cy="6854573"/>
          </a:xfrm>
        </p:spPr>
      </p:pic>
      <p:sp>
        <p:nvSpPr>
          <p:cNvPr id="5" name="Titel 4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/>
              <a:t>Rule</a:t>
            </a:r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2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dirty="0"/>
              <a:t>2021 Jan| TSC Nanjing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6"/>
          </p:nvPr>
        </p:nvSpPr>
        <p:spPr bwMode="gray"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7368" y="1873340"/>
            <a:ext cx="11479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the communication parameters (like filename or subject) aren´t enough to find the correct process and the content of the file has to be taken into account, a rule can be used.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7368" y="1206654"/>
            <a:ext cx="1324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3200" dirty="0"/>
              <a:t>Usage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407368" y="2844225"/>
            <a:ext cx="154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altLang="zh-CN" sz="3200" dirty="0"/>
              <a:t>E-Trans</a:t>
            </a:r>
            <a:endParaRPr lang="en-US" sz="3200" dirty="0"/>
          </a:p>
        </p:txBody>
      </p:sp>
      <p:sp>
        <p:nvSpPr>
          <p:cNvPr id="9" name="Rectangle 8"/>
          <p:cNvSpPr/>
          <p:nvPr/>
        </p:nvSpPr>
        <p:spPr>
          <a:xfrm>
            <a:off x="407368" y="3691999"/>
            <a:ext cx="104832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E-Trans is an EDI platform like SWORD, that routes and maps Messages. </a:t>
            </a:r>
            <a:endParaRPr lang="en-US" dirty="0"/>
          </a:p>
          <a:p>
            <a:r>
              <a:rPr lang="en-US" dirty="0"/>
              <a:t>For example, COS, CIEL and CTTS are connected to E-Trans.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from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7368" y="1124744"/>
            <a:ext cx="430124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sz="1600" dirty="0"/>
              <a:t>Use Rule: SCXXEALLXX in general page</a:t>
            </a: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Clr>
                <a:schemeClr val="accent1"/>
              </a:buClr>
            </a:pPr>
            <a:endParaRPr lang="en-US" sz="1600" dirty="0"/>
          </a:p>
          <a:p>
            <a:pPr>
              <a:buClr>
                <a:schemeClr val="accent1"/>
              </a:buClr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600" dirty="0"/>
          </a:p>
          <a:p>
            <a:pPr>
              <a:buClr>
                <a:schemeClr val="accent1"/>
              </a:buClr>
            </a:pPr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152" y="1625507"/>
            <a:ext cx="3225966" cy="3606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from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3547104"/>
            <a:ext cx="10046216" cy="29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3756" y="93016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chemeClr val="accent1"/>
              </a:buClr>
            </a:pPr>
            <a:r>
              <a:rPr lang="en-US" dirty="0"/>
              <a:t>2. Configure in Analyze Header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Clr>
                <a:schemeClr val="accent1"/>
              </a:buClr>
            </a:pPr>
            <a:r>
              <a:rPr lang="en-US" dirty="0"/>
              <a:t>3. Detection page no need to configure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0" y="2164480"/>
            <a:ext cx="9970012" cy="1047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SCXXEALLXX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124744"/>
            <a:ext cx="7741048" cy="4121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SCXXEALLXX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704034"/>
            <a:ext cx="10008114" cy="2121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SCXXEALLXX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124744"/>
            <a:ext cx="6197919" cy="32196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368" y="4325032"/>
            <a:ext cx="11633944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E_CR_AnalyzeHeader</a:t>
            </a:r>
            <a:endParaRPr lang="en-US" dirty="0"/>
          </a:p>
          <a:p>
            <a:r>
              <a:rPr lang="en-US" dirty="0"/>
              <a:t>The combination of sender, receiver and message type (concatenation character #</a:t>
            </a:r>
            <a:endParaRPr lang="en-US" dirty="0"/>
          </a:p>
          <a:p>
            <a:r>
              <a:rPr lang="en-US" dirty="0"/>
              <a:t>e.g. </a:t>
            </a:r>
            <a:r>
              <a:rPr lang="en-US" dirty="0" err="1">
                <a:highlight>
                  <a:srgbClr val="FFFF00"/>
                </a:highlight>
              </a:rPr>
              <a:t>sender#receiver#messagetype</a:t>
            </a:r>
            <a:r>
              <a:rPr lang="en-US" dirty="0"/>
              <a:t>) retrieved by </a:t>
            </a:r>
            <a:r>
              <a:rPr lang="en-US" dirty="0" err="1"/>
              <a:t>E_CR_AnalyzeHeader</a:t>
            </a:r>
            <a:r>
              <a:rPr lang="en-US" dirty="0"/>
              <a:t> is used as</a:t>
            </a:r>
            <a:r>
              <a:rPr lang="en-US" dirty="0">
                <a:highlight>
                  <a:srgbClr val="FFFF00"/>
                </a:highlight>
              </a:rPr>
              <a:t> key to retrieve data from dynamic table DYN_ANALYZE_HEADER</a:t>
            </a:r>
            <a:r>
              <a:rPr lang="en-US" dirty="0"/>
              <a:t>. </a:t>
            </a:r>
            <a:r>
              <a:rPr lang="en-US" dirty="0">
                <a:highlight>
                  <a:srgbClr val="FFFF00"/>
                </a:highlight>
              </a:rPr>
              <a:t>In this dynamic table SWING sender, SWING receiver, SWING message type, </a:t>
            </a:r>
            <a:r>
              <a:rPr lang="en-US" dirty="0" err="1">
                <a:highlight>
                  <a:srgbClr val="FFFF00"/>
                </a:highlight>
              </a:rPr>
              <a:t>ProcessId</a:t>
            </a:r>
            <a:r>
              <a:rPr lang="en-US" dirty="0">
                <a:highlight>
                  <a:srgbClr val="FFFF00"/>
                </a:highlight>
              </a:rPr>
              <a:t> and routing code can be configured</a:t>
            </a:r>
            <a:r>
              <a:rPr lang="en-US" dirty="0"/>
              <a:t>. The result is stored in attribute </a:t>
            </a:r>
            <a:r>
              <a:rPr lang="en-US" dirty="0" err="1">
                <a:highlight>
                  <a:srgbClr val="FFFF00"/>
                </a:highlight>
              </a:rPr>
              <a:t>GenAtt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/>
              <a:t> This attribute is evaluated in </a:t>
            </a:r>
            <a:r>
              <a:rPr lang="en-US" dirty="0" err="1"/>
              <a:t>CR_ContentDetect</a:t>
            </a:r>
            <a:r>
              <a:rPr lang="en-US" dirty="0"/>
              <a:t> and can be used to fetch references.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APPLECOSAC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711029"/>
            <a:ext cx="9627095" cy="31688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APPLECOSAC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589029"/>
            <a:ext cx="9550891" cy="2940201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087241" y="5046275"/>
          <a:ext cx="23288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2" imgW="3819525" imgH="781050" progId="Package">
                  <p:embed/>
                </p:oleObj>
              </mc:Choice>
              <mc:Fallback>
                <p:oleObj name="Packager Shell Object" showAsIcon="1" r:id="rId2" imgW="3819525" imgH="781050" progId="Package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87241" y="5046275"/>
                        <a:ext cx="2328863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APPLECOSAC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982294"/>
            <a:ext cx="7398130" cy="20003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368" y="3413689"/>
            <a:ext cx="9229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GenAtt</a:t>
            </a:r>
            <a:r>
              <a:rPr lang="en-US" dirty="0"/>
              <a:t> {{"GW_HOST","b2biprdapp5","</a:t>
            </a:r>
            <a:r>
              <a:rPr lang="en-US" dirty="0">
                <a:highlight>
                  <a:srgbClr val="FFFF00"/>
                </a:highlight>
              </a:rPr>
              <a:t>OriginalSender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APPLE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OriginalReceiver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SIECOS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OriginalMessageType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997STA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ProcessId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APPLECOSAC</a:t>
            </a:r>
            <a:r>
              <a:rPr lang="en-US" dirty="0"/>
              <a:t>"}}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7368" y="4732983"/>
            <a:ext cx="2722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COS: A0Q, A1Q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Sender: A1Q 40-80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Receiver: A0Q 40-74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Message Type: A0Q 11-16 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page set 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49" y="1124744"/>
            <a:ext cx="4159464" cy="39118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883" y="1770714"/>
            <a:ext cx="5512083" cy="2673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page not set 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289842"/>
            <a:ext cx="4407126" cy="38673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15" y="2091635"/>
            <a:ext cx="6172517" cy="18733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7367" y="1001454"/>
            <a:ext cx="2361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800" dirty="0"/>
              <a:t>From E-Trans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407367" y="1644967"/>
            <a:ext cx="77708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Except for EDIFACT, E-Trans sends files with A0Q/A1Q Header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80 characters a line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7367" y="3167390"/>
            <a:ext cx="3747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2800" dirty="0"/>
              <a:t>From COS: A0Q+A1Q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407367" y="3963970"/>
            <a:ext cx="86955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  <a:endParaRPr lang="en-US" b="1" dirty="0"/>
          </a:p>
          <a:p>
            <a:r>
              <a:rPr lang="en-US" i="1" dirty="0"/>
              <a:t>A0Q*Q*Q*Q*XML   001001DKSDK190726090718PROAEALFA</a:t>
            </a:r>
            <a:br>
              <a:rPr lang="en-US" i="1" dirty="0"/>
            </a:br>
            <a:r>
              <a:rPr lang="en-US" i="1" dirty="0"/>
              <a:t>A1Q*Q*Q*Q*                             SDKCOS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6117" y="1719656"/>
          <a:ext cx="8097520" cy="4805688"/>
        </p:xfrm>
        <a:graphic>
          <a:graphicData uri="http://schemas.openxmlformats.org/drawingml/2006/table">
            <a:tbl>
              <a:tblPr/>
              <a:tblGrid>
                <a:gridCol w="1619504"/>
                <a:gridCol w="1619504"/>
                <a:gridCol w="1619504"/>
                <a:gridCol w="1619504"/>
                <a:gridCol w="1619504"/>
              </a:tblGrid>
              <a:tr h="260350">
                <a:tc>
                  <a:txBody>
                    <a:bodyPr/>
                    <a:lstStyle/>
                    <a:p>
                      <a:r>
                        <a:rPr lang="en-US" sz="1300" b="1"/>
                        <a:t>Header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Position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Description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/>
                        <a:t>Length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Example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rowSpan="10">
                  <a:txBody>
                    <a:bodyPr/>
                    <a:lstStyle/>
                    <a:p>
                      <a:r>
                        <a:rPr lang="en-US" sz="1300" b="1"/>
                        <a:t>A0Q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1-10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Fixed value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“A0Q*Q*Q*Q*”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11-16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Message Type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“XML   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17-19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Message Version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“001”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20-22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Message Release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“001”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23-24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Country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“DK “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25-27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Receiving office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“SDK“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28-35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Transmission Date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9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“190726090”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36-39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Transmission Time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“0718”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40-74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Receiver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35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“PROAEALFA”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61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75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Test indicator (“T” or &lt;blank&gt;)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&lt;blank&gt;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rowSpan="5">
                  <a:txBody>
                    <a:bodyPr/>
                    <a:lstStyle/>
                    <a:p>
                      <a:r>
                        <a:rPr lang="en-US" sz="1300" b="1"/>
                        <a:t>A1Q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1-10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Fixed value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10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“A1Q*Q*Q*Q*”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61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11-24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Application reference 1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14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 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5613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25-38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Application reference 2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14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 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39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Test indicator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 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40-80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Sender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41</a:t>
                      </a:r>
                      <a:endParaRPr lang="en-US" sz="130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“SDKCOS”</a:t>
                      </a:r>
                      <a:endParaRPr lang="en-US" sz="1300" dirty="0"/>
                    </a:p>
                  </a:txBody>
                  <a:tcPr marL="65088" marR="65088" marT="32544" marB="325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07368" y="1381102"/>
            <a:ext cx="159530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B Office" panose="020B0604020202020204" pitchFamily="34" charset="0"/>
              </a:rPr>
              <a:t>Description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B Office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7368" y="734771"/>
            <a:ext cx="86955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A0Q*Q*Q*Q*XML   001001DKSDK190726090718PROAEALFA</a:t>
            </a:r>
            <a:br>
              <a:rPr lang="en-US" i="1" dirty="0"/>
            </a:br>
            <a:r>
              <a:rPr lang="en-US" i="1" dirty="0"/>
              <a:t>A1Q*Q*Q*Q*                             SDKCOS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E-Trans partner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DB SCHENKER | Vanessa Xu | AM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07368" y="10396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Example</a:t>
            </a:r>
            <a:endParaRPr lang="en-US" b="1" dirty="0"/>
          </a:p>
          <a:p>
            <a:r>
              <a:rPr lang="en-US" i="1" dirty="0"/>
              <a:t>A0Q*Q*Q*Q*IKAXML001001RAILTOOL         SRC003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368" y="2397325"/>
          <a:ext cx="11376024" cy="3474720"/>
        </p:xfrm>
        <a:graphic>
          <a:graphicData uri="http://schemas.openxmlformats.org/drawingml/2006/table">
            <a:tbl>
              <a:tblPr/>
              <a:tblGrid>
                <a:gridCol w="2844006"/>
                <a:gridCol w="2844006"/>
                <a:gridCol w="2844006"/>
                <a:gridCol w="2844006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Position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Length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1-10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Fixed value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“A0Q*Q*Q*Q*”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11-16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Message Type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“IKAXML”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17-19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Message Version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“001”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20-22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Message Release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“001”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23-39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Sender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17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“RAILTOOL         “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40-74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Receiver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“SRC003                             “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75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Test indicator (“T” or &lt;blank&gt;)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&lt;blank&gt;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07368" y="1808561"/>
            <a:ext cx="187743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B Office" panose="020B0604020202020204" pitchFamily="34" charset="0"/>
              </a:rPr>
              <a:t>Description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B Office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124744"/>
            <a:ext cx="9608044" cy="1911448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9864725" y="1993900"/>
          <a:ext cx="26130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Packager Shell Object" showAsIcon="1" r:id="rId2" imgW="4286250" imgH="781050" progId="Package">
                  <p:embed/>
                </p:oleObj>
              </mc:Choice>
              <mc:Fallback>
                <p:oleObj name="Packager Shell Object" showAsIcon="1" r:id="rId2" imgW="4286250" imgH="781050" progId="Package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4725" y="1993900"/>
                        <a:ext cx="2613025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3196003"/>
            <a:ext cx="8217322" cy="17399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7368" y="5095803"/>
            <a:ext cx="8305117" cy="935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GenAtt</a:t>
            </a:r>
            <a:r>
              <a:rPr lang="en-US" dirty="0"/>
              <a:t> {{"GW_HOST","b2biprdapp5","</a:t>
            </a:r>
            <a:r>
              <a:rPr lang="en-US" dirty="0">
                <a:highlight>
                  <a:srgbClr val="FFFF00"/>
                </a:highlight>
              </a:rPr>
              <a:t>OriginalSender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STT003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OriginalReceiver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DESICO-T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OriginalMessageType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TTM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ProcessId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SCDEETMIDE</a:t>
            </a:r>
            <a:r>
              <a:rPr lang="en-US" dirty="0"/>
              <a:t>"}}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191368" y="3536678"/>
            <a:ext cx="21820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A0Q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Sender: 23-39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Receiver: 40-74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/>
              <a:t>Message Type: 11-16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965073"/>
            <a:ext cx="6140766" cy="2463927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41500" y="4315663"/>
          <a:ext cx="36671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ackager Shell Object" showAsIcon="1" r:id="rId2" imgW="6019800" imgH="781050" progId="Package">
                  <p:embed/>
                </p:oleObj>
              </mc:Choice>
              <mc:Fallback>
                <p:oleObj name="Packager Shell Object" showAsIcon="1" r:id="rId2" imgW="6019800" imgH="781050" progId="Package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1500" y="4315663"/>
                        <a:ext cx="3667125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EDIFACT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7367" y="948690"/>
            <a:ext cx="116750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latin typeface="Helvetica-Bold"/>
            </a:endParaRPr>
          </a:p>
          <a:p>
            <a:r>
              <a:rPr lang="en-US" dirty="0">
                <a:latin typeface="Helvetica" panose="020B0604020202020204" pitchFamily="34" charset="0"/>
              </a:rPr>
              <a:t>Sender 3</a:t>
            </a:r>
            <a:r>
              <a:rPr lang="en-US" sz="1050" dirty="0">
                <a:latin typeface="Helvetica" panose="020B0604020202020204" pitchFamily="34" charset="0"/>
              </a:rPr>
              <a:t>rd </a:t>
            </a:r>
            <a:r>
              <a:rPr lang="en-US" dirty="0">
                <a:latin typeface="Helvetica" panose="020B0604020202020204" pitchFamily="34" charset="0"/>
              </a:rPr>
              <a:t>group of UNB record</a:t>
            </a:r>
            <a:endParaRPr lang="en-US" dirty="0">
              <a:latin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</a:rPr>
              <a:t>Receiver 4</a:t>
            </a:r>
            <a:r>
              <a:rPr lang="en-US" sz="1050" dirty="0">
                <a:latin typeface="Helvetica" panose="020B0604020202020204" pitchFamily="34" charset="0"/>
              </a:rPr>
              <a:t>th </a:t>
            </a:r>
            <a:r>
              <a:rPr lang="en-US" dirty="0">
                <a:latin typeface="Helvetica" panose="020B0604020202020204" pitchFamily="34" charset="0"/>
              </a:rPr>
              <a:t>group of UNB record</a:t>
            </a:r>
            <a:endParaRPr lang="en-US" dirty="0">
              <a:latin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</a:rPr>
              <a:t>Message Type 3</a:t>
            </a:r>
            <a:r>
              <a:rPr lang="en-US" sz="1050" dirty="0">
                <a:latin typeface="Helvetica" panose="020B0604020202020204" pitchFamily="34" charset="0"/>
              </a:rPr>
              <a:t>rd </a:t>
            </a:r>
            <a:r>
              <a:rPr lang="en-US" dirty="0">
                <a:latin typeface="Helvetica" panose="020B0604020202020204" pitchFamily="34" charset="0"/>
              </a:rPr>
              <a:t>group of UNH record</a:t>
            </a:r>
            <a:endParaRPr lang="en-US" dirty="0">
              <a:latin typeface="Helvetica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7" y="2421449"/>
            <a:ext cx="9512789" cy="2730640"/>
          </a:xfrm>
          <a:prstGeom prst="rect">
            <a:avLst/>
          </a:prstGeom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674225" y="3935413"/>
          <a:ext cx="2636838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Packager Shell Object" showAsIcon="1" r:id="rId2" imgW="4324350" imgH="781050" progId="Package">
                  <p:embed/>
                </p:oleObj>
              </mc:Choice>
              <mc:Fallback>
                <p:oleObj name="Packager Shell Object" showAsIcon="1" r:id="rId2" imgW="4324350" imgH="781050" progId="Package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674225" y="3935413"/>
                        <a:ext cx="2636838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407367" y="5309145"/>
            <a:ext cx="117846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GenAtt</a:t>
            </a:r>
            <a:r>
              <a:rPr lang="en-US" dirty="0"/>
              <a:t> {{"GW_HOST","b2biprdapp5","</a:t>
            </a:r>
            <a:r>
              <a:rPr lang="en-US" dirty="0">
                <a:highlight>
                  <a:srgbClr val="FFFF00"/>
                </a:highlight>
              </a:rPr>
              <a:t>OriginalSender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SEBIA.SEBIA002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OriginalReceiver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BENITT.BENITT01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OriginalMessageType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IFTSTA:D:96A:UN:FIFS01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ProcessId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IBMME2S2ED</a:t>
            </a:r>
            <a:r>
              <a:rPr lang="en-US" dirty="0"/>
              <a:t>","</a:t>
            </a:r>
            <a:r>
              <a:rPr lang="en-US" dirty="0">
                <a:highlight>
                  <a:srgbClr val="FFFF00"/>
                </a:highlight>
              </a:rPr>
              <a:t>RoutingCode</a:t>
            </a:r>
            <a:r>
              <a:rPr lang="en-US" dirty="0"/>
              <a:t>","</a:t>
            </a:r>
            <a:r>
              <a:rPr lang="en-US" dirty="0">
                <a:highlight>
                  <a:srgbClr val="00FFFF"/>
                </a:highlight>
              </a:rPr>
              <a:t>IBMME2S2ED_SEBIA002</a:t>
            </a:r>
            <a:r>
              <a:rPr lang="en-US" dirty="0"/>
              <a:t>"}}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Code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3434" y="1356189"/>
            <a:ext cx="10487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If there is routing code configured in analyze table, and no routing code set in Process, then it will use routing code configured in analyze header table. </a:t>
            </a:r>
            <a:r>
              <a:rPr lang="en-US" sz="1600" dirty="0">
                <a:highlight>
                  <a:srgbClr val="FFFF00"/>
                </a:highlight>
              </a:rPr>
              <a:t>If process also set a routing code, it will overwrite routing code configured in analyze header table.</a:t>
            </a:r>
            <a:endParaRPr lang="en-US" sz="16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SGI files from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7368" y="940078"/>
            <a:ext cx="371415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rule SGI_RULE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 SGI Analyze Header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3593311"/>
            <a:ext cx="9474687" cy="17780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2466983"/>
            <a:ext cx="9989063" cy="6731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SGI_RULE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896015"/>
            <a:ext cx="8083965" cy="3257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4279033"/>
            <a:ext cx="10046216" cy="21210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SGI_RULE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732434"/>
            <a:ext cx="6178868" cy="30926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368" y="4076068"/>
            <a:ext cx="10837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CR_ContentDetectSGIshippingOrders</a:t>
            </a:r>
            <a:r>
              <a:rPr lang="en-US" dirty="0"/>
              <a:t>: retrieves the values of the following tags/attributes: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07368" y="465296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"/>
              </a:rPr>
              <a:t>//Sender/</a:t>
            </a:r>
            <a:r>
              <a:rPr lang="en-US" dirty="0" err="1">
                <a:latin typeface="Courier"/>
              </a:rPr>
              <a:t>systemID</a:t>
            </a:r>
            <a:r>
              <a:rPr lang="en-US" dirty="0">
                <a:latin typeface="Courier"/>
              </a:rPr>
              <a:t>/</a:t>
            </a:r>
            <a:endParaRPr lang="en-US" dirty="0">
              <a:latin typeface="Courier"/>
            </a:endParaRPr>
          </a:p>
          <a:p>
            <a:r>
              <a:rPr lang="en-US" dirty="0">
                <a:latin typeface="Courier"/>
              </a:rPr>
              <a:t>//receiver/receiver/</a:t>
            </a:r>
            <a:r>
              <a:rPr lang="en-US" dirty="0" err="1">
                <a:latin typeface="Courier"/>
              </a:rPr>
              <a:t>SystemID</a:t>
            </a:r>
            <a:r>
              <a:rPr lang="en-US" dirty="0">
                <a:latin typeface="Courier"/>
              </a:rPr>
              <a:t>/</a:t>
            </a:r>
            <a:endParaRPr lang="en-US" dirty="0">
              <a:latin typeface="Courier"/>
            </a:endParaRPr>
          </a:p>
          <a:p>
            <a:r>
              <a:rPr lang="en-US" dirty="0">
                <a:latin typeface="Courier"/>
              </a:rPr>
              <a:t>//receiver/receiver/</a:t>
            </a:r>
            <a:r>
              <a:rPr lang="en-US" dirty="0" err="1">
                <a:latin typeface="Courier"/>
              </a:rPr>
              <a:t>ReferenceID</a:t>
            </a:r>
            <a:r>
              <a:rPr lang="en-US" dirty="0">
                <a:latin typeface="Courier"/>
              </a:rPr>
              <a:t>/@schemename</a:t>
            </a:r>
            <a:endParaRPr lang="en-US" dirty="0">
              <a:latin typeface="Courier"/>
            </a:endParaRPr>
          </a:p>
          <a:p>
            <a:r>
              <a:rPr lang="en-US" dirty="0">
                <a:latin typeface="Courier"/>
              </a:rPr>
              <a:t>//sender/</a:t>
            </a:r>
            <a:r>
              <a:rPr lang="en-US" dirty="0" err="1">
                <a:latin typeface="Courier"/>
              </a:rPr>
              <a:t>messageinfo</a:t>
            </a:r>
            <a:r>
              <a:rPr lang="en-US" dirty="0">
                <a:latin typeface="Courier"/>
              </a:rPr>
              <a:t>/name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07368" y="5940900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anose="020B0604020202020204" pitchFamily="34" charset="0"/>
              </a:rPr>
              <a:t>from the first 1000 characters of a file.</a:t>
            </a:r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7918343" y="5012622"/>
          <a:ext cx="7937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Packager Shell Object" showAsIcon="1" r:id="rId2" imgW="1295400" imgH="781050" progId="Package">
                  <p:embed/>
                </p:oleObj>
              </mc:Choice>
              <mc:Fallback>
                <p:oleObj name="Packager Shell Object" showAsIcon="1" r:id="rId2" imgW="1295400" imgH="781050" progId="Package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18343" y="5012622"/>
                        <a:ext cx="793750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SGI files from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6" name="Picture 5" descr="Timeline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262062"/>
            <a:ext cx="6029325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from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5338" y="783007"/>
            <a:ext cx="535403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Notes:</a:t>
            </a:r>
            <a:endParaRPr lang="en-US" sz="1600" dirty="0"/>
          </a:p>
          <a:p>
            <a:pPr algn="l">
              <a:buClr>
                <a:schemeClr val="accent1"/>
              </a:buClr>
            </a:pP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Configure on 1B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File Preprocessing will be skipped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remove header and linefeed before send to partner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36309" y="2598889"/>
            <a:ext cx="2164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CR_RemoveRecord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6" y="3069061"/>
            <a:ext cx="10274828" cy="14923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6309" y="5971346"/>
            <a:ext cx="2040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CR_RemoveString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36309" y="4637724"/>
            <a:ext cx="2387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CR_RemoveLineFeed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6" y="5031560"/>
            <a:ext cx="8366840" cy="7568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004" y="5830820"/>
            <a:ext cx="7302875" cy="80014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Send </a:t>
            </a:r>
            <a:r>
              <a:rPr lang="en-US" dirty="0"/>
              <a:t>to E-Trans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7368" y="1124744"/>
            <a:ext cx="83971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Unsegmented files need to be cut into 80 characters per line(</a:t>
            </a:r>
            <a:r>
              <a:rPr lang="en-US" sz="1600" dirty="0" err="1"/>
              <a:t>CR_CutToLineLength</a:t>
            </a:r>
            <a:r>
              <a:rPr lang="en-US" sz="1600" dirty="0"/>
              <a:t>)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A0Q/A1Q headers need to be added except EDIFACT</a:t>
            </a: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Use standard routing codes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78150" y="3868507"/>
            <a:ext cx="2472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CR_AddHeaderFooter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591" y="4283736"/>
            <a:ext cx="10255777" cy="8255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5591" y="5099907"/>
            <a:ext cx="2376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CR_CutToLineLength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23" y="5565817"/>
            <a:ext cx="10274828" cy="82554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8150" y="2540463"/>
            <a:ext cx="1702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CR_AddRec_v2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91" y="2972614"/>
            <a:ext cx="9944611" cy="8064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HP__ALLRULE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880527"/>
            <a:ext cx="7429882" cy="34736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4354156"/>
            <a:ext cx="10008114" cy="21019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HP__ALLRULE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901383"/>
            <a:ext cx="6178868" cy="2609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01" y="3511367"/>
            <a:ext cx="5453879" cy="2947239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7831138" y="2271713"/>
          <a:ext cx="20574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Packager Shell Object" showAsIcon="1" r:id="rId3" imgW="3371850" imgH="781050" progId="Package">
                  <p:embed/>
                </p:oleObj>
              </mc:Choice>
              <mc:Fallback>
                <p:oleObj name="Packager Shell Object" showAsIcon="1" r:id="rId3" imgW="3371850" imgH="781050" progId="Package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31138" y="2271713"/>
                        <a:ext cx="2057400" cy="48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rule as communication protocol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845469"/>
            <a:ext cx="11379785" cy="24067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CR_ContentDetectStandardV2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07368" y="293157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Helvetica-Bold"/>
              </a:rPr>
              <a:t>AnsiX12</a:t>
            </a:r>
            <a:endParaRPr lang="en-US" b="1" dirty="0">
              <a:latin typeface="Helvetica-Bold"/>
            </a:endParaRPr>
          </a:p>
          <a:p>
            <a:r>
              <a:rPr lang="en-US" dirty="0">
                <a:latin typeface="Helvetica" panose="020B0604020202020204" pitchFamily="34" charset="0"/>
              </a:rPr>
              <a:t>Sender 7</a:t>
            </a:r>
            <a:r>
              <a:rPr lang="en-US" sz="1050" dirty="0">
                <a:latin typeface="Helvetica" panose="020B0604020202020204" pitchFamily="34" charset="0"/>
              </a:rPr>
              <a:t>th </a:t>
            </a:r>
            <a:r>
              <a:rPr lang="en-US" dirty="0">
                <a:latin typeface="Helvetica" panose="020B0604020202020204" pitchFamily="34" charset="0"/>
              </a:rPr>
              <a:t>element of ISA record</a:t>
            </a:r>
            <a:endParaRPr lang="en-US" dirty="0">
              <a:latin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</a:rPr>
              <a:t>Receiver 9</a:t>
            </a:r>
            <a:r>
              <a:rPr lang="en-US" sz="1050" dirty="0">
                <a:latin typeface="Helvetica" panose="020B0604020202020204" pitchFamily="34" charset="0"/>
              </a:rPr>
              <a:t>th </a:t>
            </a:r>
            <a:r>
              <a:rPr lang="en-US" dirty="0">
                <a:latin typeface="Helvetica" panose="020B0604020202020204" pitchFamily="34" charset="0"/>
              </a:rPr>
              <a:t>element of ISA record</a:t>
            </a:r>
            <a:endParaRPr lang="en-US" dirty="0">
              <a:latin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</a:rPr>
              <a:t>Message Type 2</a:t>
            </a:r>
            <a:r>
              <a:rPr lang="en-US" sz="1050" dirty="0">
                <a:latin typeface="Helvetica" panose="020B0604020202020204" pitchFamily="34" charset="0"/>
              </a:rPr>
              <a:t>nd </a:t>
            </a:r>
            <a:r>
              <a:rPr lang="en-US" dirty="0">
                <a:latin typeface="Helvetica" panose="020B0604020202020204" pitchFamily="34" charset="0"/>
              </a:rPr>
              <a:t>element of GS record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124744"/>
            <a:ext cx="8172870" cy="14161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AUSP_BBRAUN_RULE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035515"/>
            <a:ext cx="6248721" cy="27115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05" y="3902984"/>
            <a:ext cx="7493385" cy="18923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6310" y="2266647"/>
            <a:ext cx="36468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1600" dirty="0"/>
              <a:t>Offset: read from which position</a:t>
            </a:r>
            <a:endParaRPr lang="en-US" sz="1600" dirty="0"/>
          </a:p>
          <a:p>
            <a:pPr algn="l">
              <a:buClr>
                <a:schemeClr val="accent1"/>
              </a:buClr>
            </a:pPr>
            <a:r>
              <a:rPr lang="en-US" sz="1600" dirty="0" err="1"/>
              <a:t>StringLength</a:t>
            </a:r>
            <a:r>
              <a:rPr lang="en-US" sz="1600" dirty="0"/>
              <a:t>: read how </a:t>
            </a:r>
            <a:r>
              <a:rPr lang="en-US" sz="1600"/>
              <a:t>many length</a:t>
            </a:r>
            <a:endParaRPr lang="en-US" sz="1600"/>
          </a:p>
          <a:p>
            <a:pPr algn="l">
              <a:buClr>
                <a:schemeClr val="accent1"/>
              </a:buClr>
            </a:pP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AUSP_BBRAUN_RULE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DB SCHENKER | Vanessa Xu | AM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368" y="1766324"/>
            <a:ext cx="6331275" cy="3181514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04963" y="5686425"/>
          <a:ext cx="2057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Packager Shell Object" showAsIcon="1" r:id="rId2" imgW="3371850" imgH="781050" progId="Package">
                  <p:embed/>
                </p:oleObj>
              </mc:Choice>
              <mc:Fallback>
                <p:oleObj name="Packager Shell Object" showAsIcon="1" r:id="rId2" imgW="3371850" imgH="781050" progId="Package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04963" y="5686425"/>
                        <a:ext cx="2057400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5104395"/>
            <a:ext cx="8236373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</a:t>
            </a:r>
            <a:r>
              <a:rPr lang="en-US" altLang="zh-CN">
                <a:ea typeface="宋体" panose="02010600030101010101" pitchFamily="2" charset="-122"/>
              </a:rPr>
              <a:t>mail Whitelist</a:t>
            </a:r>
            <a:endParaRPr lang="en-US" altLang="en-US"/>
          </a:p>
        </p:txBody>
      </p:sp>
      <p:grpSp>
        <p:nvGrpSpPr>
          <p:cNvPr id="6" name="Group 5"/>
          <p:cNvGrpSpPr/>
          <p:nvPr/>
        </p:nvGrpSpPr>
        <p:grpSpPr bwMode="auto">
          <a:xfrm>
            <a:off x="404812" y="1827214"/>
            <a:ext cx="1476376" cy="1495425"/>
            <a:chOff x="-737755" y="1953491"/>
            <a:chExt cx="1475509" cy="1496291"/>
          </a:xfrm>
        </p:grpSpPr>
        <p:sp>
          <p:nvSpPr>
            <p:cNvPr id="3" name="Half Frame 2"/>
            <p:cNvSpPr/>
            <p:nvPr/>
          </p:nvSpPr>
          <p:spPr bwMode="auto">
            <a:xfrm rot="8127830">
              <a:off x="-737755" y="1953491"/>
              <a:ext cx="1475509" cy="1496291"/>
            </a:xfrm>
            <a:prstGeom prst="halfFrame">
              <a:avLst>
                <a:gd name="adj1" fmla="val 16666"/>
                <a:gd name="adj2" fmla="val 17647"/>
              </a:avLst>
            </a:prstGeom>
            <a:solidFill>
              <a:srgbClr val="C0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" name="Isosceles Triangle 3"/>
            <p:cNvSpPr/>
            <p:nvPr/>
          </p:nvSpPr>
          <p:spPr bwMode="auto">
            <a:xfrm rot="5400000">
              <a:off x="-223446" y="2488266"/>
              <a:ext cx="914930" cy="468038"/>
            </a:xfrm>
            <a:prstGeom prst="triangle">
              <a:avLst>
                <a:gd name="adj" fmla="val 50037"/>
              </a:avLst>
            </a:prstGeom>
            <a:solidFill>
              <a:srgbClr val="001647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9940" name="Rectangle 1"/>
          <p:cNvSpPr>
            <a:spLocks noChangeArrowheads="1"/>
          </p:cNvSpPr>
          <p:nvPr/>
        </p:nvSpPr>
        <p:spPr bwMode="auto">
          <a:xfrm>
            <a:off x="4630739" y="1379538"/>
            <a:ext cx="62134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0"/>
              <a:t>How to allow files from specific senders?</a:t>
            </a:r>
            <a:endParaRPr lang="en-US" altLang="en-US" sz="1800" i="0"/>
          </a:p>
          <a:p>
            <a:r>
              <a:rPr lang="en-US" altLang="en-US" sz="1800" i="0"/>
              <a:t>How to block files from specific email senders?</a:t>
            </a:r>
            <a:endParaRPr lang="en-US" altLang="en-US" sz="1800" i="0"/>
          </a:p>
        </p:txBody>
      </p:sp>
      <p:grpSp>
        <p:nvGrpSpPr>
          <p:cNvPr id="25" name="Group 24"/>
          <p:cNvGrpSpPr/>
          <p:nvPr/>
        </p:nvGrpSpPr>
        <p:grpSpPr bwMode="auto">
          <a:xfrm>
            <a:off x="1736726" y="4378326"/>
            <a:ext cx="8494713" cy="2276475"/>
            <a:chOff x="593945" y="4226593"/>
            <a:chExt cx="8493841" cy="2275823"/>
          </a:xfrm>
        </p:grpSpPr>
        <p:grpSp>
          <p:nvGrpSpPr>
            <p:cNvPr id="39943" name="Group 6"/>
            <p:cNvGrpSpPr/>
            <p:nvPr/>
          </p:nvGrpSpPr>
          <p:grpSpPr bwMode="auto">
            <a:xfrm>
              <a:off x="857175" y="4226593"/>
              <a:ext cx="8230611" cy="2275823"/>
              <a:chOff x="857175" y="4226593"/>
              <a:chExt cx="8230611" cy="2275823"/>
            </a:xfrm>
          </p:grpSpPr>
          <p:grpSp>
            <p:nvGrpSpPr>
              <p:cNvPr id="39945" name="Group 10"/>
              <p:cNvGrpSpPr/>
              <p:nvPr/>
            </p:nvGrpSpPr>
            <p:grpSpPr bwMode="auto">
              <a:xfrm>
                <a:off x="857175" y="4226593"/>
                <a:ext cx="7998134" cy="2275823"/>
                <a:chOff x="4922825" y="3491795"/>
                <a:chExt cx="7998134" cy="2275823"/>
              </a:xfrm>
            </p:grpSpPr>
            <p:grpSp>
              <p:nvGrpSpPr>
                <p:cNvPr id="39947" name="Group 12"/>
                <p:cNvGrpSpPr/>
                <p:nvPr/>
              </p:nvGrpSpPr>
              <p:grpSpPr bwMode="auto">
                <a:xfrm>
                  <a:off x="4922825" y="3491795"/>
                  <a:ext cx="7998134" cy="2185369"/>
                  <a:chOff x="4922825" y="3491795"/>
                  <a:chExt cx="7998134" cy="2185369"/>
                </a:xfrm>
              </p:grpSpPr>
              <p:sp>
                <p:nvSpPr>
                  <p:cNvPr id="32" name="Half Frame 31"/>
                  <p:cNvSpPr/>
                  <p:nvPr/>
                </p:nvSpPr>
                <p:spPr bwMode="auto">
                  <a:xfrm>
                    <a:off x="4923093" y="3769528"/>
                    <a:ext cx="4555657" cy="925247"/>
                  </a:xfrm>
                  <a:prstGeom prst="halfFrame">
                    <a:avLst>
                      <a:gd name="adj1" fmla="val 6404"/>
                      <a:gd name="adj2" fmla="val 5502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" name="Half Frame 32"/>
                  <p:cNvSpPr/>
                  <p:nvPr/>
                </p:nvSpPr>
                <p:spPr bwMode="auto">
                  <a:xfrm rot="10800000">
                    <a:off x="8593016" y="4823327"/>
                    <a:ext cx="4328669" cy="853830"/>
                  </a:xfrm>
                  <a:prstGeom prst="halfFrame">
                    <a:avLst>
                      <a:gd name="adj1" fmla="val 7678"/>
                      <a:gd name="adj2" fmla="val 703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39951" name="Group 16"/>
                  <p:cNvGrpSpPr/>
                  <p:nvPr/>
                </p:nvGrpSpPr>
                <p:grpSpPr bwMode="auto">
                  <a:xfrm>
                    <a:off x="9205882" y="3491795"/>
                    <a:ext cx="2150695" cy="600116"/>
                    <a:chOff x="9205882" y="3491795"/>
                    <a:chExt cx="2150695" cy="600116"/>
                  </a:xfrm>
                </p:grpSpPr>
                <p:sp>
                  <p:nvSpPr>
                    <p:cNvPr id="35" name="Rectangle: Rounded Corners 34"/>
                    <p:cNvSpPr/>
                    <p:nvPr/>
                  </p:nvSpPr>
                  <p:spPr bwMode="auto">
                    <a:xfrm>
                      <a:off x="9205728" y="3494969"/>
                      <a:ext cx="1615909" cy="596729"/>
                    </a:xfrm>
                    <a:prstGeom prst="roundRect">
                      <a:avLst/>
                    </a:prstGeom>
                    <a:solidFill>
                      <a:srgbClr val="C0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9435892" y="3491795"/>
                      <a:ext cx="1920678" cy="599903"/>
                    </a:xfrm>
                    <a:prstGeom prst="rect">
                      <a:avLst/>
                    </a:prstGeom>
                    <a:noFill/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3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Step1</a:t>
                      </a:r>
                      <a:endParaRPr lang="en-US" sz="3200" dirty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p:txBody>
                </p:sp>
              </p:grpSp>
            </p:grpSp>
            <p:sp>
              <p:nvSpPr>
                <p:cNvPr id="31" name="TextBox 30"/>
                <p:cNvSpPr txBox="1"/>
                <p:nvPr/>
              </p:nvSpPr>
              <p:spPr>
                <a:xfrm>
                  <a:off x="5726286" y="4166290"/>
                  <a:ext cx="7195399" cy="1601328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marL="342900" indent="-342900">
                    <a:buFontTx/>
                    <a:buAutoNum type="arabicPeriod"/>
                    <a:defRPr/>
                  </a:pPr>
                  <a:r>
                    <a:rPr lang="en-US" sz="1600" dirty="0"/>
                    <a:t>Create a dynamic table</a:t>
                  </a:r>
                  <a:endParaRPr lang="en-US" sz="1600" dirty="0"/>
                </a:p>
                <a:p>
                  <a:pPr marL="342900" indent="-342900">
                    <a:buFontTx/>
                    <a:buAutoNum type="arabicPeriod"/>
                    <a:defRPr/>
                  </a:pPr>
                  <a:endParaRPr lang="en-US" sz="1600" dirty="0"/>
                </a:p>
                <a:p>
                  <a:pPr marL="285750" indent="-285750">
                    <a:buClr>
                      <a:srgbClr val="FF0000"/>
                    </a:buClr>
                    <a:buSzPct val="150000"/>
                    <a:buFont typeface="Wingdings" panose="05000000000000000000" pitchFamily="2" charset="2"/>
                    <a:buChar char="§"/>
                    <a:defRPr/>
                  </a:pPr>
                  <a:r>
                    <a:rPr lang="en-US" sz="1600" dirty="0"/>
                    <a:t>Only one columns which will be filled in with e-mail addresses.</a:t>
                  </a:r>
                  <a:endParaRPr lang="en-US" sz="1600" dirty="0"/>
                </a:p>
                <a:p>
                  <a:pPr>
                    <a:defRPr/>
                  </a:pPr>
                  <a:br>
                    <a:rPr lang="en-US" sz="1600" dirty="0"/>
                  </a:br>
                  <a:r>
                    <a:rPr lang="en-US" sz="1600" dirty="0"/>
                    <a:t>e.g. DYN_SAG_E2XMRT_WHITELIST</a:t>
                  </a:r>
                  <a:endParaRPr lang="en-US" sz="1600" dirty="0"/>
                </a:p>
                <a:p>
                  <a:pPr>
                    <a:defRPr/>
                  </a:pPr>
                  <a:endParaRPr lang="en-US" dirty="0">
                    <a:solidFill>
                      <a:srgbClr val="00164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pic>
            <p:nvPicPr>
              <p:cNvPr id="39946" name="Graphic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0604" y="4826708"/>
                <a:ext cx="657182" cy="657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7" name="Graphic 22" descr="Handshak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945" y="5583517"/>
              <a:ext cx="914306" cy="9157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75" y="2005014"/>
            <a:ext cx="4598988" cy="2276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</a:t>
            </a:r>
            <a:r>
              <a:rPr lang="en-US" altLang="zh-CN">
                <a:ea typeface="宋体" panose="02010600030101010101" pitchFamily="2" charset="-122"/>
              </a:rPr>
              <a:t>mail Whitelist</a:t>
            </a:r>
            <a:endParaRPr lang="en-US" altLang="en-US"/>
          </a:p>
        </p:txBody>
      </p:sp>
      <p:grpSp>
        <p:nvGrpSpPr>
          <p:cNvPr id="6" name="Group 5"/>
          <p:cNvGrpSpPr/>
          <p:nvPr/>
        </p:nvGrpSpPr>
        <p:grpSpPr bwMode="auto">
          <a:xfrm>
            <a:off x="-622604" y="1138846"/>
            <a:ext cx="1476376" cy="1495425"/>
            <a:chOff x="-737755" y="1953491"/>
            <a:chExt cx="1475509" cy="1496291"/>
          </a:xfrm>
        </p:grpSpPr>
        <p:sp>
          <p:nvSpPr>
            <p:cNvPr id="3" name="Half Frame 2"/>
            <p:cNvSpPr/>
            <p:nvPr/>
          </p:nvSpPr>
          <p:spPr bwMode="auto">
            <a:xfrm rot="8127830">
              <a:off x="-737755" y="1953491"/>
              <a:ext cx="1475509" cy="1496291"/>
            </a:xfrm>
            <a:prstGeom prst="halfFrame">
              <a:avLst>
                <a:gd name="adj1" fmla="val 16666"/>
                <a:gd name="adj2" fmla="val 17647"/>
              </a:avLst>
            </a:prstGeom>
            <a:solidFill>
              <a:srgbClr val="C0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" name="Isosceles Triangle 3"/>
            <p:cNvSpPr/>
            <p:nvPr/>
          </p:nvSpPr>
          <p:spPr bwMode="auto">
            <a:xfrm rot="5400000">
              <a:off x="-223446" y="2488266"/>
              <a:ext cx="914930" cy="468038"/>
            </a:xfrm>
            <a:prstGeom prst="triangle">
              <a:avLst>
                <a:gd name="adj" fmla="val 50037"/>
              </a:avLst>
            </a:prstGeom>
            <a:solidFill>
              <a:srgbClr val="001647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 bwMode="auto">
          <a:xfrm>
            <a:off x="709310" y="3689957"/>
            <a:ext cx="8494713" cy="3354446"/>
            <a:chOff x="593945" y="4226593"/>
            <a:chExt cx="8493841" cy="3354824"/>
          </a:xfrm>
        </p:grpSpPr>
        <p:grpSp>
          <p:nvGrpSpPr>
            <p:cNvPr id="41995" name="Group 6"/>
            <p:cNvGrpSpPr/>
            <p:nvPr/>
          </p:nvGrpSpPr>
          <p:grpSpPr bwMode="auto">
            <a:xfrm>
              <a:off x="857175" y="4226593"/>
              <a:ext cx="8230611" cy="3354824"/>
              <a:chOff x="857175" y="4226593"/>
              <a:chExt cx="8230611" cy="3354824"/>
            </a:xfrm>
          </p:grpSpPr>
          <p:grpSp>
            <p:nvGrpSpPr>
              <p:cNvPr id="41997" name="Group 10"/>
              <p:cNvGrpSpPr/>
              <p:nvPr/>
            </p:nvGrpSpPr>
            <p:grpSpPr bwMode="auto">
              <a:xfrm>
                <a:off x="857175" y="4226593"/>
                <a:ext cx="8129021" cy="3354824"/>
                <a:chOff x="4922825" y="3491795"/>
                <a:chExt cx="8129021" cy="3354824"/>
              </a:xfrm>
            </p:grpSpPr>
            <p:grpSp>
              <p:nvGrpSpPr>
                <p:cNvPr id="41999" name="Group 12"/>
                <p:cNvGrpSpPr/>
                <p:nvPr/>
              </p:nvGrpSpPr>
              <p:grpSpPr bwMode="auto">
                <a:xfrm>
                  <a:off x="4922825" y="3491795"/>
                  <a:ext cx="7998134" cy="2185369"/>
                  <a:chOff x="4922825" y="3491795"/>
                  <a:chExt cx="7998134" cy="2185369"/>
                </a:xfrm>
              </p:grpSpPr>
              <p:sp>
                <p:nvSpPr>
                  <p:cNvPr id="32" name="Half Frame 31"/>
                  <p:cNvSpPr/>
                  <p:nvPr/>
                </p:nvSpPr>
                <p:spPr bwMode="auto">
                  <a:xfrm>
                    <a:off x="4923093" y="3769639"/>
                    <a:ext cx="4555657" cy="925616"/>
                  </a:xfrm>
                  <a:prstGeom prst="halfFrame">
                    <a:avLst>
                      <a:gd name="adj1" fmla="val 6404"/>
                      <a:gd name="adj2" fmla="val 5502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3" name="Half Frame 32"/>
                  <p:cNvSpPr/>
                  <p:nvPr/>
                </p:nvSpPr>
                <p:spPr bwMode="auto">
                  <a:xfrm rot="10800000">
                    <a:off x="8593016" y="4822270"/>
                    <a:ext cx="4328668" cy="854171"/>
                  </a:xfrm>
                  <a:prstGeom prst="halfFrame">
                    <a:avLst>
                      <a:gd name="adj1" fmla="val 7678"/>
                      <a:gd name="adj2" fmla="val 703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42003" name="Group 16"/>
                  <p:cNvGrpSpPr/>
                  <p:nvPr/>
                </p:nvGrpSpPr>
                <p:grpSpPr bwMode="auto">
                  <a:xfrm>
                    <a:off x="9205882" y="3491795"/>
                    <a:ext cx="2150695" cy="600116"/>
                    <a:chOff x="9205882" y="3491795"/>
                    <a:chExt cx="2150695" cy="600116"/>
                  </a:xfrm>
                </p:grpSpPr>
                <p:sp>
                  <p:nvSpPr>
                    <p:cNvPr id="35" name="Rectangle: Rounded Corners 34"/>
                    <p:cNvSpPr/>
                    <p:nvPr/>
                  </p:nvSpPr>
                  <p:spPr bwMode="auto">
                    <a:xfrm>
                      <a:off x="9205728" y="3494970"/>
                      <a:ext cx="1615909" cy="596968"/>
                    </a:xfrm>
                    <a:prstGeom prst="roundRect">
                      <a:avLst/>
                    </a:prstGeom>
                    <a:solidFill>
                      <a:srgbClr val="C0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18900000" algn="b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pPr>
                        <a:defRPr/>
                      </a:pPr>
                      <a:endParaRPr 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9435892" y="3491795"/>
                      <a:ext cx="1920678" cy="600143"/>
                    </a:xfrm>
                    <a:prstGeom prst="rect">
                      <a:avLst/>
                    </a:prstGeom>
                    <a:noFill/>
                  </p:spPr>
                  <p:txBody>
                    <a:bodyPr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en-US" sz="3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Step</a:t>
                      </a:r>
                      <a:r>
                        <a:rPr lang="en-US" altLang="zh-CN" sz="3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en-US" sz="3200" dirty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p:txBody>
                </p:sp>
              </p:grpSp>
            </p:grpSp>
            <p:sp>
              <p:nvSpPr>
                <p:cNvPr id="31" name="TextBox 30"/>
                <p:cNvSpPr txBox="1"/>
                <p:nvPr/>
              </p:nvSpPr>
              <p:spPr>
                <a:xfrm>
                  <a:off x="5359611" y="3983975"/>
                  <a:ext cx="7692235" cy="2862644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en-US" dirty="0"/>
                    <a:t>2. Create a new rule</a:t>
                  </a:r>
                  <a:endParaRPr lang="en-US" dirty="0"/>
                </a:p>
                <a:p>
                  <a:pPr>
                    <a:defRPr/>
                  </a:pPr>
                  <a:endParaRPr lang="en-US" dirty="0"/>
                </a:p>
                <a:p>
                  <a:pPr marL="285750" indent="-285750">
                    <a:buClr>
                      <a:srgbClr val="FF0000"/>
                    </a:buClr>
                    <a:buSzPct val="150000"/>
                    <a:buFont typeface="Wingdings" panose="05000000000000000000" pitchFamily="2" charset="2"/>
                    <a:buChar char="§"/>
                    <a:defRPr/>
                  </a:pPr>
                  <a:r>
                    <a:rPr lang="en-US" dirty="0"/>
                    <a:t>In "Manage rules", create a new rule, select "Incoming communication" with "EMAIL B2Bi".</a:t>
                  </a:r>
                  <a:br>
                    <a:rPr lang="en-US" dirty="0"/>
                  </a:br>
                  <a:r>
                    <a:rPr lang="en-US" dirty="0"/>
                    <a:t>Fill in "Detection" as usual.</a:t>
                  </a:r>
                  <a:endParaRPr lang="en-US" dirty="0"/>
                </a:p>
                <a:p>
                  <a:pPr marL="285750" indent="-285750">
                    <a:buClr>
                      <a:srgbClr val="FF0000"/>
                    </a:buClr>
                    <a:buSzPct val="150000"/>
                    <a:buFont typeface="Wingdings" panose="05000000000000000000" pitchFamily="2" charset="2"/>
                    <a:buChar char="§"/>
                    <a:defRPr/>
                  </a:pPr>
                  <a:br>
                    <a:rPr lang="en-US" dirty="0"/>
                  </a:br>
                  <a:r>
                    <a:rPr lang="en-US" dirty="0"/>
                    <a:t>Click "Process Step", select "</a:t>
                  </a:r>
                  <a:r>
                    <a:rPr lang="en-US" dirty="0" err="1"/>
                    <a:t>CR_DetectEmailWhitelist</a:t>
                  </a:r>
                  <a:r>
                    <a:rPr lang="en-US" dirty="0"/>
                    <a:t>", edit it and add the new table's name.</a:t>
                  </a:r>
                  <a:br>
                    <a:rPr lang="en-US" dirty="0"/>
                  </a:br>
                  <a:r>
                    <a:rPr lang="en-US" dirty="0" err="1"/>
                    <a:t>eg.</a:t>
                  </a:r>
                  <a:r>
                    <a:rPr lang="en-US" dirty="0"/>
                    <a:t> SAG_E2XMRT_RULE</a:t>
                  </a:r>
                  <a:endParaRPr lang="en-US" dirty="0"/>
                </a:p>
                <a:p>
                  <a:pPr>
                    <a:defRPr/>
                  </a:pPr>
                  <a:endParaRPr lang="en-US" dirty="0">
                    <a:solidFill>
                      <a:srgbClr val="00164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pic>
            <p:nvPicPr>
              <p:cNvPr id="41998" name="Graphic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0604" y="4826708"/>
                <a:ext cx="657182" cy="657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7" name="Graphic 22" descr="Handshak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945" y="5584059"/>
              <a:ext cx="914306" cy="91450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1" name="Group 10"/>
          <p:cNvGrpSpPr/>
          <p:nvPr/>
        </p:nvGrpSpPr>
        <p:grpSpPr bwMode="auto">
          <a:xfrm>
            <a:off x="1185559" y="848333"/>
            <a:ext cx="8199438" cy="2824163"/>
            <a:chOff x="1069762" y="1536661"/>
            <a:chExt cx="8200030" cy="2823734"/>
          </a:xfrm>
        </p:grpSpPr>
        <p:pic>
          <p:nvPicPr>
            <p:cNvPr id="41990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762" y="1536661"/>
              <a:ext cx="7533957" cy="910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991" name="Group 9"/>
            <p:cNvGrpSpPr/>
            <p:nvPr/>
          </p:nvGrpSpPr>
          <p:grpSpPr bwMode="auto">
            <a:xfrm>
              <a:off x="1115038" y="2652202"/>
              <a:ext cx="8154754" cy="1708193"/>
              <a:chOff x="1115038" y="2652202"/>
              <a:chExt cx="8154754" cy="1708193"/>
            </a:xfrm>
          </p:grpSpPr>
          <p:pic>
            <p:nvPicPr>
              <p:cNvPr id="41992" name="Picture 20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5038" y="2652202"/>
                <a:ext cx="3687293" cy="8258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993" name="Picture 21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2324" y="3650465"/>
                <a:ext cx="5027468" cy="7099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23" name="Connector: Elbow 22"/>
              <p:cNvCxnSpPr>
                <a:stCxn id="41992" idx="2"/>
                <a:endCxn id="41993" idx="1"/>
              </p:cNvCxnSpPr>
              <p:nvPr/>
            </p:nvCxnSpPr>
            <p:spPr bwMode="auto">
              <a:xfrm rot="16200000" flipH="1">
                <a:off x="3337729" y="3099174"/>
                <a:ext cx="526970" cy="1284381"/>
              </a:xfrm>
              <a:prstGeom prst="bentConnector2">
                <a:avLst/>
              </a:prstGeom>
              <a:ln>
                <a:solidFill>
                  <a:srgbClr val="646973"/>
                </a:solidFill>
                <a:headEnd type="none" w="med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</a:t>
            </a:r>
            <a:r>
              <a:rPr lang="en-US" altLang="zh-CN">
                <a:ea typeface="宋体" panose="02010600030101010101" pitchFamily="2" charset="-122"/>
              </a:rPr>
              <a:t>mail Whitelist</a:t>
            </a:r>
            <a:endParaRPr lang="en-US" altLang="en-US"/>
          </a:p>
        </p:txBody>
      </p:sp>
      <p:grpSp>
        <p:nvGrpSpPr>
          <p:cNvPr id="6" name="Group 5"/>
          <p:cNvGrpSpPr/>
          <p:nvPr/>
        </p:nvGrpSpPr>
        <p:grpSpPr bwMode="auto">
          <a:xfrm>
            <a:off x="404812" y="1827214"/>
            <a:ext cx="1476376" cy="1495425"/>
            <a:chOff x="-737755" y="1953491"/>
            <a:chExt cx="1475509" cy="1496291"/>
          </a:xfrm>
        </p:grpSpPr>
        <p:sp>
          <p:nvSpPr>
            <p:cNvPr id="3" name="Half Frame 2"/>
            <p:cNvSpPr/>
            <p:nvPr/>
          </p:nvSpPr>
          <p:spPr bwMode="auto">
            <a:xfrm rot="8127830">
              <a:off x="-737755" y="1953491"/>
              <a:ext cx="1475509" cy="1496291"/>
            </a:xfrm>
            <a:prstGeom prst="halfFrame">
              <a:avLst>
                <a:gd name="adj1" fmla="val 16666"/>
                <a:gd name="adj2" fmla="val 17647"/>
              </a:avLst>
            </a:prstGeom>
            <a:solidFill>
              <a:srgbClr val="C0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" name="Isosceles Triangle 3"/>
            <p:cNvSpPr/>
            <p:nvPr/>
          </p:nvSpPr>
          <p:spPr bwMode="auto">
            <a:xfrm rot="5400000">
              <a:off x="-223446" y="2488266"/>
              <a:ext cx="914930" cy="468038"/>
            </a:xfrm>
            <a:prstGeom prst="triangle">
              <a:avLst>
                <a:gd name="adj" fmla="val 50037"/>
              </a:avLst>
            </a:prstGeom>
            <a:solidFill>
              <a:srgbClr val="001647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oup 6"/>
          <p:cNvGrpSpPr/>
          <p:nvPr/>
        </p:nvGrpSpPr>
        <p:grpSpPr bwMode="auto">
          <a:xfrm>
            <a:off x="2293938" y="1354138"/>
            <a:ext cx="8210550" cy="2462212"/>
            <a:chOff x="857175" y="4226593"/>
            <a:chExt cx="8211546" cy="2462696"/>
          </a:xfrm>
        </p:grpSpPr>
        <p:grpSp>
          <p:nvGrpSpPr>
            <p:cNvPr id="44039" name="Group 10"/>
            <p:cNvGrpSpPr/>
            <p:nvPr/>
          </p:nvGrpSpPr>
          <p:grpSpPr bwMode="auto">
            <a:xfrm>
              <a:off x="857175" y="4226593"/>
              <a:ext cx="7933653" cy="2462696"/>
              <a:chOff x="4922825" y="3491795"/>
              <a:chExt cx="7933653" cy="2462696"/>
            </a:xfrm>
          </p:grpSpPr>
          <p:grpSp>
            <p:nvGrpSpPr>
              <p:cNvPr id="44041" name="Group 12"/>
              <p:cNvGrpSpPr/>
              <p:nvPr/>
            </p:nvGrpSpPr>
            <p:grpSpPr bwMode="auto">
              <a:xfrm>
                <a:off x="4922825" y="3491795"/>
                <a:ext cx="7933653" cy="2462696"/>
                <a:chOff x="4922825" y="3491795"/>
                <a:chExt cx="7933653" cy="2462696"/>
              </a:xfrm>
            </p:grpSpPr>
            <p:sp>
              <p:nvSpPr>
                <p:cNvPr id="32" name="Half Frame 31"/>
                <p:cNvSpPr/>
                <p:nvPr/>
              </p:nvSpPr>
              <p:spPr bwMode="auto">
                <a:xfrm>
                  <a:off x="4922825" y="3769662"/>
                  <a:ext cx="4555089" cy="925695"/>
                </a:xfrm>
                <a:prstGeom prst="halfFrame">
                  <a:avLst>
                    <a:gd name="adj1" fmla="val 6404"/>
                    <a:gd name="adj2" fmla="val 5502"/>
                  </a:avLst>
                </a:prstGeom>
                <a:solidFill>
                  <a:schemeClr val="bg1">
                    <a:lumMod val="75000"/>
                  </a:schemeClr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Half Frame 32"/>
                <p:cNvSpPr/>
                <p:nvPr/>
              </p:nvSpPr>
              <p:spPr bwMode="auto">
                <a:xfrm rot="10800000">
                  <a:off x="8526887" y="5100248"/>
                  <a:ext cx="4329637" cy="854243"/>
                </a:xfrm>
                <a:prstGeom prst="halfFrame">
                  <a:avLst>
                    <a:gd name="adj1" fmla="val 7678"/>
                    <a:gd name="adj2" fmla="val 7030"/>
                  </a:avLst>
                </a:prstGeom>
                <a:solidFill>
                  <a:schemeClr val="bg1">
                    <a:lumMod val="75000"/>
                  </a:schemeClr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4045" name="Group 16"/>
                <p:cNvGrpSpPr/>
                <p:nvPr/>
              </p:nvGrpSpPr>
              <p:grpSpPr bwMode="auto">
                <a:xfrm>
                  <a:off x="9205882" y="3491795"/>
                  <a:ext cx="2150695" cy="600116"/>
                  <a:chOff x="9205882" y="3491795"/>
                  <a:chExt cx="2150695" cy="600116"/>
                </a:xfrm>
              </p:grpSpPr>
              <p:sp>
                <p:nvSpPr>
                  <p:cNvPr id="35" name="Rectangle: Rounded Corners 34"/>
                  <p:cNvSpPr/>
                  <p:nvPr/>
                </p:nvSpPr>
                <p:spPr bwMode="auto">
                  <a:xfrm>
                    <a:off x="9206419" y="3494971"/>
                    <a:ext cx="1614683" cy="597017"/>
                  </a:xfrm>
                  <a:prstGeom prst="roundRect">
                    <a:avLst/>
                  </a:prstGeom>
                  <a:solidFill>
                    <a:srgbClr val="C0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pPr>
                      <a:defRPr/>
                    </a:pPr>
                    <a:endParaRPr 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9436634" y="3491795"/>
                    <a:ext cx="1919521" cy="600193"/>
                  </a:xfrm>
                  <a:prstGeom prst="rect">
                    <a:avLst/>
                  </a:prstGeom>
                  <a:noFill/>
                </p:spPr>
                <p:txBody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3200" dirty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t>Step3</a:t>
                    </a:r>
                    <a:endParaRPr lang="en-US" sz="3200" dirty="0">
                      <a:solidFill>
                        <a:schemeClr val="bg1">
                          <a:lumMod val="50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</p:grpSp>
          <p:sp>
            <p:nvSpPr>
              <p:cNvPr id="31" name="TextBox 30"/>
              <p:cNvSpPr txBox="1"/>
              <p:nvPr/>
            </p:nvSpPr>
            <p:spPr>
              <a:xfrm>
                <a:off x="5132400" y="4006246"/>
                <a:ext cx="7692370" cy="193871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 b="1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r>
                  <a:rPr lang="en-US" altLang="en-US" i="0" dirty="0"/>
                  <a:t>3. Add detection for a process</a:t>
                </a:r>
                <a:endParaRPr lang="en-US" altLang="en-US" i="0" dirty="0"/>
              </a:p>
              <a:p>
                <a:pPr>
                  <a:defRPr/>
                </a:pP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en-US" i="0" dirty="0"/>
                  <a:t>Select “Communication protocol” “EMAIL_WHITELIST”.</a:t>
                </a: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en-US" i="0" dirty="0"/>
                  <a:t>Fill the “</a:t>
                </a:r>
                <a:r>
                  <a:rPr lang="en-US" altLang="en-US" i="0" dirty="0" err="1"/>
                  <a:t>Rulename</a:t>
                </a:r>
                <a:r>
                  <a:rPr lang="en-US" altLang="en-US" i="0" dirty="0"/>
                  <a:t>” with the one you created</a:t>
                </a: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en-US" i="0" dirty="0"/>
                  <a:t>Fill the “Validation” field:</a:t>
                </a:r>
                <a:endParaRPr lang="en-US" altLang="en-US" i="0" dirty="0"/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en-US" i="0" dirty="0"/>
                  <a:t>(</a:t>
                </a:r>
                <a:r>
                  <a:rPr lang="en-US" altLang="zh-CN" i="0" dirty="0">
                    <a:ea typeface="宋体" panose="02010600030101010101" pitchFamily="2" charset="-122"/>
                  </a:rPr>
                  <a:t>1</a:t>
                </a:r>
                <a:r>
                  <a:rPr lang="zh-CN" altLang="en-US" i="0" dirty="0">
                    <a:ea typeface="宋体" panose="02010600030101010101" pitchFamily="2" charset="-122"/>
                  </a:rPr>
                  <a:t>）</a:t>
                </a:r>
                <a:r>
                  <a:rPr lang="en-US" altLang="zh-CN" i="0" dirty="0">
                    <a:ea typeface="宋体" panose="02010600030101010101" pitchFamily="2" charset="-122"/>
                  </a:rPr>
                  <a:t>IF </a:t>
                </a:r>
                <a:r>
                  <a:rPr lang="zh-CN" altLang="en-US" i="0" dirty="0">
                    <a:ea typeface="宋体" panose="02010600030101010101" pitchFamily="2" charset="-122"/>
                  </a:rPr>
                  <a:t>“</a:t>
                </a:r>
                <a:r>
                  <a:rPr lang="en-US" altLang="zh-CN" i="0" dirty="0">
                    <a:ea typeface="宋体" panose="02010600030101010101" pitchFamily="2" charset="-122"/>
                  </a:rPr>
                  <a:t>TURE</a:t>
                </a:r>
                <a:r>
                  <a:rPr lang="zh-CN" altLang="en-US" i="0" dirty="0">
                    <a:ea typeface="宋体" panose="02010600030101010101" pitchFamily="2" charset="-122"/>
                  </a:rPr>
                  <a:t>”</a:t>
                </a:r>
                <a:r>
                  <a:rPr lang="en-US" altLang="zh-CN" i="0" dirty="0">
                    <a:ea typeface="宋体" panose="02010600030101010101" pitchFamily="2" charset="-122"/>
                  </a:rPr>
                  <a:t>,</a:t>
                </a:r>
                <a:r>
                  <a:rPr lang="zh-CN" altLang="en-US" i="0" dirty="0">
                    <a:ea typeface="宋体" panose="02010600030101010101" pitchFamily="2" charset="-122"/>
                  </a:rPr>
                  <a:t> </a:t>
                </a:r>
                <a:r>
                  <a:rPr lang="en-US" altLang="zh-CN" i="0" dirty="0">
                    <a:ea typeface="宋体" panose="02010600030101010101" pitchFamily="2" charset="-122"/>
                  </a:rPr>
                  <a:t>then allow specific senders in the table to send files</a:t>
                </a:r>
                <a:endParaRPr lang="en-US" altLang="zh-CN" i="0" dirty="0">
                  <a:ea typeface="宋体" panose="02010600030101010101" pitchFamily="2" charset="-122"/>
                </a:endParaRPr>
              </a:p>
              <a:p>
                <a:pPr>
                  <a:buClr>
                    <a:srgbClr val="FF0000"/>
                  </a:buClr>
                  <a:buSzPct val="150000"/>
                  <a:buFont typeface="Wingdings" panose="05000000000000000000" pitchFamily="2" charset="2"/>
                  <a:buChar char="§"/>
                  <a:defRPr/>
                </a:pPr>
                <a:r>
                  <a:rPr lang="en-US" altLang="en-US" i="0" dirty="0"/>
                  <a:t>(2)  IF “FALSE”, then block specific senders in the table to send files</a:t>
                </a:r>
                <a:endParaRPr lang="en-US" altLang="en-US" i="0" dirty="0"/>
              </a:p>
              <a:p>
                <a:pPr>
                  <a:defRPr/>
                </a:pPr>
                <a:endParaRPr lang="en-US" altLang="en-US" i="0" dirty="0">
                  <a:solidFill>
                    <a:srgbClr val="00164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pic>
          <p:nvPicPr>
            <p:cNvPr id="44040" name="Graphic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1539" y="5304105"/>
              <a:ext cx="657182" cy="657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63" y="4083050"/>
            <a:ext cx="7239000" cy="120015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193925" y="5619750"/>
            <a:ext cx="92011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i="0"/>
              <a:t>If you create a TEST RULE with your own test PID</a:t>
            </a:r>
            <a:endParaRPr lang="en-US" altLang="en-US" sz="1400" i="0"/>
          </a:p>
          <a:p>
            <a:r>
              <a:rPr lang="en-US" altLang="en-US" sz="1400" i="0"/>
              <a:t>Do remember to deactivate the RULE after testing</a:t>
            </a:r>
            <a:endParaRPr lang="en-US" altLang="en-US" sz="1400" i="0"/>
          </a:p>
          <a:p>
            <a:r>
              <a:rPr lang="en-US" altLang="en-US" sz="1400" i="0"/>
              <a:t>Otherwise, you will face SYSTXERROR (the email will be fetch for both rule and the test PID)</a:t>
            </a:r>
            <a:endParaRPr lang="en-US" altLang="en-US" sz="1400" i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/>
              <a:t>Thank you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DB SCHENKER | Vanessa Xu| AM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913D9F7D-0C28-4C21-AA99-7C67E34F632A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ags/tag1.xml><?xml version="1.0" encoding="utf-8"?>
<p:tagLst xmlns:p="http://schemas.openxmlformats.org/presentationml/2006/main">
  <p:tag name="KSO_WM_UNIT_TABLE_BEAUTIFY" val="smartTable{dffcf26a-fbb1-493f-b43a-ddb9cab71ad6}"/>
</p:tagLst>
</file>

<file path=ppt/tags/tag2.xml><?xml version="1.0" encoding="utf-8"?>
<p:tagLst xmlns:p="http://schemas.openxmlformats.org/presentationml/2006/main">
  <p:tag name="KSO_WPP_MARK_KEY" val="ecf0dbdc-143d-4d73-9d2c-8432276c6664"/>
  <p:tag name="COMMONDATA" val="eyJoZGlkIjoiNGE2ZDEyOWJhOTU4ZDVkNjU0ZTAyZTdjNmYzZDVkYjYifQ=="/>
</p:tagLst>
</file>

<file path=ppt/theme/theme1.xml><?xml version="1.0" encoding="utf-8"?>
<a:theme xmlns:a="http://schemas.openxmlformats.org/drawingml/2006/main" name="DB Schenker">
  <a:themeElements>
    <a:clrScheme name="SCHENKER10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167D86"/>
      </a:accent1>
      <a:accent2>
        <a:srgbClr val="5DB1B9"/>
      </a:accent2>
      <a:accent3>
        <a:srgbClr val="99C8CE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2"/>
          </a:solidFill>
        </a:ln>
      </a:spPr>
      <a:bodyPr rtlCol="0" anchor="ctr"/>
      <a:lstStyle>
        <a:defPPr algn="ctr">
          <a:buClr>
            <a:schemeClr val="accent2"/>
          </a:buClr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180975" indent="-180975" algn="l">
          <a:buClr>
            <a:schemeClr val="accent1"/>
          </a:buClr>
          <a:buFont typeface="DB Sans" panose="020B0502050202020204" pitchFamily="34" charset="0"/>
          <a:buChar char="‒"/>
          <a:defRPr sz="1600" smtClean="0"/>
        </a:defPPr>
      </a:lstStyle>
    </a:txDef>
  </a:objectDefaults>
  <a:custClrLst>
    <a:custClr name="Yellow 700">
      <a:srgbClr val="FF9B00"/>
    </a:custClr>
    <a:custClr name="Orange 700">
      <a:srgbClr val="C05E00"/>
    </a:custClr>
    <a:custClr name="Red 700">
      <a:srgbClr val="9B000E"/>
    </a:custClr>
    <a:custClr name="Burgundry 700">
      <a:srgbClr val="641E32"/>
    </a:custClr>
    <a:custClr name="Pink 700">
      <a:srgbClr val="B80065"/>
    </a:custClr>
    <a:custClr name="Violett 700">
      <a:srgbClr val="581D70"/>
    </a:custClr>
    <a:custClr name="Blue 700">
      <a:srgbClr val="0A1E6E"/>
    </a:custClr>
    <a:custClr name="Cyan 700">
      <a:srgbClr val="0087B9"/>
    </a:custClr>
    <a:custClr name="Turquiose 700">
      <a:srgbClr val="006E6B"/>
    </a:custClr>
    <a:custClr name="Green 700">
      <a:srgbClr val="165C27"/>
    </a:custClr>
    <a:custClr name="Yellow 500">
      <a:srgbClr val="FFD800"/>
    </a:custClr>
    <a:custClr name="Orange 500">
      <a:srgbClr val="F39200"/>
    </a:custClr>
    <a:custClr name="Red 500">
      <a:srgbClr val="EC0016"/>
    </a:custClr>
    <a:custClr name="Burgundry 500">
      <a:srgbClr val="A9455D"/>
    </a:custClr>
    <a:custClr name="Pink 500">
      <a:srgbClr val="E93E8F"/>
    </a:custClr>
    <a:custClr name="Violett 500">
      <a:srgbClr val="814997"/>
    </a:custClr>
    <a:custClr name="Blue 500">
      <a:srgbClr val="1455C0"/>
    </a:custClr>
    <a:custClr name="Cyan 500">
      <a:srgbClr val="309FD1"/>
    </a:custClr>
    <a:custClr name="Turquiose 500">
      <a:srgbClr val="00A099"/>
    </a:custClr>
    <a:custClr name="Green 500">
      <a:srgbClr val="408335"/>
    </a:custClr>
    <a:custClr name="Yellow 300">
      <a:srgbClr val="FFF876"/>
    </a:custClr>
    <a:custClr name="Orange 300">
      <a:srgbClr val="FACA7F"/>
    </a:custClr>
    <a:custClr name="Red 300">
      <a:srgbClr val="FA9090"/>
    </a:custClr>
    <a:custClr name="Burgundry 300">
      <a:srgbClr val="DA9AA8"/>
    </a:custClr>
    <a:custClr name="Pink 300">
      <a:srgbClr val="F4AECE"/>
    </a:custClr>
    <a:custClr name="Violett 300">
      <a:srgbClr val="C2A1C7"/>
    </a:custClr>
    <a:custClr name="Blue 300">
      <a:srgbClr val="73AEF4"/>
    </a:custClr>
    <a:custClr name="Cyan 300">
      <a:srgbClr val="84CFEF"/>
    </a:custClr>
    <a:custClr name="Turquiose 300">
      <a:srgbClr val="83CACA"/>
    </a:custClr>
    <a:custClr name="Green 300">
      <a:srgbClr val="8CBC80"/>
    </a:custClr>
    <a:custClr name="Yellow 100">
      <a:srgbClr val="FFFFDC"/>
    </a:custClr>
    <a:custClr name="Orange 100">
      <a:srgbClr val="FFF4D8"/>
    </a:custClr>
    <a:custClr name="Red 100">
      <a:srgbClr val="FEE6E6"/>
    </a:custClr>
    <a:custClr name="Burgundry 100">
      <a:srgbClr val="F4E8ED"/>
    </a:custClr>
    <a:custClr name="Pink 100">
      <a:srgbClr val="FDEEF8"/>
    </a:custClr>
    <a:custClr name="Violett 100">
      <a:srgbClr val="F4EEFA"/>
    </a:custClr>
    <a:custClr name="Blue 100">
      <a:srgbClr val="E0EFFB"/>
    </a:custClr>
    <a:custClr name="Cyan 100">
      <a:srgbClr val="E5FAFF"/>
    </a:custClr>
    <a:custClr name="Turquiose 100">
      <a:srgbClr val="E3F5F4"/>
    </a:custClr>
    <a:custClr name="Green 100">
      <a:srgbClr val="E2F3E5"/>
    </a:custClr>
    <a:custClr name="Light Green 700">
      <a:srgbClr val="44741A"/>
    </a:custClr>
    <a:custClr name="Light Green 500">
      <a:srgbClr val="78BE14"/>
    </a:custClr>
    <a:custClr name="Light Green 300">
      <a:srgbClr val="9FD45F"/>
    </a:custClr>
    <a:custClr name="Light Green 100">
      <a:srgbClr val="EBF7DD"/>
    </a:custClr>
    <a:custClr name="Warm Grey 700">
      <a:srgbClr val="4F4B41"/>
    </a:custClr>
    <a:custClr name="Warm Grey 500">
      <a:srgbClr val="858379"/>
    </a:custClr>
    <a:custClr name="Warm Grey 300">
      <a:srgbClr val="BCBBB2"/>
    </a:custClr>
    <a:custClr name="Warm Grey 100">
      <a:srgbClr val="F5F4F1"/>
    </a:custClr>
    <a:custClr name="Black">
      <a:srgbClr val="000000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SCHENKER NEU!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5DB1B9"/>
      </a:accent1>
      <a:accent2>
        <a:srgbClr val="99C8CE"/>
      </a:accent2>
      <a:accent3>
        <a:srgbClr val="CAE7EA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SCHENKER NEU!">
      <a:dk1>
        <a:sysClr val="windowText" lastClr="000000"/>
      </a:dk1>
      <a:lt1>
        <a:sysClr val="window" lastClr="FFFFFF"/>
      </a:lt1>
      <a:dk2>
        <a:srgbClr val="EC0016"/>
      </a:dk2>
      <a:lt2>
        <a:srgbClr val="167D86"/>
      </a:lt2>
      <a:accent1>
        <a:srgbClr val="5DB1B9"/>
      </a:accent1>
      <a:accent2>
        <a:srgbClr val="99C8CE"/>
      </a:accent2>
      <a:accent3>
        <a:srgbClr val="CAE7EA"/>
      </a:accent3>
      <a:accent4>
        <a:srgbClr val="555B63"/>
      </a:accent4>
      <a:accent5>
        <a:srgbClr val="8D919B"/>
      </a:accent5>
      <a:accent6>
        <a:srgbClr val="D2D1D8"/>
      </a:accent6>
      <a:hlink>
        <a:srgbClr val="555B63"/>
      </a:hlink>
      <a:folHlink>
        <a:srgbClr val="D3D8DC"/>
      </a:folHlink>
    </a:clrScheme>
    <a:fontScheme name="Schenker">
      <a:majorFont>
        <a:latin typeface="DB Head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 Schenker</Template>
  <TotalTime>0</TotalTime>
  <Words>6226</Words>
  <Application>WPS 演示</Application>
  <PresentationFormat>Widescreen</PresentationFormat>
  <Paragraphs>586</Paragraphs>
  <Slides>35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35</vt:i4>
      </vt:variant>
    </vt:vector>
  </HeadingPairs>
  <TitlesOfParts>
    <vt:vector size="61" baseType="lpstr">
      <vt:lpstr>Arial</vt:lpstr>
      <vt:lpstr>宋体</vt:lpstr>
      <vt:lpstr>Wingdings</vt:lpstr>
      <vt:lpstr>DB Sans</vt:lpstr>
      <vt:lpstr>Yu Gothic UI</vt:lpstr>
      <vt:lpstr>DB Head Light</vt:lpstr>
      <vt:lpstr>Yu Gothic UI Light</vt:lpstr>
      <vt:lpstr>Symbol</vt:lpstr>
      <vt:lpstr>DB Head</vt:lpstr>
      <vt:lpstr>Segoe Print</vt:lpstr>
      <vt:lpstr>微软雅黑</vt:lpstr>
      <vt:lpstr>Arial Unicode MS</vt:lpstr>
      <vt:lpstr>DB Office</vt:lpstr>
      <vt:lpstr>Helvetica-Bold</vt:lpstr>
      <vt:lpstr>Helvetica</vt:lpstr>
      <vt:lpstr>Courier</vt:lpstr>
      <vt:lpstr>Courier New</vt:lpstr>
      <vt:lpstr>Times New Roman</vt:lpstr>
      <vt:lpstr>DB Schenker</vt:lpstr>
      <vt:lpstr>Package</vt:lpstr>
      <vt:lpstr>Package</vt:lpstr>
      <vt:lpstr>Package</vt:lpstr>
      <vt:lpstr>Package</vt:lpstr>
      <vt:lpstr>Package</vt:lpstr>
      <vt:lpstr>Package</vt:lpstr>
      <vt:lpstr>Package</vt:lpstr>
      <vt:lpstr>Rule</vt:lpstr>
      <vt:lpstr>Rule</vt:lpstr>
      <vt:lpstr>Receive from E-Trans</vt:lpstr>
      <vt:lpstr>Receive from E-Trans</vt:lpstr>
      <vt:lpstr>SCXXEALLXX</vt:lpstr>
      <vt:lpstr>SCXXEALLXX</vt:lpstr>
      <vt:lpstr>SCXXEALLXX</vt:lpstr>
      <vt:lpstr>APPLECOSAC</vt:lpstr>
      <vt:lpstr>APPLECOSAC</vt:lpstr>
      <vt:lpstr>APPLECOSAC</vt:lpstr>
      <vt:lpstr>General page set rule</vt:lpstr>
      <vt:lpstr>General page not set rule</vt:lpstr>
      <vt:lpstr>E-Trans</vt:lpstr>
      <vt:lpstr>COS</vt:lpstr>
      <vt:lpstr>Other E-Trans partner</vt:lpstr>
      <vt:lpstr>CTTS</vt:lpstr>
      <vt:lpstr>XML</vt:lpstr>
      <vt:lpstr>EDIFACT </vt:lpstr>
      <vt:lpstr>Routing Code</vt:lpstr>
      <vt:lpstr>Receive SGI files from E-Trans</vt:lpstr>
      <vt:lpstr>SGI_RULE</vt:lpstr>
      <vt:lpstr>SGI_RULE</vt:lpstr>
      <vt:lpstr>Receive SGI files from E-Trans</vt:lpstr>
      <vt:lpstr>Receive from E-Trans</vt:lpstr>
      <vt:lpstr>Send to E-Trans</vt:lpstr>
      <vt:lpstr>HP__ALLRULE</vt:lpstr>
      <vt:lpstr>HP__ALLRULE</vt:lpstr>
      <vt:lpstr>Set rule as communication protocol</vt:lpstr>
      <vt:lpstr>CR_ContentDetectStandardV2</vt:lpstr>
      <vt:lpstr>AUSP_BBRAUN_RULE</vt:lpstr>
      <vt:lpstr>AUSP_BBRAUN_RULE</vt:lpstr>
      <vt:lpstr>Email Whitelist</vt:lpstr>
      <vt:lpstr>Email Whitelist</vt:lpstr>
      <vt:lpstr>Email Whitelist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</dc:title>
  <dc:creator>Lehmkuhl, Laureen</dc:creator>
  <dc:description>Optimized for Office 365</dc:description>
  <cp:lastModifiedBy>，，</cp:lastModifiedBy>
  <cp:revision>81</cp:revision>
  <cp:lastPrinted>2019-09-19T09:42:00Z</cp:lastPrinted>
  <dcterms:created xsi:type="dcterms:W3CDTF">2020-04-30T07:47:00Z</dcterms:created>
  <dcterms:modified xsi:type="dcterms:W3CDTF">2022-12-14T14:31:12Z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0x0101009C226AA39FA88A44AFA62822AA17F4C7</vt:lpwstr>
  </property>
  <property fmtid="{D5CDD505-2E9C-101B-9397-08002B2CF9AE}" pid="3" name="MSIP_Label_705c9e18-d393-4470-8b67-9616c62ec31f_Enabled">
    <vt:lpwstr>true</vt:lpwstr>
  </property>
  <property fmtid="{D5CDD505-2E9C-101B-9397-08002B2CF9AE}" pid="4" name="MSIP_Label_705c9e18-d393-4470-8b67-9616c62ec31f_SetDate">
    <vt:lpwstr>2020-11-22T13:27:07Z</vt:lpwstr>
  </property>
  <property fmtid="{D5CDD505-2E9C-101B-9397-08002B2CF9AE}" pid="5" name="MSIP_Label_705c9e18-d393-4470-8b67-9616c62ec31f_Method">
    <vt:lpwstr>Standard</vt:lpwstr>
  </property>
  <property fmtid="{D5CDD505-2E9C-101B-9397-08002B2CF9AE}" pid="6" name="MSIP_Label_705c9e18-d393-4470-8b67-9616c62ec31f_Name">
    <vt:lpwstr>705c9e18-d393-4470-8b67-9616c62ec31f</vt:lpwstr>
  </property>
  <property fmtid="{D5CDD505-2E9C-101B-9397-08002B2CF9AE}" pid="7" name="MSIP_Label_705c9e18-d393-4470-8b67-9616c62ec31f_SiteId">
    <vt:lpwstr>c5d1e823-e2b8-46bf-92ff-84f54313e0a5</vt:lpwstr>
  </property>
  <property fmtid="{D5CDD505-2E9C-101B-9397-08002B2CF9AE}" pid="8" name="MSIP_Label_705c9e18-d393-4470-8b67-9616c62ec31f_ActionId">
    <vt:lpwstr>caa19a0e-ae6c-4bc0-a86a-5da6e5da560c</vt:lpwstr>
  </property>
  <property fmtid="{D5CDD505-2E9C-101B-9397-08002B2CF9AE}" pid="9" name="MSIP_Label_705c9e18-d393-4470-8b67-9616c62ec31f_ContentBits">
    <vt:lpwstr>0</vt:lpwstr>
  </property>
  <property fmtid="{D5CDD505-2E9C-101B-9397-08002B2CF9AE}" pid="10" name="ICV">
    <vt:lpwstr>911FFE65E6B841BDB4BC41AFC67AE8F2</vt:lpwstr>
  </property>
  <property fmtid="{D5CDD505-2E9C-101B-9397-08002B2CF9AE}" pid="11" name="KSOProductBuildVer">
    <vt:lpwstr>2052-11.1.0.12980</vt:lpwstr>
  </property>
</Properties>
</file>