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52" r:id="rId3"/>
    <p:sldId id="333" r:id="rId4"/>
    <p:sldId id="396" r:id="rId5"/>
    <p:sldId id="397" r:id="rId6"/>
    <p:sldId id="407" r:id="rId7"/>
    <p:sldId id="408" r:id="rId8"/>
    <p:sldId id="404" r:id="rId9"/>
    <p:sldId id="405" r:id="rId10"/>
    <p:sldId id="416" r:id="rId11"/>
    <p:sldId id="418" r:id="rId12"/>
    <p:sldId id="417" r:id="rId13"/>
    <p:sldId id="419" r:id="rId14"/>
    <p:sldId id="420" r:id="rId15"/>
    <p:sldId id="406" r:id="rId16"/>
    <p:sldId id="379" r:id="rId17"/>
  </p:sldIdLst>
  <p:sldSz cx="9906000" cy="6858000" type="A4"/>
  <p:notesSz cx="6797675" cy="9874250"/>
  <p:custDataLst>
    <p:tags r:id="rId23"/>
  </p:custDataLst>
  <p:defaultTextStyle>
    <a:defPPr>
      <a:defRPr lang="de-DE"/>
    </a:defPPr>
    <a:lvl1pPr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570" userDrawn="1">
          <p15:clr>
            <a:srgbClr val="A4A3A4"/>
          </p15:clr>
        </p15:guide>
        <p15:guide id="3" orient="horz" pos="3566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orient="horz" pos="2931" userDrawn="1">
          <p15:clr>
            <a:srgbClr val="A4A3A4"/>
          </p15:clr>
        </p15:guide>
        <p15:guide id="6" orient="horz" pos="3521" userDrawn="1">
          <p15:clr>
            <a:srgbClr val="A4A3A4"/>
          </p15:clr>
        </p15:guide>
        <p15:guide id="7" orient="horz" pos="981" userDrawn="1">
          <p15:clr>
            <a:srgbClr val="A4A3A4"/>
          </p15:clr>
        </p15:guide>
        <p15:guide id="8" orient="horz" pos="3339" userDrawn="1">
          <p15:clr>
            <a:srgbClr val="A4A3A4"/>
          </p15:clr>
        </p15:guide>
        <p15:guide id="9" orient="horz" pos="3067" userDrawn="1">
          <p15:clr>
            <a:srgbClr val="A4A3A4"/>
          </p15:clr>
        </p15:guide>
        <p15:guide id="10" orient="horz" pos="1389" userDrawn="1">
          <p15:clr>
            <a:srgbClr val="A4A3A4"/>
          </p15:clr>
        </p15:guide>
        <p15:guide id="11" orient="horz" pos="4156" userDrawn="1">
          <p15:clr>
            <a:srgbClr val="A4A3A4"/>
          </p15:clr>
        </p15:guide>
        <p15:guide id="12" pos="1532" userDrawn="1">
          <p15:clr>
            <a:srgbClr val="A4A3A4"/>
          </p15:clr>
        </p15:guide>
        <p15:guide id="13" pos="6114" userDrawn="1">
          <p15:clr>
            <a:srgbClr val="A4A3A4"/>
          </p15:clr>
        </p15:guide>
        <p15:guide id="14" pos="3120" userDrawn="1">
          <p15:clr>
            <a:srgbClr val="A4A3A4"/>
          </p15:clr>
        </p15:guide>
        <p15:guide id="15" pos="23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FFFF"/>
    <a:srgbClr val="EAEAEA"/>
    <a:srgbClr val="E8ECF1"/>
    <a:srgbClr val="8D9FB9"/>
    <a:srgbClr val="000066"/>
    <a:srgbClr val="FF9900"/>
    <a:srgbClr val="4083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5" autoAdjust="0"/>
    <p:restoredTop sz="94645" autoAdjust="0"/>
  </p:normalViewPr>
  <p:slideViewPr>
    <p:cSldViewPr showGuides="1">
      <p:cViewPr varScale="1">
        <p:scale>
          <a:sx n="108" d="100"/>
          <a:sy n="108" d="100"/>
        </p:scale>
        <p:origin x="1506" y="108"/>
      </p:cViewPr>
      <p:guideLst>
        <p:guide orient="horz" pos="663"/>
        <p:guide orient="horz" pos="1570"/>
        <p:guide orient="horz" pos="3566"/>
        <p:guide orient="horz" pos="2160"/>
        <p:guide orient="horz" pos="2931"/>
        <p:guide orient="horz" pos="3521"/>
        <p:guide orient="horz" pos="981"/>
        <p:guide orient="horz" pos="3339"/>
        <p:guide orient="horz" pos="3067"/>
        <p:guide orient="horz" pos="1389"/>
        <p:guide orient="horz" pos="4156"/>
        <p:guide pos="1532"/>
        <p:guide pos="6114"/>
        <p:guide pos="3120"/>
        <p:guide pos="2394"/>
      </p:guideLst>
    </p:cSldViewPr>
  </p:slideViewPr>
  <p:outlineViewPr>
    <p:cViewPr>
      <p:scale>
        <a:sx n="33" d="100"/>
        <a:sy n="33" d="100"/>
      </p:scale>
      <p:origin x="0" y="103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3390" y="-9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18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415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401" y="1"/>
            <a:ext cx="2895596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9528"/>
            <a:ext cx="2972415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401" y="9399528"/>
            <a:ext cx="2895596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8F07C2F6-B101-436D-AEDE-9B0585C13632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912" y="1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3900" y="739775"/>
            <a:ext cx="534987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9" y="4690269"/>
            <a:ext cx="4985380" cy="444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de-DE" noProof="0"/>
              <a:t>Klicken Sie, um die Formate des Vorlagentextes zu bearbeiten</a:t>
            </a:r>
            <a:endParaRPr lang="de-DE" noProof="0"/>
          </a:p>
          <a:p>
            <a:pPr lvl="1"/>
            <a:r>
              <a:rPr lang="de-DE" noProof="0"/>
              <a:t>Zweite Ebene</a:t>
            </a:r>
            <a:endParaRPr lang="de-DE" noProof="0"/>
          </a:p>
          <a:p>
            <a:pPr lvl="2"/>
            <a:r>
              <a:rPr lang="de-DE" noProof="0"/>
              <a:t>Dritte Ebene</a:t>
            </a:r>
            <a:endParaRPr lang="de-DE" noProof="0"/>
          </a:p>
          <a:p>
            <a:pPr lvl="3"/>
            <a:r>
              <a:rPr lang="de-DE" noProof="0"/>
              <a:t>Vierte Ebene</a:t>
            </a:r>
            <a:endParaRPr lang="de-DE" noProof="0"/>
          </a:p>
          <a:p>
            <a:pPr lvl="4"/>
            <a:r>
              <a:rPr lang="de-DE" noProof="0"/>
              <a:t>Fünfte Ebene</a:t>
            </a:r>
            <a:endParaRPr lang="de-DE" noProof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380538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912" y="9380538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95088786-1D63-4D5D-B015-692FC08AD38F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6" name="Textfeld 15"/>
          <p:cNvSpPr txBox="1"/>
          <p:nvPr userDrawn="1"/>
        </p:nvSpPr>
        <p:spPr>
          <a:xfrm>
            <a:off x="115485" y="3738536"/>
            <a:ext cx="4633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0925" y="4081463"/>
            <a:ext cx="9648000" cy="576000"/>
          </a:xfr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de-DE" dirty="0"/>
              <a:t>Topic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T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Richard Schulz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Customer Service - Implementation</a:t>
            </a:r>
            <a:endParaRPr lang="en-US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Differentiating IT (L.LCF)</a:t>
            </a:r>
            <a:endParaRPr lang="en-US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SWORD Customer Service</a:t>
            </a:r>
            <a:endParaRPr lang="en-US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1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38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8781-4940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Richard.Schulz@dbschenker.com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Jv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Jürgen van Eik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Service Manager SWORD  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8781-8868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9748 1026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juergen.van-eik@dbschenker.com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HMR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13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Herber Mayer-Rückleben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Global 24/7 Support  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707385" y="4731688"/>
            <a:ext cx="376393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8781-8195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+49 170 782 3258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herbert.mayer-rueckleben@dbschenker.com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GK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Gabriele Klar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Customer Service  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+49 160 899 0219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gabriele.klar@dbschenker.com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MS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Michael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Scherner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SWORD Engineering Competence Center   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8781-8218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+49 175 182 2287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michael.scherner@dbschenker.com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BB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Birgit Bogumil 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Special Projects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8781-8568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+49 170 922 6014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birgit.bogumil@dbschenker.com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MM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Markus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Melms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Project Manager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802635" y="4731688"/>
            <a:ext cx="29747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8781-8107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+49 151 651 66627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markus.melms.extern@dbschenker.com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On behalf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fld id="{E5685BC4-D040-4D83-92FE-61768DB7A4BE}" type="slidenum">
              <a:rPr lang="de-DE" smtClean="0">
                <a:solidFill>
                  <a:srgbClr val="000000"/>
                </a:solidFill>
              </a:rPr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hteck 30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502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4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502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 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1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3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2 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3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6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  <p:sp>
        <p:nvSpPr>
          <p:cNvPr id="17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00472" y="5085184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95263" y="1631920"/>
            <a:ext cx="1951200" cy="648000"/>
          </a:xfrm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 1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7" Type="http://schemas.openxmlformats.org/officeDocument/2006/relationships/theme" Target="../theme/theme1.xml"/><Relationship Id="rId46" Type="http://schemas.openxmlformats.org/officeDocument/2006/relationships/image" Target="../media/image8.png"/><Relationship Id="rId45" Type="http://schemas.openxmlformats.org/officeDocument/2006/relationships/image" Target="../media/image1.png"/><Relationship Id="rId44" Type="http://schemas.openxmlformats.org/officeDocument/2006/relationships/tags" Target="../tags/tag9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0025" y="1557338"/>
            <a:ext cx="950595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de-DE" dirty="0"/>
              <a:t>Klicken Sie, um die Formate des Vorlagentextes zu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00500" y="6692900"/>
            <a:ext cx="1905000" cy="9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/>
          <a:lstStyle>
            <a:lvl1pPr>
              <a:defRPr sz="900"/>
            </a:lvl1pPr>
          </a:lstStyle>
          <a:p>
            <a:fld id="{775CC551-11A1-4996-9818-EF2E6E972248}" type="slidenum">
              <a:rPr lang="de-DE">
                <a:solidFill>
                  <a:srgbClr val="000000"/>
                </a:solidFill>
                <a:latin typeface="DB Office" pitchFamily="34" charset="0"/>
              </a:rPr>
            </a:fld>
            <a:endParaRPr lang="de-DE" dirty="0">
              <a:solidFill>
                <a:srgbClr val="000000"/>
              </a:solidFill>
              <a:latin typeface="DB Office" pitchFamily="34" charset="0"/>
            </a:endParaRPr>
          </a:p>
        </p:txBody>
      </p:sp>
      <p:grpSp>
        <p:nvGrpSpPr>
          <p:cNvPr id="3126" name="Group 54"/>
          <p:cNvGrpSpPr/>
          <p:nvPr/>
        </p:nvGrpSpPr>
        <p:grpSpPr bwMode="auto">
          <a:xfrm>
            <a:off x="0" y="1123950"/>
            <a:ext cx="9906000" cy="287338"/>
            <a:chOff x="0" y="708"/>
            <a:chExt cx="6240" cy="181"/>
          </a:xfrm>
        </p:grpSpPr>
        <p:sp>
          <p:nvSpPr>
            <p:cNvPr id="3127" name="Rectangle 55"/>
            <p:cNvSpPr>
              <a:spLocks noChangeArrowheads="1"/>
            </p:cNvSpPr>
            <p:nvPr/>
          </p:nvSpPr>
          <p:spPr bwMode="auto">
            <a:xfrm>
              <a:off x="0" y="708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3128" name="Rectangle 56"/>
            <p:cNvSpPr>
              <a:spLocks noChangeArrowheads="1"/>
            </p:cNvSpPr>
            <p:nvPr/>
          </p:nvSpPr>
          <p:spPr bwMode="auto">
            <a:xfrm>
              <a:off x="0" y="708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pic>
        <p:nvPicPr>
          <p:cNvPr id="3135" name="Picture 63" descr="DB-SCHENKER_rgb_M"/>
          <p:cNvPicPr>
            <a:picLocks noChangeAspect="1" noChangeArrowheads="1"/>
          </p:cNvPicPr>
          <p:nvPr userDrawn="1">
            <p:custDataLst>
              <p:tags r:id="rId44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128588" y="6610618"/>
            <a:ext cx="3536546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de-DE" sz="900" b="0" i="0" dirty="0">
                <a:solidFill>
                  <a:srgbClr val="000000"/>
                </a:solidFill>
                <a:latin typeface="+mn-lt"/>
              </a:rPr>
              <a:t>Schenker AG l Richard</a:t>
            </a:r>
            <a:r>
              <a:rPr lang="de-DE" sz="900" b="0" i="0" baseline="0" dirty="0">
                <a:solidFill>
                  <a:srgbClr val="000000"/>
                </a:solidFill>
                <a:latin typeface="+mn-lt"/>
              </a:rPr>
              <a:t> Schulz </a:t>
            </a:r>
            <a:r>
              <a:rPr lang="de-DE" sz="900" b="0" i="0" dirty="0">
                <a:solidFill>
                  <a:srgbClr val="000000"/>
                </a:solidFill>
                <a:latin typeface="+mn-lt"/>
              </a:rPr>
              <a:t>l 01 - 2015| Basic XML-Knowledge</a:t>
            </a:r>
            <a:endParaRPr lang="de-DE" sz="900" b="0" i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1" name="Textfeld 10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pic>
        <p:nvPicPr>
          <p:cNvPr id="12" name="Grafik 11"/>
          <p:cNvPicPr preferRelativeResize="0">
            <a:picLocks noChangeAspect="1"/>
          </p:cNvPicPr>
          <p:nvPr userDrawn="1"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17" y="647701"/>
            <a:ext cx="1130455" cy="4072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9pPr>
    </p:titleStyle>
    <p:bodyStyle>
      <a:lvl1pPr algn="l" rtl="0" eaLnBrk="0" fontAlgn="base" hangingPunct="0">
        <a:spcBef>
          <a:spcPct val="0"/>
        </a:spcBef>
        <a:spcAft>
          <a:spcPct val="0"/>
        </a:spcAft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186055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SzPct val="85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</a:defRPr>
      </a:lvl2pPr>
      <a:lvl3pPr marL="358775" indent="-1714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3pPr>
      <a:lvl4pPr marL="544830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4pPr>
      <a:lvl5pPr marL="7289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5pPr>
      <a:lvl6pPr marL="11861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6pPr>
      <a:lvl7pPr marL="16433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7pPr>
      <a:lvl8pPr marL="21005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8pPr>
      <a:lvl9pPr marL="25577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9.xml"/><Relationship Id="rId6" Type="http://schemas.openxmlformats.org/officeDocument/2006/relationships/hyperlink" Target="http://en.wikipedia.org/wiki/XPath_3.0" TargetMode="External"/><Relationship Id="rId5" Type="http://schemas.openxmlformats.org/officeDocument/2006/relationships/hyperlink" Target="http://en.wikipedia.org/wiki/XQuery_and_XPath_Data_Model" TargetMode="External"/><Relationship Id="rId4" Type="http://schemas.openxmlformats.org/officeDocument/2006/relationships/hyperlink" Target="http://en.wikipedia.org/wiki/XPath_2.0" TargetMode="External"/><Relationship Id="rId3" Type="http://schemas.openxmlformats.org/officeDocument/2006/relationships/hyperlink" Target="http://en.wikipedia.org/wiki/XML" TargetMode="External"/><Relationship Id="rId2" Type="http://schemas.openxmlformats.org/officeDocument/2006/relationships/hyperlink" Target="http://en.wikipedia.org/wiki/Node_(computer_science)" TargetMode="External"/><Relationship Id="rId1" Type="http://schemas.openxmlformats.org/officeDocument/2006/relationships/hyperlink" Target="http://en.wikipedia.org/wiki/Query_language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hyperlink" Target="http://de.wikipedia.org/wiki/Modulo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0"/>
          </p:nvPr>
        </p:nvSpPr>
        <p:spPr>
          <a:xfrm>
            <a:off x="210450" y="4081463"/>
            <a:ext cx="9648000" cy="576000"/>
          </a:xfrm>
        </p:spPr>
        <p:txBody>
          <a:bodyPr/>
          <a:lstStyle/>
          <a:p>
            <a:r>
              <a:rPr lang="en-US" dirty="0"/>
              <a:t>XML-Basic knowledge</a:t>
            </a:r>
            <a:endParaRPr lang="en-US" noProof="0" dirty="0">
              <a:latin typeface="+mj-lt"/>
            </a:endParaRPr>
          </a:p>
        </p:txBody>
      </p:sp>
      <p:sp>
        <p:nvSpPr>
          <p:cNvPr id="3" name="FirmaBox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37325" y="5589588"/>
            <a:ext cx="33686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Name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Referent</a:t>
            </a:r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 </a:t>
            </a:r>
            <a:endParaRPr lang="en-US" sz="12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4" name="Referentbox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37325" y="5876925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Title/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 </a:t>
            </a:r>
            <a:endParaRPr lang="en-US" sz="12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5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6537325" y="5561013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6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537325" y="5849938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7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537325" y="6137275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8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6537325" y="6426200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9" name="Referentbox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537220" y="616551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n-lt"/>
              </a:rPr>
              <a:t>Corporate Customer &amp; Enterprise Integration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0" name="Referentbox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537220" y="645355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n-lt"/>
              </a:rPr>
              <a:t>Date 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XPath</a:t>
            </a:r>
            <a:r>
              <a:rPr lang="en-US" noProof="0" dirty="0"/>
              <a:t>-Basic knowledge</a:t>
            </a:r>
            <a:endParaRPr lang="en-US" noProof="0" dirty="0"/>
          </a:p>
        </p:txBody>
      </p:sp>
      <p:sp>
        <p:nvSpPr>
          <p:cNvPr id="28" name="Textplatzhalter 2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 err="1"/>
              <a:t>XPath</a:t>
            </a:r>
            <a:r>
              <a:rPr lang="de-DE" dirty="0"/>
              <a:t>-Expression</a:t>
            </a:r>
            <a:endParaRPr lang="en-US" noProof="0" dirty="0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noProof="0" dirty="0"/>
              <a:t>What is </a:t>
            </a:r>
            <a:r>
              <a:rPr lang="en-US" noProof="0" dirty="0" err="1"/>
              <a:t>Xpath</a:t>
            </a:r>
            <a:endParaRPr lang="en-US" noProof="0" dirty="0"/>
          </a:p>
        </p:txBody>
      </p:sp>
      <p:sp>
        <p:nvSpPr>
          <p:cNvPr id="30" name="Textplatzhalter 29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Axis-model</a:t>
            </a:r>
            <a:endParaRPr lang="de-DE" dirty="0"/>
          </a:p>
        </p:txBody>
      </p:sp>
      <p:sp>
        <p:nvSpPr>
          <p:cNvPr id="32" name="Textplatzhalter 31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 err="1"/>
              <a:t>Functions</a:t>
            </a:r>
            <a:endParaRPr lang="de-DE" dirty="0"/>
          </a:p>
        </p:txBody>
      </p:sp>
      <p:sp>
        <p:nvSpPr>
          <p:cNvPr id="9" name="Textplatzhalter 31"/>
          <p:cNvSpPr>
            <a:spLocks noGrp="1"/>
          </p:cNvSpPr>
          <p:nvPr>
            <p:ph type="body" sz="quarter" idx="24"/>
          </p:nvPr>
        </p:nvSpPr>
        <p:spPr>
          <a:xfrm>
            <a:off x="820400" y="5013176"/>
            <a:ext cx="5932800" cy="576000"/>
          </a:xfrm>
        </p:spPr>
        <p:txBody>
          <a:bodyPr/>
          <a:lstStyle/>
          <a:p>
            <a:r>
              <a:rPr lang="de-DE" dirty="0" err="1"/>
              <a:t>Examples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Motivation &amp; History</a:t>
            </a:r>
            <a:endParaRPr lang="de-DE" sz="18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b="1" dirty="0" err="1"/>
              <a:t>XPath</a:t>
            </a:r>
            <a:r>
              <a:rPr lang="en-US" dirty="0"/>
              <a:t>, the </a:t>
            </a:r>
            <a:r>
              <a:rPr lang="en-US" b="1" dirty="0"/>
              <a:t>XML Path Language</a:t>
            </a:r>
            <a:r>
              <a:rPr lang="en-US" dirty="0"/>
              <a:t>, is a </a:t>
            </a:r>
            <a:r>
              <a:rPr lang="en-US" dirty="0">
                <a:hlinkClick r:id="rId1" tooltip="Query language"/>
              </a:rPr>
              <a:t>query language</a:t>
            </a:r>
            <a:r>
              <a:rPr lang="en-US" dirty="0"/>
              <a:t> for selecting </a:t>
            </a:r>
            <a:r>
              <a:rPr lang="en-US" dirty="0">
                <a:hlinkClick r:id="rId2" tooltip="Node (computer science)"/>
              </a:rPr>
              <a:t>nodes</a:t>
            </a:r>
            <a:r>
              <a:rPr lang="en-US" dirty="0"/>
              <a:t> from an </a:t>
            </a:r>
            <a:r>
              <a:rPr lang="en-US" dirty="0">
                <a:hlinkClick r:id="rId3" tooltip="XML"/>
              </a:rPr>
              <a:t>XML</a:t>
            </a:r>
            <a:r>
              <a:rPr lang="en-US" dirty="0"/>
              <a:t> document</a:t>
            </a: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/>
              <a:t>1999 </a:t>
            </a:r>
            <a:r>
              <a:rPr lang="de-DE" dirty="0" err="1"/>
              <a:t>Xpath</a:t>
            </a:r>
            <a:r>
              <a:rPr lang="de-DE" dirty="0"/>
              <a:t> Version 1.0</a:t>
            </a:r>
            <a:endParaRPr lang="de-DE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err="1">
                <a:hlinkClick r:id="rId4" tooltip="XPath 2.0"/>
              </a:rPr>
              <a:t>XPath</a:t>
            </a:r>
            <a:r>
              <a:rPr lang="en-US" dirty="0">
                <a:hlinkClick r:id="rId4" tooltip="XPath 2.0"/>
              </a:rPr>
              <a:t> 2.0</a:t>
            </a:r>
            <a:r>
              <a:rPr lang="en-US" dirty="0"/>
              <a:t> became a Recommendation on 23 January 2007. </a:t>
            </a:r>
            <a:br>
              <a:rPr lang="en-US" dirty="0"/>
            </a:br>
            <a:r>
              <a:rPr lang="en-US" dirty="0"/>
              <a:t>changed </a:t>
            </a:r>
            <a:r>
              <a:rPr lang="en-US" dirty="0">
                <a:hlinkClick r:id="rId5" tooltip="XQuery and XPath Data Model"/>
              </a:rPr>
              <a:t>XQuery and </a:t>
            </a:r>
            <a:r>
              <a:rPr lang="en-US" dirty="0" err="1">
                <a:hlinkClick r:id="rId5" tooltip="XQuery and XPath Data Model"/>
              </a:rPr>
              <a:t>XPath</a:t>
            </a:r>
            <a:r>
              <a:rPr lang="en-US" dirty="0">
                <a:hlinkClick r:id="rId5" tooltip="XQuery and XPath Data Model"/>
              </a:rPr>
              <a:t> Data Model</a:t>
            </a:r>
            <a:r>
              <a:rPr lang="en-US" dirty="0"/>
              <a:t> </a:t>
            </a: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err="1">
                <a:hlinkClick r:id="rId6" tooltip="XPath 3.0"/>
              </a:rPr>
              <a:t>XPath</a:t>
            </a:r>
            <a:r>
              <a:rPr lang="en-US" dirty="0">
                <a:hlinkClick r:id="rId6" tooltip="XPath 3.0"/>
              </a:rPr>
              <a:t> 3.0</a:t>
            </a:r>
            <a:r>
              <a:rPr lang="en-US" dirty="0"/>
              <a:t> became a Recommendation on 8 April 2014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err="1"/>
              <a:t>XPath</a:t>
            </a:r>
            <a:r>
              <a:rPr lang="en-US" dirty="0"/>
              <a:t> is a syntax for defining parts of an XML document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err="1"/>
              <a:t>XPath</a:t>
            </a:r>
            <a:r>
              <a:rPr lang="en-US" dirty="0"/>
              <a:t> uses path expressions to navigate in XML documents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err="1"/>
              <a:t>XPath</a:t>
            </a:r>
            <a:r>
              <a:rPr lang="en-US" dirty="0"/>
              <a:t> contains a library of standard functions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err="1"/>
              <a:t>XPath</a:t>
            </a:r>
            <a:r>
              <a:rPr lang="en-US" dirty="0"/>
              <a:t> is a major element in XSLT</a:t>
            </a: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100 built-in functions. There are functions for string values, numeric values, date and time comparison, node and </a:t>
            </a:r>
            <a:r>
              <a:rPr lang="en-US" dirty="0" err="1"/>
              <a:t>QName</a:t>
            </a:r>
            <a:r>
              <a:rPr lang="en-US" dirty="0"/>
              <a:t> manipulation, sequence manipulation, Boolean values, and more.</a:t>
            </a:r>
            <a:endParaRPr lang="de-DE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</a:t>
            </a:r>
            <a:r>
              <a:rPr lang="en-US" noProof="0" dirty="0" err="1"/>
              <a:t>Xpath</a:t>
            </a:r>
            <a:r>
              <a:rPr lang="en-US" noProof="0" dirty="0"/>
              <a:t>	</a:t>
            </a:r>
            <a:br>
              <a:rPr lang="en-US" noProof="0" dirty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XPath</a:t>
            </a:r>
            <a:r>
              <a:rPr lang="de-DE" dirty="0"/>
              <a:t>-Expression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/>
              <a:t>An Expression </a:t>
            </a:r>
            <a:r>
              <a:rPr lang="de-DE" sz="1800" b="1" dirty="0" err="1"/>
              <a:t>has</a:t>
            </a:r>
            <a:r>
              <a:rPr lang="de-DE" sz="1800" b="1" dirty="0"/>
              <a:t>:</a:t>
            </a:r>
            <a:endParaRPr lang="de-DE" sz="1800" b="1" dirty="0"/>
          </a:p>
          <a:p>
            <a:pPr marL="342900" indent="-342900">
              <a:buAutoNum type="arabicParenR"/>
            </a:pPr>
            <a:r>
              <a:rPr lang="de-DE" i="1" dirty="0" err="1"/>
              <a:t>axis</a:t>
            </a:r>
            <a:r>
              <a:rPr lang="de-DE" i="1" dirty="0"/>
              <a:t>-test</a:t>
            </a:r>
            <a:endParaRPr lang="de-DE" i="1" dirty="0"/>
          </a:p>
          <a:p>
            <a:pPr marL="342900" indent="-342900">
              <a:buAutoNum type="arabicParenR"/>
            </a:pPr>
            <a:r>
              <a:rPr lang="de-DE" i="1" dirty="0" err="1"/>
              <a:t>node</a:t>
            </a:r>
            <a:r>
              <a:rPr lang="de-DE" i="1" dirty="0"/>
              <a:t>-test</a:t>
            </a:r>
            <a:endParaRPr lang="de-DE" i="1" dirty="0"/>
          </a:p>
          <a:p>
            <a:pPr marL="342900" indent="-342900">
              <a:buAutoNum type="arabicParenR"/>
            </a:pPr>
            <a:r>
              <a:rPr lang="de-DE" i="1" dirty="0" err="1"/>
              <a:t>Predicates</a:t>
            </a:r>
            <a:r>
              <a:rPr lang="de-DE" i="1" dirty="0"/>
              <a:t> (optional)</a:t>
            </a:r>
            <a:endParaRPr lang="de-DE" i="1" dirty="0"/>
          </a:p>
          <a:p>
            <a:pPr marL="342900" indent="-342900">
              <a:buAutoNum type="arabicParenR"/>
            </a:pPr>
            <a:endParaRPr lang="de-DE" i="1" dirty="0"/>
          </a:p>
          <a:p>
            <a:r>
              <a:rPr lang="en-US" dirty="0"/>
              <a:t>	</a:t>
            </a:r>
            <a:endParaRPr lang="en-US" dirty="0"/>
          </a:p>
          <a:p>
            <a:r>
              <a:rPr lang="en-US" dirty="0"/>
              <a:t>	axis::node-test[predicate 1][predicate 2]...</a:t>
            </a:r>
            <a:endParaRPr lang="de-DE" dirty="0"/>
          </a:p>
          <a:p>
            <a:pPr lvl="0">
              <a:lnSpc>
                <a:spcPct val="150000"/>
              </a:lnSpc>
            </a:pPr>
            <a:endParaRPr lang="de-DE" dirty="0"/>
          </a:p>
          <a:p>
            <a:pPr lvl="0">
              <a:lnSpc>
                <a:spcPct val="150000"/>
              </a:lnSpc>
            </a:pPr>
            <a:r>
              <a:rPr lang="de-DE" dirty="0" err="1"/>
              <a:t>Example</a:t>
            </a:r>
            <a:r>
              <a:rPr lang="de-DE" dirty="0"/>
              <a:t>: /</a:t>
            </a:r>
            <a:r>
              <a:rPr lang="de-DE" dirty="0" err="1"/>
              <a:t>descendant-or-self</a:t>
            </a:r>
            <a:r>
              <a:rPr lang="de-DE" dirty="0"/>
              <a:t>::Foo/</a:t>
            </a:r>
            <a:r>
              <a:rPr lang="de-DE" dirty="0" err="1"/>
              <a:t>child</a:t>
            </a:r>
            <a:r>
              <a:rPr lang="de-DE" dirty="0"/>
              <a:t>::*</a:t>
            </a:r>
            <a:endParaRPr lang="de-DE" dirty="0"/>
          </a:p>
          <a:p>
            <a:pPr lvl="0">
              <a:lnSpc>
                <a:spcPct val="150000"/>
              </a:lnSpc>
            </a:pPr>
            <a:r>
              <a:rPr lang="de-DE" dirty="0"/>
              <a:t>	</a:t>
            </a:r>
            <a:r>
              <a:rPr lang="de-DE" dirty="0" err="1"/>
              <a:t>Selects</a:t>
            </a:r>
            <a:r>
              <a:rPr lang="de-DE" dirty="0"/>
              <a:t> all </a:t>
            </a:r>
            <a:r>
              <a:rPr lang="de-DE" dirty="0" err="1"/>
              <a:t>elements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children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node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name</a:t>
            </a:r>
            <a:r>
              <a:rPr lang="de-DE" dirty="0"/>
              <a:t> „</a:t>
            </a:r>
            <a:r>
              <a:rPr lang="de-DE" dirty="0" err="1"/>
              <a:t>foo</a:t>
            </a:r>
            <a:r>
              <a:rPr lang="de-DE" dirty="0"/>
              <a:t>“</a:t>
            </a:r>
            <a:endParaRPr lang="de-DE" dirty="0"/>
          </a:p>
          <a:p>
            <a:pPr lvl="0">
              <a:lnSpc>
                <a:spcPct val="150000"/>
              </a:lnSpc>
            </a:pPr>
            <a:r>
              <a:rPr lang="de-DE" dirty="0"/>
              <a:t>Same </a:t>
            </a:r>
            <a:r>
              <a:rPr lang="de-DE" dirty="0" err="1"/>
              <a:t>as</a:t>
            </a:r>
            <a:r>
              <a:rPr lang="de-DE" dirty="0"/>
              <a:t>:</a:t>
            </a:r>
            <a:endParaRPr lang="de-DE" dirty="0"/>
          </a:p>
          <a:p>
            <a:pPr lvl="0">
              <a:lnSpc>
                <a:spcPct val="150000"/>
              </a:lnSpc>
            </a:pPr>
            <a:r>
              <a:rPr lang="de-DE" dirty="0"/>
              <a:t>	.//Foo/*</a:t>
            </a:r>
            <a:endParaRPr lang="en-US" dirty="0"/>
          </a:p>
          <a:p>
            <a:pPr lvl="0"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Axis-model	</a:t>
            </a:r>
            <a:br>
              <a:rPr lang="en-US" noProof="0" dirty="0"/>
            </a:br>
            <a:endParaRPr lang="en-US" noProof="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1498823"/>
            <a:ext cx="8782050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Axis-model	</a:t>
            </a:r>
            <a:br>
              <a:rPr lang="en-US" noProof="0" dirty="0"/>
            </a:br>
            <a:endParaRPr lang="en-US" noProof="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36" y="1378756"/>
            <a:ext cx="8409384" cy="5165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Axis-model	</a:t>
            </a:r>
            <a:br>
              <a:rPr lang="en-US" noProof="0" dirty="0"/>
            </a:br>
            <a:endParaRPr lang="en-US" noProof="0" dirty="0"/>
          </a:p>
        </p:txBody>
      </p:sp>
      <p:graphicFrame>
        <p:nvGraphicFramePr>
          <p:cNvPr id="10" name="Inhaltsplatzhalter 9"/>
          <p:cNvGraphicFramePr>
            <a:graphicFrameLocks noGrp="1"/>
          </p:cNvGraphicFramePr>
          <p:nvPr>
            <p:ph idx="1"/>
          </p:nvPr>
        </p:nvGraphicFramePr>
        <p:xfrm>
          <a:off x="560512" y="1484784"/>
          <a:ext cx="8784976" cy="4661561"/>
        </p:xfrm>
        <a:graphic>
          <a:graphicData uri="http://schemas.openxmlformats.org/drawingml/2006/table">
            <a:tbl>
              <a:tblPr/>
              <a:tblGrid>
                <a:gridCol w="2376264"/>
                <a:gridCol w="2088232"/>
                <a:gridCol w="3600400"/>
                <a:gridCol w="720080"/>
              </a:tblGrid>
              <a:tr h="786008">
                <a:tc>
                  <a:txBody>
                    <a:bodyPr/>
                    <a:lstStyle/>
                    <a:p>
                      <a:r>
                        <a:rPr lang="de-DE" sz="1200" dirty="0"/>
                        <a:t>Achse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adressierte Knoten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Beispiel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Abkürzung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3235">
                <a:tc>
                  <a:txBody>
                    <a:bodyPr/>
                    <a:lstStyle/>
                    <a:p>
                      <a:r>
                        <a:rPr lang="de-DE" sz="1200" dirty="0" err="1"/>
                        <a:t>child</a:t>
                      </a:r>
                      <a:br>
                        <a:rPr lang="de-DE" sz="1200" dirty="0"/>
                      </a:br>
                      <a:endParaRPr lang="de-DE" sz="6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direct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child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nodes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child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*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04622">
                <a:tc>
                  <a:txBody>
                    <a:bodyPr/>
                    <a:lstStyle/>
                    <a:p>
                      <a:r>
                        <a:rPr lang="de-DE" sz="1200" dirty="0" err="1"/>
                        <a:t>parent</a:t>
                      </a:r>
                      <a:endParaRPr lang="de-DE" sz="9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direct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parent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node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/</a:t>
                      </a:r>
                      <a:r>
                        <a:rPr lang="de-DE" sz="1200" dirty="0" err="1"/>
                        <a:t>persons</a:t>
                      </a:r>
                      <a:r>
                        <a:rPr lang="de-DE" sz="1200" dirty="0"/>
                        <a:t>/</a:t>
                      </a:r>
                      <a:r>
                        <a:rPr lang="de-DE" sz="1200" dirty="0" err="1"/>
                        <a:t>employees</a:t>
                      </a:r>
                      <a:r>
                        <a:rPr lang="de-DE" sz="1200" dirty="0"/>
                        <a:t>/</a:t>
                      </a:r>
                      <a:r>
                        <a:rPr lang="de-DE" sz="1200" dirty="0" err="1"/>
                        <a:t>person</a:t>
                      </a:r>
                      <a:r>
                        <a:rPr lang="de-DE" sz="1200" dirty="0"/>
                        <a:t>[1]/</a:t>
                      </a:r>
                      <a:r>
                        <a:rPr lang="de-DE" sz="1200" dirty="0" err="1"/>
                        <a:t>parent</a:t>
                      </a:r>
                      <a:r>
                        <a:rPr lang="de-DE" sz="1200" dirty="0"/>
                        <a:t>::*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..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86008">
                <a:tc>
                  <a:txBody>
                    <a:bodyPr/>
                    <a:lstStyle/>
                    <a:p>
                      <a:r>
                        <a:rPr lang="de-DE" sz="1200" dirty="0" err="1"/>
                        <a:t>self</a:t>
                      </a:r>
                      <a:endParaRPr lang="de-DE" sz="8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the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node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itselft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self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000" dirty="0"/>
                        <a:t>.</a:t>
                      </a:r>
                      <a:endParaRPr lang="de-DE" sz="10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3235">
                <a:tc>
                  <a:txBody>
                    <a:bodyPr/>
                    <a:lstStyle/>
                    <a:p>
                      <a:r>
                        <a:rPr lang="de-DE" sz="1200" dirty="0" err="1"/>
                        <a:t>ancestor</a:t>
                      </a:r>
                      <a:endParaRPr lang="de-DE" sz="9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All </a:t>
                      </a:r>
                      <a:r>
                        <a:rPr lang="de-DE" sz="1200" dirty="0" err="1"/>
                        <a:t>parent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nodes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up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to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the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root</a:t>
                      </a:r>
                      <a:r>
                        <a:rPr lang="de-DE" sz="1200" dirty="0"/>
                        <a:t> 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ancestor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::*[1]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04622">
                <a:tc>
                  <a:txBody>
                    <a:bodyPr/>
                    <a:lstStyle/>
                    <a:p>
                      <a:r>
                        <a:rPr lang="de-DE" sz="1200" dirty="0" err="1"/>
                        <a:t>ancestor-or-self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Same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as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ancestor</a:t>
                      </a:r>
                      <a:r>
                        <a:rPr lang="de-DE" sz="1200" baseline="0" dirty="0"/>
                        <a:t> but </a:t>
                      </a:r>
                      <a:r>
                        <a:rPr lang="de-DE" sz="1200" baseline="0" dirty="0" err="1"/>
                        <a:t>the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node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itself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too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ancestor-or-self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::*[1]</a:t>
                      </a:r>
                      <a:endParaRPr lang="de-DE" sz="10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3235">
                <a:tc>
                  <a:txBody>
                    <a:bodyPr/>
                    <a:lstStyle/>
                    <a:p>
                      <a:r>
                        <a:rPr lang="de-DE" sz="1200" dirty="0" err="1"/>
                        <a:t>descendant</a:t>
                      </a:r>
                      <a:endParaRPr lang="de-DE" sz="6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All </a:t>
                      </a:r>
                      <a:r>
                        <a:rPr lang="de-DE" sz="1200" dirty="0" err="1"/>
                        <a:t>child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nodes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follwoing</a:t>
                      </a:r>
                      <a:r>
                        <a:rPr lang="de-DE" sz="1200" baseline="0" dirty="0"/>
                        <a:t>, not </a:t>
                      </a:r>
                      <a:r>
                        <a:rPr lang="de-DE" sz="1200" baseline="0" dirty="0" err="1"/>
                        <a:t>only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the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direct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childs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descendant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.//</a:t>
                      </a:r>
                      <a:endParaRPr lang="en-US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046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200" dirty="0" err="1"/>
                        <a:t>descendant-or-self</a:t>
                      </a:r>
                      <a:endParaRPr lang="de-DE" sz="800" dirty="0"/>
                    </a:p>
                    <a:p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Same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as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dirty="0" err="1"/>
                        <a:t>descendant</a:t>
                      </a:r>
                      <a:r>
                        <a:rPr lang="de-DE" sz="1200" dirty="0"/>
                        <a:t> </a:t>
                      </a:r>
                      <a:r>
                        <a:rPr lang="de-DE" sz="1200" baseline="0" dirty="0"/>
                        <a:t>but </a:t>
                      </a:r>
                      <a:r>
                        <a:rPr lang="de-DE" sz="1200" baseline="0" dirty="0" err="1"/>
                        <a:t>the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node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itself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too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descendant-or-self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Axis-model</a:t>
            </a:r>
            <a:br>
              <a:rPr lang="en-US" noProof="0" dirty="0"/>
            </a:br>
            <a:endParaRPr lang="en-US" noProof="0" dirty="0"/>
          </a:p>
        </p:txBody>
      </p:sp>
      <p:graphicFrame>
        <p:nvGraphicFramePr>
          <p:cNvPr id="2" name="Tabelle 1"/>
          <p:cNvGraphicFramePr>
            <a:graphicFrameLocks noGrp="1"/>
          </p:cNvGraphicFramePr>
          <p:nvPr/>
        </p:nvGraphicFramePr>
        <p:xfrm>
          <a:off x="560512" y="1484784"/>
          <a:ext cx="8712968" cy="3621465"/>
        </p:xfrm>
        <a:graphic>
          <a:graphicData uri="http://schemas.openxmlformats.org/drawingml/2006/table">
            <a:tbl>
              <a:tblPr/>
              <a:tblGrid>
                <a:gridCol w="2178242"/>
                <a:gridCol w="2178242"/>
                <a:gridCol w="3492388"/>
                <a:gridCol w="864096"/>
              </a:tblGrid>
              <a:tr h="747605">
                <a:tc>
                  <a:txBody>
                    <a:bodyPr/>
                    <a:lstStyle/>
                    <a:p>
                      <a:r>
                        <a:rPr lang="de-DE" sz="1050" dirty="0" err="1"/>
                        <a:t>achse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adressierte Knoten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Beispiel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Abkürzung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7605">
                <a:tc>
                  <a:txBody>
                    <a:bodyPr/>
                    <a:lstStyle/>
                    <a:p>
                      <a:r>
                        <a:rPr lang="de-DE" sz="1050" dirty="0" err="1"/>
                        <a:t>following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All </a:t>
                      </a:r>
                      <a:r>
                        <a:rPr lang="de-DE" sz="1050" dirty="0" err="1"/>
                        <a:t>nodes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which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are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following</a:t>
                      </a:r>
                      <a:r>
                        <a:rPr lang="de-DE" sz="1050" dirty="0"/>
                        <a:t> in </a:t>
                      </a:r>
                      <a:r>
                        <a:rPr lang="de-DE" sz="1050" dirty="0" err="1"/>
                        <a:t>the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whole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document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following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  <a:endParaRPr lang="de-DE" sz="60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772">
                <a:tc>
                  <a:txBody>
                    <a:bodyPr/>
                    <a:lstStyle/>
                    <a:p>
                      <a:r>
                        <a:rPr lang="de-DE" sz="1050" dirty="0" err="1"/>
                        <a:t>following-sibling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All </a:t>
                      </a:r>
                      <a:r>
                        <a:rPr lang="de-DE" sz="1050" dirty="0" err="1"/>
                        <a:t>nodes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which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are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following</a:t>
                      </a:r>
                      <a:r>
                        <a:rPr lang="de-DE" sz="1050" dirty="0"/>
                        <a:t> in </a:t>
                      </a:r>
                      <a:r>
                        <a:rPr lang="de-DE" sz="1050" dirty="0" err="1"/>
                        <a:t>the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whole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document</a:t>
                      </a:r>
                      <a:r>
                        <a:rPr lang="de-DE" sz="1050" dirty="0"/>
                        <a:t> but on </a:t>
                      </a:r>
                      <a:r>
                        <a:rPr lang="de-DE" sz="1050" dirty="0" err="1"/>
                        <a:t>the</a:t>
                      </a:r>
                      <a:r>
                        <a:rPr lang="de-DE" sz="1050" dirty="0"/>
                        <a:t> same </a:t>
                      </a:r>
                      <a:r>
                        <a:rPr lang="de-DE" sz="1050" dirty="0" err="1"/>
                        <a:t>level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following-sibling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  <a:endParaRPr lang="de-DE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760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050" dirty="0" err="1"/>
                        <a:t>preceding</a:t>
                      </a:r>
                      <a:endParaRPr lang="de-DE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All </a:t>
                      </a:r>
                      <a:r>
                        <a:rPr lang="de-DE" sz="1050" dirty="0" err="1"/>
                        <a:t>nodes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which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are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preceding</a:t>
                      </a:r>
                      <a:r>
                        <a:rPr lang="de-DE" sz="1050" dirty="0"/>
                        <a:t> in </a:t>
                      </a:r>
                      <a:r>
                        <a:rPr lang="de-DE" sz="1050" dirty="0" err="1"/>
                        <a:t>the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whole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document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preceding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772">
                <a:tc>
                  <a:txBody>
                    <a:bodyPr/>
                    <a:lstStyle/>
                    <a:p>
                      <a:r>
                        <a:rPr lang="de-DE" sz="1050" dirty="0" err="1"/>
                        <a:t>preceding-sibling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All </a:t>
                      </a:r>
                      <a:r>
                        <a:rPr lang="de-DE" sz="1050" dirty="0" err="1"/>
                        <a:t>nodes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which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are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preceding</a:t>
                      </a:r>
                      <a:r>
                        <a:rPr lang="de-DE" sz="1050" dirty="0"/>
                        <a:t> in </a:t>
                      </a:r>
                      <a:r>
                        <a:rPr lang="de-DE" sz="1050" dirty="0" err="1"/>
                        <a:t>the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whole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document</a:t>
                      </a:r>
                      <a:r>
                        <a:rPr lang="de-DE" sz="1050" dirty="0"/>
                        <a:t> but on </a:t>
                      </a:r>
                      <a:r>
                        <a:rPr lang="de-DE" sz="1050" dirty="0" err="1"/>
                        <a:t>the</a:t>
                      </a:r>
                      <a:r>
                        <a:rPr lang="de-DE" sz="1050" dirty="0"/>
                        <a:t> same </a:t>
                      </a:r>
                      <a:r>
                        <a:rPr lang="de-DE" sz="1050" dirty="0" err="1"/>
                        <a:t>level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[2]/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preceding-sibling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  <a:endParaRPr lang="de-DE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910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050" dirty="0" err="1"/>
                        <a:t>attribute</a:t>
                      </a:r>
                      <a:endParaRPr lang="de-DE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/>
                        <a:t>Attributknoten</a:t>
                      </a:r>
                      <a:endParaRPr lang="de-DE" sz="105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[2]/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attribute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@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Conditions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err="1"/>
              <a:t>Conditions</a:t>
            </a:r>
            <a:r>
              <a:rPr lang="de-DE" sz="1800" b="1" dirty="0"/>
              <a:t>:</a:t>
            </a:r>
            <a:endParaRPr lang="de-DE" sz="1800" b="1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/>
              <a:t>Syntax: path[condition-path]/path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/>
              <a:t>Condition-path is build as real path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/>
              <a:t>Example: Get all male persons:</a:t>
            </a:r>
            <a:endParaRPr lang="en-US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Get all persons with name peter:</a:t>
            </a:r>
            <a:endParaRPr lang="en-US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A) find all persons: //person			Pointer shows at first person </a:t>
            </a:r>
            <a:endParaRPr lang="en-US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B) find the node with the condition:	</a:t>
            </a:r>
            <a:endParaRPr lang="en-US" dirty="0"/>
          </a:p>
          <a:p>
            <a:pPr marL="830580" lvl="3" indent="-285750">
              <a:lnSpc>
                <a:spcPct val="150000"/>
              </a:lnSpc>
              <a:buFontTx/>
              <a:buChar char="-"/>
            </a:pPr>
            <a:r>
              <a:rPr lang="en-US" dirty="0"/>
              <a:t>//person/attribute::gender  or //person/@gender 	Pointer shows at name of first person</a:t>
            </a:r>
            <a:endParaRPr lang="en-US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C) Define condition: gender=“male”			</a:t>
            </a:r>
            <a:endParaRPr lang="en-US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D) assemble with []: //person[@gender=“male”]	Pointer shows at first </a:t>
            </a:r>
            <a:r>
              <a:rPr lang="en-US" u="sng" dirty="0"/>
              <a:t>person</a:t>
            </a:r>
            <a:endParaRPr lang="en-US" u="sng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Conditions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/>
              <a:t>Example: Get surname of persons with name peter</a:t>
            </a:r>
            <a:endParaRPr lang="en-US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Get all persons with name peter:</a:t>
            </a:r>
            <a:endParaRPr lang="en-US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A) find all persons: //person			Pointer shows at first person </a:t>
            </a:r>
            <a:endParaRPr lang="en-US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B) find the node with the condition: //person/name	Pointer shows at name of first person</a:t>
            </a:r>
            <a:endParaRPr lang="en-US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C) Define condition: name=“Peter”			</a:t>
            </a:r>
            <a:endParaRPr lang="en-US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D) assemble with []: //person[name=“Peter]		Pointer shows at first </a:t>
            </a:r>
            <a:r>
              <a:rPr lang="en-US" u="sng" dirty="0"/>
              <a:t>person</a:t>
            </a:r>
            <a:endParaRPr lang="en-US" u="sng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u="sng" dirty="0"/>
              <a:t>E) select surname node:	//person[name=“Peter”]/surname</a:t>
            </a:r>
            <a:endParaRPr lang="en-US" u="sng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Conditions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err="1"/>
              <a:t>Numerations</a:t>
            </a:r>
            <a:r>
              <a:rPr lang="de-DE" sz="1800" b="1" dirty="0"/>
              <a:t>:</a:t>
            </a:r>
            <a:endParaRPr lang="de-DE" sz="1800" b="1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Syntax: path[count]</a:t>
            </a:r>
            <a:endParaRPr lang="en-US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Example: find the second person</a:t>
            </a:r>
            <a:endParaRPr lang="en-US" dirty="0"/>
          </a:p>
          <a:p>
            <a:pPr marL="644525" lvl="2" indent="-285750">
              <a:lnSpc>
                <a:spcPct val="150000"/>
              </a:lnSpc>
              <a:buFontTx/>
              <a:buChar char="-"/>
            </a:pPr>
            <a:r>
              <a:rPr lang="en-US" dirty="0"/>
              <a:t>A) Find node: //person =&gt; returns all person (employees and customer!)</a:t>
            </a:r>
            <a:endParaRPr lang="en-US" dirty="0"/>
          </a:p>
          <a:p>
            <a:pPr marL="644525" lvl="2" indent="-285750">
              <a:lnSpc>
                <a:spcPct val="150000"/>
              </a:lnSpc>
              <a:buFontTx/>
              <a:buChar char="-"/>
            </a:pPr>
            <a:r>
              <a:rPr lang="en-US" dirty="0"/>
              <a:t>B) Add [count]: //person[2] =&gt; returns two person nodes!</a:t>
            </a:r>
            <a:endParaRPr lang="en-US" dirty="0"/>
          </a:p>
          <a:p>
            <a:pPr marL="830580" lvl="3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 all person(s) are selected!</a:t>
            </a:r>
            <a:endParaRPr lang="en-US" dirty="0">
              <a:sym typeface="Wingdings" panose="05000000000000000000" pitchFamily="2" charset="2"/>
            </a:endParaRPr>
          </a:p>
          <a:p>
            <a:pPr marL="830580" lvl="3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 each node which is the second occurrence is selected!</a:t>
            </a:r>
            <a:endParaRPr lang="en-US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 marL="644525" lvl="2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C) set () and select the first!</a:t>
            </a:r>
            <a:endParaRPr lang="en-US" dirty="0">
              <a:sym typeface="Wingdings" panose="05000000000000000000" pitchFamily="2" charset="2"/>
            </a:endParaRPr>
          </a:p>
          <a:p>
            <a:pPr marL="830580" lvl="3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 (//person[2])[1]</a:t>
            </a:r>
            <a:endParaRPr lang="en-US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Conditions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/>
              <a:t>Logical </a:t>
            </a:r>
            <a:r>
              <a:rPr lang="de-DE" sz="1800" b="1" dirty="0" err="1"/>
              <a:t>operations</a:t>
            </a:r>
            <a:r>
              <a:rPr lang="de-DE" sz="1800" b="1" dirty="0"/>
              <a:t>:</a:t>
            </a:r>
            <a:endParaRPr lang="de-DE" sz="1800" b="1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Syntax: &lt;Expression&gt; </a:t>
            </a:r>
            <a:r>
              <a:rPr lang="en-US" dirty="0" err="1"/>
              <a:t>and|or</a:t>
            </a:r>
            <a:r>
              <a:rPr lang="en-US" dirty="0"/>
              <a:t> &lt;Expression  [Expression][Expression]</a:t>
            </a:r>
            <a:endParaRPr lang="en-US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Example: find all male persons or persons with surname </a:t>
            </a:r>
            <a:endParaRPr lang="en-US" dirty="0"/>
          </a:p>
          <a:p>
            <a:pPr marL="644525" lvl="2" indent="-285750">
              <a:lnSpc>
                <a:spcPct val="150000"/>
              </a:lnSpc>
              <a:buFontTx/>
              <a:buChar char="-"/>
            </a:pPr>
            <a:r>
              <a:rPr lang="en-US" dirty="0"/>
              <a:t>A) Find node: //person =&gt; returns all person (employees and customer!)</a:t>
            </a:r>
            <a:endParaRPr lang="en-US" dirty="0"/>
          </a:p>
          <a:p>
            <a:pPr marL="644525" lvl="2" indent="-285750">
              <a:lnSpc>
                <a:spcPct val="150000"/>
              </a:lnSpc>
              <a:buFontTx/>
              <a:buChar char="-"/>
            </a:pPr>
            <a:r>
              <a:rPr lang="en-US" dirty="0"/>
              <a:t>B) define condition: </a:t>
            </a:r>
            <a:endParaRPr lang="en-US" dirty="0"/>
          </a:p>
          <a:p>
            <a:pPr marL="830580" lvl="3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//person[surname=“Sack”]</a:t>
            </a:r>
            <a:endParaRPr lang="en-US" dirty="0"/>
          </a:p>
          <a:p>
            <a:pPr marL="830580" lvl="3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 //person[@gender=“male”]</a:t>
            </a:r>
            <a:endParaRPr lang="en-US" dirty="0">
              <a:sym typeface="Wingdings" panose="05000000000000000000" pitchFamily="2" charset="2"/>
            </a:endParaRPr>
          </a:p>
          <a:p>
            <a:pPr marL="644525" lvl="2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C) add operation:</a:t>
            </a:r>
            <a:endParaRPr lang="en-US" dirty="0">
              <a:sym typeface="Wingdings" panose="05000000000000000000" pitchFamily="2" charset="2"/>
            </a:endParaRPr>
          </a:p>
          <a:p>
            <a:pPr marL="830580" lvl="3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//person[surname=“Sack” or @gender=“male”]</a:t>
            </a:r>
            <a:endParaRPr lang="en-US" dirty="0">
              <a:sym typeface="Wingdings" panose="05000000000000000000" pitchFamily="2" charset="2"/>
            </a:endParaRPr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Example 2: find all male persons </a:t>
            </a:r>
            <a:r>
              <a:rPr lang="en-US" dirty="0" err="1"/>
              <a:t>wich</a:t>
            </a:r>
            <a:r>
              <a:rPr lang="en-US" dirty="0"/>
              <a:t> are older than 30 years:</a:t>
            </a:r>
            <a:endParaRPr lang="en-US" dirty="0"/>
          </a:p>
          <a:p>
            <a:pPr marL="830580" lvl="3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 //person[surname=“Sack”][@gender=“male”]</a:t>
            </a:r>
            <a:endParaRPr lang="en-US" dirty="0">
              <a:sym typeface="Wingdings" panose="05000000000000000000" pitchFamily="2" charset="2"/>
            </a:endParaRPr>
          </a:p>
          <a:p>
            <a:pPr marL="830580" lvl="3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Conditions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/>
              <a:t>Logical </a:t>
            </a:r>
            <a:r>
              <a:rPr lang="de-DE" sz="1800" b="1" dirty="0" err="1"/>
              <a:t>operations</a:t>
            </a:r>
            <a:r>
              <a:rPr lang="de-DE" sz="1800" b="1" dirty="0"/>
              <a:t>:</a:t>
            </a:r>
            <a:endParaRPr lang="de-DE" sz="1800" b="1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Syntax: &lt;Expression&gt; </a:t>
            </a:r>
            <a:r>
              <a:rPr lang="en-US" dirty="0" err="1"/>
              <a:t>and|or</a:t>
            </a:r>
            <a:r>
              <a:rPr lang="en-US" dirty="0"/>
              <a:t> &lt;Expression  [Expression][Expression]</a:t>
            </a:r>
            <a:endParaRPr lang="en-US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Example: find all male persons or persons with surname </a:t>
            </a:r>
            <a:endParaRPr lang="en-US" dirty="0"/>
          </a:p>
          <a:p>
            <a:pPr marL="644525" lvl="2" indent="-285750">
              <a:lnSpc>
                <a:spcPct val="150000"/>
              </a:lnSpc>
              <a:buFontTx/>
              <a:buChar char="-"/>
            </a:pPr>
            <a:r>
              <a:rPr lang="en-US" dirty="0"/>
              <a:t>A) Find node: //person =&gt; returns all person (employees and customer!)</a:t>
            </a:r>
            <a:endParaRPr lang="en-US" dirty="0"/>
          </a:p>
          <a:p>
            <a:pPr marL="644525" lvl="2" indent="-285750">
              <a:lnSpc>
                <a:spcPct val="150000"/>
              </a:lnSpc>
              <a:buFontTx/>
              <a:buChar char="-"/>
            </a:pPr>
            <a:r>
              <a:rPr lang="en-US" dirty="0"/>
              <a:t>B) define condition: </a:t>
            </a:r>
            <a:endParaRPr lang="en-US" dirty="0"/>
          </a:p>
          <a:p>
            <a:pPr marL="830580" lvl="3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//person[surname=“Sack”]</a:t>
            </a:r>
            <a:endParaRPr lang="en-US" dirty="0"/>
          </a:p>
          <a:p>
            <a:pPr marL="830580" lvl="3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 //person[@gender=“male”]</a:t>
            </a:r>
            <a:endParaRPr lang="en-US" dirty="0">
              <a:sym typeface="Wingdings" panose="05000000000000000000" pitchFamily="2" charset="2"/>
            </a:endParaRPr>
          </a:p>
          <a:p>
            <a:pPr marL="644525" lvl="2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C) add operation:</a:t>
            </a:r>
            <a:endParaRPr lang="en-US" dirty="0">
              <a:sym typeface="Wingdings" panose="05000000000000000000" pitchFamily="2" charset="2"/>
            </a:endParaRPr>
          </a:p>
          <a:p>
            <a:pPr marL="830580" lvl="3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//person[surname=“Sack” or @gender=“male”]</a:t>
            </a:r>
            <a:endParaRPr lang="en-US" dirty="0">
              <a:sym typeface="Wingdings" panose="05000000000000000000" pitchFamily="2" charset="2"/>
            </a:endParaRPr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Example 2: find all male persons </a:t>
            </a:r>
            <a:r>
              <a:rPr lang="en-US" dirty="0" err="1"/>
              <a:t>wich</a:t>
            </a:r>
            <a:r>
              <a:rPr lang="en-US" dirty="0"/>
              <a:t> are older than 30 years:</a:t>
            </a:r>
            <a:endParaRPr lang="en-US" dirty="0"/>
          </a:p>
          <a:p>
            <a:pPr marL="830580" lvl="3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 //person[surname=“Sack”][@gender=“male”]</a:t>
            </a:r>
            <a:endParaRPr lang="en-US" dirty="0">
              <a:sym typeface="Wingdings" panose="05000000000000000000" pitchFamily="2" charset="2"/>
            </a:endParaRPr>
          </a:p>
          <a:p>
            <a:pPr marL="830580" lvl="3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Functions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err="1"/>
              <a:t>Important</a:t>
            </a:r>
            <a:r>
              <a:rPr lang="de-DE" sz="1800" b="1" dirty="0"/>
              <a:t>  </a:t>
            </a:r>
            <a:r>
              <a:rPr lang="de-DE" sz="1800" b="1" dirty="0" err="1"/>
              <a:t>functions</a:t>
            </a:r>
            <a:r>
              <a:rPr lang="de-DE" sz="1800" b="1" dirty="0"/>
              <a:t>:</a:t>
            </a:r>
            <a:endParaRPr lang="de-DE" sz="18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substring</a:t>
            </a:r>
            <a:r>
              <a:rPr lang="de-DE" dirty="0"/>
              <a:t>() </a:t>
            </a:r>
            <a:endParaRPr lang="de-DE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substring-before</a:t>
            </a:r>
            <a:r>
              <a:rPr lang="de-DE" dirty="0"/>
              <a:t>(</a:t>
            </a:r>
            <a:r>
              <a:rPr lang="de-DE" dirty="0" err="1"/>
              <a:t>source</a:t>
            </a:r>
            <a:r>
              <a:rPr lang="de-DE" dirty="0"/>
              <a:t>, </a:t>
            </a:r>
            <a:r>
              <a:rPr lang="de-DE" dirty="0" err="1"/>
              <a:t>splitter</a:t>
            </a:r>
            <a:r>
              <a:rPr lang="de-DE" dirty="0"/>
              <a:t>)</a:t>
            </a:r>
            <a:endParaRPr lang="de-DE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substring</a:t>
            </a:r>
            <a:r>
              <a:rPr lang="de-DE" dirty="0"/>
              <a:t>-after(</a:t>
            </a:r>
            <a:r>
              <a:rPr lang="de-DE" dirty="0" err="1"/>
              <a:t>source</a:t>
            </a:r>
            <a:r>
              <a:rPr lang="de-DE" dirty="0"/>
              <a:t>, </a:t>
            </a:r>
            <a:r>
              <a:rPr lang="de-DE" dirty="0" err="1"/>
              <a:t>splitter</a:t>
            </a:r>
            <a:r>
              <a:rPr lang="de-DE" dirty="0"/>
              <a:t>)</a:t>
            </a:r>
            <a:endParaRPr lang="de-DE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string-length</a:t>
            </a:r>
            <a:r>
              <a:rPr lang="de-DE" dirty="0"/>
              <a:t>() </a:t>
            </a:r>
            <a:endParaRPr lang="de-DE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Numerical</a:t>
            </a:r>
            <a:r>
              <a:rPr lang="de-DE" dirty="0"/>
              <a:t> </a:t>
            </a:r>
            <a:r>
              <a:rPr lang="de-DE" dirty="0" err="1"/>
              <a:t>operations</a:t>
            </a:r>
            <a:r>
              <a:rPr lang="de-DE" dirty="0"/>
              <a:t>: + - * div </a:t>
            </a:r>
            <a:r>
              <a:rPr lang="de-DE" dirty="0" err="1">
                <a:hlinkClick r:id="rId1" tooltip="Modulo"/>
              </a:rPr>
              <a:t>mod</a:t>
            </a:r>
            <a:r>
              <a:rPr lang="de-DE" dirty="0"/>
              <a:t> </a:t>
            </a:r>
            <a:endParaRPr lang="de-DE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count</a:t>
            </a:r>
            <a:r>
              <a:rPr lang="de-DE" dirty="0"/>
              <a:t>() </a:t>
            </a:r>
            <a:endParaRPr lang="de-DE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name</a:t>
            </a:r>
            <a:r>
              <a:rPr lang="de-DE" dirty="0"/>
              <a:t>()</a:t>
            </a:r>
            <a:endParaRPr lang="de-DE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max</a:t>
            </a:r>
            <a:r>
              <a:rPr lang="de-DE" dirty="0"/>
              <a:t>()</a:t>
            </a:r>
            <a:r>
              <a:rPr lang="en-US" dirty="0"/>
              <a:t> (</a:t>
            </a:r>
            <a:r>
              <a:rPr lang="en-US" dirty="0" err="1"/>
              <a:t>Xpath</a:t>
            </a:r>
            <a:r>
              <a:rPr lang="en-US" dirty="0"/>
              <a:t> 2.0!)</a:t>
            </a:r>
            <a:endParaRPr lang="de-DE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de-DE" dirty="0"/>
              <a:t>min() </a:t>
            </a:r>
            <a:r>
              <a:rPr lang="en-US" dirty="0"/>
              <a:t>(</a:t>
            </a:r>
            <a:r>
              <a:rPr lang="en-US" dirty="0" err="1"/>
              <a:t>Xpath</a:t>
            </a:r>
            <a:r>
              <a:rPr lang="en-US" dirty="0"/>
              <a:t> 2.0!)</a:t>
            </a:r>
            <a:endParaRPr lang="de-DE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/>
              <a:t>upper-case (</a:t>
            </a:r>
            <a:r>
              <a:rPr lang="en-US" dirty="0" err="1"/>
              <a:t>Xpath</a:t>
            </a:r>
            <a:r>
              <a:rPr lang="en-US" dirty="0"/>
              <a:t> 2.0!)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/>
              <a:t>lower-case (</a:t>
            </a:r>
            <a:r>
              <a:rPr lang="en-US" dirty="0" err="1"/>
              <a:t>Xpath</a:t>
            </a:r>
            <a:r>
              <a:rPr lang="en-US" dirty="0"/>
              <a:t> 2.0!)</a:t>
            </a: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/>
              <a:t>format-</a:t>
            </a:r>
            <a:r>
              <a:rPr lang="de-DE" dirty="0" err="1"/>
              <a:t>number</a:t>
            </a:r>
            <a:r>
              <a:rPr lang="de-DE" dirty="0"/>
              <a:t>(</a:t>
            </a:r>
            <a:r>
              <a:rPr lang="de-DE" dirty="0" err="1"/>
              <a:t>number,format</a:t>
            </a:r>
            <a:r>
              <a:rPr lang="de-DE" dirty="0"/>
              <a:t>,[</a:t>
            </a:r>
            <a:r>
              <a:rPr lang="de-DE" dirty="0" err="1"/>
              <a:t>decimalformat</a:t>
            </a:r>
            <a:r>
              <a:rPr lang="de-DE" dirty="0"/>
              <a:t>]) (</a:t>
            </a:r>
            <a:r>
              <a:rPr lang="de-DE" dirty="0" err="1"/>
              <a:t>Xpath</a:t>
            </a:r>
            <a:r>
              <a:rPr lang="de-DE" dirty="0"/>
              <a:t> 3.0!)</a:t>
            </a:r>
            <a:endParaRPr lang="de-DE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TWNOMINIMIZE" val="-1"/>
</p:tagLst>
</file>

<file path=ppt/tags/tag2.xml><?xml version="1.0" encoding="utf-8"?>
<p:tagLst xmlns:p="http://schemas.openxmlformats.org/presentationml/2006/main">
  <p:tag name="TWNOMINIMIZE" val="-1"/>
</p:tagLst>
</file>

<file path=ppt/tags/tag3.xml><?xml version="1.0" encoding="utf-8"?>
<p:tagLst xmlns:p="http://schemas.openxmlformats.org/presentationml/2006/main">
  <p:tag name="TWNOMINIMIZE" val="-1"/>
</p:tagLst>
</file>

<file path=ppt/tags/tag4.xml><?xml version="1.0" encoding="utf-8"?>
<p:tagLst xmlns:p="http://schemas.openxmlformats.org/presentationml/2006/main">
  <p:tag name="TWNOMINIMIZE" val="-1"/>
</p:tagLst>
</file>

<file path=ppt/tags/tag5.xml><?xml version="1.0" encoding="utf-8"?>
<p:tagLst xmlns:p="http://schemas.openxmlformats.org/presentationml/2006/main">
  <p:tag name="TWNOMINIMIZE" val="-1"/>
</p:tagLst>
</file>

<file path=ppt/tags/tag6.xml><?xml version="1.0" encoding="utf-8"?>
<p:tagLst xmlns:p="http://schemas.openxmlformats.org/presentationml/2006/main">
  <p:tag name="TWNOMINIMIZE" val="-1"/>
</p:tagLst>
</file>

<file path=ppt/tags/tag7.xml><?xml version="1.0" encoding="utf-8"?>
<p:tagLst xmlns:p="http://schemas.openxmlformats.org/presentationml/2006/main">
  <p:tag name="TWNOMINIMIZE" val="-1"/>
</p:tagLst>
</file>

<file path=ppt/tags/tag8.xml><?xml version="1.0" encoding="utf-8"?>
<p:tagLst xmlns:p="http://schemas.openxmlformats.org/presentationml/2006/main">
  <p:tag name="TWNOMINIMIZE" val="-1"/>
</p:tagLst>
</file>

<file path=ppt/tags/tag9.xml><?xml version="1.0" encoding="utf-8"?>
<p:tagLst xmlns:p="http://schemas.openxmlformats.org/presentationml/2006/main">
  <p:tag name="TWNOMINIMIZE" val="-1"/>
</p:tagLst>
</file>

<file path=ppt/tags/tag10.xml><?xml version="1.0" encoding="utf-8"?>
<p:tagLst xmlns:p="http://schemas.openxmlformats.org/presentationml/2006/main">
  <p:tag name="TWNOCDCHECK" val="-1"/>
</p:tagLst>
</file>

<file path=ppt/tags/tag11.xml><?xml version="1.0" encoding="utf-8"?>
<p:tagLst xmlns:p="http://schemas.openxmlformats.org/presentationml/2006/main">
  <p:tag name="TWNOCDCHECK" val="-1"/>
</p:tagLst>
</file>

<file path=ppt/tags/tag12.xml><?xml version="1.0" encoding="utf-8"?>
<p:tagLst xmlns:p="http://schemas.openxmlformats.org/presentationml/2006/main">
  <p:tag name="TWNOCDCHECK" val="-1"/>
</p:tagLst>
</file>

<file path=ppt/tags/tag13.xml><?xml version="1.0" encoding="utf-8"?>
<p:tagLst xmlns:p="http://schemas.openxmlformats.org/presentationml/2006/main">
  <p:tag name="TWNOCDCHECK" val="-1"/>
</p:tagLst>
</file>

<file path=ppt/tags/tag14.xml><?xml version="1.0" encoding="utf-8"?>
<p:tagLst xmlns:p="http://schemas.openxmlformats.org/presentationml/2006/main">
  <p:tag name="TWNOCDCHECK" val="-1"/>
</p:tagLst>
</file>

<file path=ppt/tags/tag15.xml><?xml version="1.0" encoding="utf-8"?>
<p:tagLst xmlns:p="http://schemas.openxmlformats.org/presentationml/2006/main">
  <p:tag name="TWNOCDCHECK" val="-1"/>
</p:tagLst>
</file>

<file path=ppt/tags/tag16.xml><?xml version="1.0" encoding="utf-8"?>
<p:tagLst xmlns:p="http://schemas.openxmlformats.org/presentationml/2006/main">
  <p:tag name="TWNOCDCHECK" val="-1"/>
</p:tagLst>
</file>

<file path=ppt/tags/tag17.xml><?xml version="1.0" encoding="utf-8"?>
<p:tagLst xmlns:p="http://schemas.openxmlformats.org/presentationml/2006/main">
  <p:tag name="TWNOCDCHECK" val="-1"/>
</p:tagLst>
</file>

<file path=ppt/tags/tag18.xml><?xml version="1.0" encoding="utf-8"?>
<p:tagLst xmlns:p="http://schemas.openxmlformats.org/presentationml/2006/main">
  <p:tag name="TRANS_1" val="ppEffectCoverLeftDown"/>
  <p:tag name="TRANS_0" val="ppEffectNone"/>
  <p:tag name="TRANS_COUNT" val="2"/>
  <p:tag name="OPTIONS_SOUND" val="Falsch"/>
  <p:tag name="OPTIONS_VIDEO" val="Falsch"/>
  <p:tag name="OPTIONS_OBJECTANIMATION" val="Falsch"/>
  <p:tag name="OPTIONS_TEXTANIMATION" val="Falsch"/>
  <p:tag name="PAGESETUP_O" val="1"/>
  <p:tag name="PAGESETUP_H" val="540"/>
  <p:tag name="PAGESETUP_W" val="780"/>
  <p:tag name="SC_8" val="16777215"/>
  <p:tag name="SC_7" val="15395562"/>
  <p:tag name="SC_6" val="15854824"/>
  <p:tag name="SC_5" val="12165005"/>
  <p:tag name="SC_4" val="6684672"/>
  <p:tag name="SC_3" val="39423"/>
  <p:tag name="SC_2" val="3507008"/>
  <p:tag name="SC_1" val="255"/>
  <p:tag name="THC_1" val="255"/>
  <p:tag name="PC_8" val="15196894"/>
  <p:tag name="PC_7" val="12165005"/>
  <p:tag name="PC_6" val="6684672"/>
  <p:tag name="PC_5" val="12632256"/>
  <p:tag name="PC_4" val="0"/>
  <p:tag name="PC_3" val="9868950"/>
  <p:tag name="PC_2" val="0"/>
  <p:tag name="PC_1" val="16777215"/>
  <p:tag name="NM_PAGEN_FONT_C" val="0"/>
  <p:tag name="NM_PAGEN_FONT_S" val="12"/>
  <p:tag name="NM_PAGEN_FONT" val="Arial"/>
  <p:tag name="NM_PAGEN_H" val="39"/>
  <p:tag name="NM_PAGEN_W" val="234,875"/>
  <p:tag name="NM_PAGEN_L" val="307,125"/>
  <p:tag name="NM_PAGEN_T" val="741"/>
  <p:tag name="NM_NOTES_FONT_C" val="0"/>
  <p:tag name="NM_NOTES_FONT_S" val="12"/>
  <p:tag name="NM_NOTES_FONT" val="Arial"/>
  <p:tag name="NM_NOTES_H" val="351"/>
  <p:tag name="NM_NOTES_W" val="397,5"/>
  <p:tag name="NM_NOTES_L" val="72,25"/>
  <p:tag name="NM_NOTES_T" val="370,5"/>
  <p:tag name="NM_DATE_FONT_C" val="0"/>
  <p:tag name="NM_DATE_FONT_S" val="12"/>
  <p:tag name="NM_DATE_FONT" val="Arial"/>
  <p:tag name="NM_DATE_H" val="39"/>
  <p:tag name="NM_DATE_W" val="234,875"/>
  <p:tag name="NM_DATE_L" val="307,125"/>
  <p:tag name="NM_DATE_T" val="0"/>
  <p:tag name="NM_FOOTER_FONT_C" val="0"/>
  <p:tag name="NM_FOOTER_FONT_S" val="12"/>
  <p:tag name="NM_FOOTER_FONT" val="Arial"/>
  <p:tag name="NM_FOOTER_H" val="39"/>
  <p:tag name="NM_FOOTER_W" val="234,875"/>
  <p:tag name="NM_FOOTER_L" val="0"/>
  <p:tag name="NM_FOOTER_T" val="741"/>
  <p:tag name="NM_PREVIEW_FONT_C" val="16777215"/>
  <p:tag name="NM_PREVIEW_FONT_S" val=""/>
  <p:tag name="NM_PREVIEW_H" val="292,5"/>
  <p:tag name="NM_PREVIEW_W" val="422,5"/>
  <p:tag name="NM_PREVIEW_L" val="59,75"/>
  <p:tag name="NM_PREVIEW_T" val="58,5"/>
  <p:tag name="NM_HEADER_FONT_C" val="0"/>
  <p:tag name="NM_HEADER_FONT_S" val="12"/>
  <p:tag name="NM_HEADER_FONT" val="Arial"/>
  <p:tag name="NM_HEADER_H" val="39"/>
  <p:tag name="NM_HEADER_W" val="234,875"/>
  <p:tag name="NM_HEADER_L" val="0"/>
  <p:tag name="NM_HEADER_T" val="0"/>
  <p:tag name="HM_PAGEN_FONT_C" val="0"/>
  <p:tag name="HM_PAGEN_FONT_S" val="12"/>
  <p:tag name="HM_PAGEN_FONT" val="Arial"/>
  <p:tag name="HM_PAGEN_H" val="35,875"/>
  <p:tag name="HM_PAGEN_W" val="230,875"/>
  <p:tag name="HM_PAGEN_L" val="309,875"/>
  <p:tag name="HM_PAGEN_T" val="742,5"/>
  <p:tag name="HM_DATE_FONT_C" val="0"/>
  <p:tag name="HM_DATE_FONT_S" val="12"/>
  <p:tag name="HM_DATE_FONT" val="Arial"/>
  <p:tag name="HM_DATE_H" val="41,875"/>
  <p:tag name="HM_DATE_W" val="230,875"/>
  <p:tag name="HM_DATE_L" val="309,875"/>
  <p:tag name="HM_DATE_T" val="0"/>
  <p:tag name="HM_FOOTER_FONT_C" val="0"/>
  <p:tag name="HM_FOOTER_FONT_S" val="12"/>
  <p:tag name="HM_FOOTER_FONT" val="Arial"/>
  <p:tag name="HM_FOOTER_H" val="35,875"/>
  <p:tag name="HM_FOOTER_W" val="237"/>
  <p:tag name="HM_FOOTER_L" val="0"/>
  <p:tag name="HM_FOOTER_T" val="742,5"/>
  <p:tag name="HM_HEADER_FONT_C" val="0"/>
  <p:tag name="HM_HEADER_FONT_S" val="12"/>
  <p:tag name="HM_HEADER_FONT" val="Arial"/>
  <p:tag name="HM_HEADER_H" val="41,875"/>
  <p:tag name="HM_HEADER_W" val="237"/>
  <p:tag name="HM_HEADER_L" val="0"/>
  <p:tag name="HM_HEADER_T" val="0"/>
  <p:tag name="TM_STITLE_FONT_C" val="0"/>
  <p:tag name="TM_STITLE_FONT_S" val="28"/>
  <p:tag name="TM_STITLE_FONT" val="Arial"/>
  <p:tag name="TM_STITLE_H" val="68"/>
  <p:tag name="TM_STITLE_W" val="748,5"/>
  <p:tag name="TM_STITLE_L" val="15,75"/>
  <p:tag name="TM_STITLE_T" val="355,125"/>
  <p:tag name="TM_TITLE_FONT_C" val="0"/>
  <p:tag name="TM_TITLE_FONT_S" val="28"/>
  <p:tag name="TM_TITLE_FONT" val="Arial"/>
  <p:tag name="TM_TITLE_H" val="68"/>
  <p:tag name="TM_TITLE_W" val="748,5"/>
  <p:tag name="TM_TITLE_L" val="15,75"/>
  <p:tag name="TM_TITLE_T" val="281,375"/>
  <p:tag name="SM_PAGEN_FONT_C" val="16777215"/>
  <p:tag name="SM_PAGEN_FONT_S" val=""/>
  <p:tag name="SM_PAGEN_FONT" val=""/>
  <p:tag name="SM_PAGEN_H" val=""/>
  <p:tag name="SM_PAGEN_W" val=""/>
  <p:tag name="SM_PAGEN_L" val=""/>
  <p:tag name="SM_PAGEN_T" val=""/>
  <p:tag name="SM_FOOTER_FONT_C" val="16777215"/>
  <p:tag name="SM_FOOTER_FONT_S" val=""/>
  <p:tag name="SM_FOOTER_FONT" val=""/>
  <p:tag name="SM_FOOTER_H" val=""/>
  <p:tag name="SM_FOOTER_W" val=""/>
  <p:tag name="SM_FOOTER_L" val=""/>
  <p:tag name="SM_FOOTER_T" val=""/>
  <p:tag name="SM_DATE_FONT_C" val="0"/>
  <p:tag name="SM_DATE_FONT_S" val="9"/>
  <p:tag name="SM_DATE_FONT" val="Arial"/>
  <p:tag name="SM_DATE_H" val="7,375"/>
  <p:tag name="SM_DATE_W" val="150"/>
  <p:tag name="SM_DATE_L" val="315"/>
  <p:tag name="SM_DATE_T" val="527"/>
  <p:tag name="SM_AUTOLAYOUT_FONT_C" val="0"/>
  <p:tag name="SM_AUTOLAYOUT_FONT_S" val="18"/>
  <p:tag name="SM_AUTOLAYOUT_FONT" val="Arial"/>
  <p:tag name="SM_AUTOLAYOUT_H" val="385,625"/>
  <p:tag name="SM_AUTOLAYOUT_W" val="748,5"/>
  <p:tag name="SM_AUTOLAYOUT_L" val="15,75"/>
  <p:tag name="SM_AUTOLAYOUT_T" val="122,625"/>
  <p:tag name="SM_TITLE_FONT_C" val="0"/>
  <p:tag name="SM_TITLE_FONT_S" val="20"/>
  <p:tag name="SM_TITLE_FONT" val="Arial"/>
  <p:tag name="SM_TITLE_H" val="51"/>
  <p:tag name="SM_TITLE_W" val="601"/>
  <p:tag name="SM_TITLE_L" val="15,75"/>
  <p:tag name="SM_TITLE_T" val="31,875"/>
  <p:tag name="MASTERISTAGED" val="YES"/>
  <p:tag name="KSO_WPP_MARK_KEY" val="a6ae4b5e-25e1-4a63-89f0-a487243487f8"/>
  <p:tag name="COMMONDATA" val="eyJoZGlkIjoiNGE2ZDEyOWJhOTU4ZDVkNjU0ZTAyZTdjNmYzZDVkYjYifQ=="/>
</p:tagLst>
</file>

<file path=ppt/theme/theme1.xml><?xml version="1.0" encoding="utf-8"?>
<a:theme xmlns:a="http://schemas.openxmlformats.org/drawingml/2006/main" name="Die Bahn_2003">
  <a:themeElements>
    <a:clrScheme name="Die Bahn_2003 1">
      <a:dk1>
        <a:srgbClr val="000000"/>
      </a:dk1>
      <a:lt1>
        <a:srgbClr val="FFFFFF"/>
      </a:lt1>
      <a:dk2>
        <a:srgbClr val="000000"/>
      </a:dk2>
      <a:lt2>
        <a:srgbClr val="878C96"/>
      </a:lt2>
      <a:accent1>
        <a:srgbClr val="C8C8CD"/>
      </a:accent1>
      <a:accent2>
        <a:srgbClr val="000066"/>
      </a:accent2>
      <a:accent3>
        <a:srgbClr val="FFFFFF"/>
      </a:accent3>
      <a:accent4>
        <a:srgbClr val="000000"/>
      </a:accent4>
      <a:accent5>
        <a:srgbClr val="E0E0E3"/>
      </a:accent5>
      <a:accent6>
        <a:srgbClr val="00005C"/>
      </a:accent6>
      <a:hlink>
        <a:srgbClr val="004BB4"/>
      </a:hlink>
      <a:folHlink>
        <a:srgbClr val="D7DEE2"/>
      </a:folHlink>
    </a:clrScheme>
    <a:fontScheme name="Die Bahn_2003">
      <a:majorFont>
        <a:latin typeface="DB Office"/>
        <a:ea typeface=""/>
        <a:cs typeface=""/>
      </a:majorFont>
      <a:minorFont>
        <a:latin typeface="DB Offic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lnDef>
  </a:objectDefaults>
  <a:extraClrSchemeLst>
    <a:extraClrScheme>
      <a:clrScheme name="Die Bahn_2003 1">
        <a:dk1>
          <a:srgbClr val="000000"/>
        </a:dk1>
        <a:lt1>
          <a:srgbClr val="FFFFFF"/>
        </a:lt1>
        <a:dk2>
          <a:srgbClr val="000000"/>
        </a:dk2>
        <a:lt2>
          <a:srgbClr val="878C96"/>
        </a:lt2>
        <a:accent1>
          <a:srgbClr val="C8C8CD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0E0E3"/>
        </a:accent5>
        <a:accent6>
          <a:srgbClr val="00005C"/>
        </a:accent6>
        <a:hlink>
          <a:srgbClr val="004BB4"/>
        </a:hlink>
        <a:folHlink>
          <a:srgbClr val="D7DE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4769</Words>
  <Application>WPS 演示</Application>
  <PresentationFormat>A4-Papier (210 x 297 mm)</PresentationFormat>
  <Paragraphs>300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DB Office</vt:lpstr>
      <vt:lpstr>Segoe Print</vt:lpstr>
      <vt:lpstr>DB Office</vt:lpstr>
      <vt:lpstr>微软雅黑</vt:lpstr>
      <vt:lpstr>Arial Unicode MS</vt:lpstr>
      <vt:lpstr>Die Bahn_2003</vt:lpstr>
      <vt:lpstr>PowerPoint 演示文稿</vt:lpstr>
      <vt:lpstr>XPath-Basic knowledge</vt:lpstr>
      <vt:lpstr>What is Xpath	 </vt:lpstr>
      <vt:lpstr>XPath-Expression </vt:lpstr>
      <vt:lpstr>Axis-model	 </vt:lpstr>
      <vt:lpstr>Axis-model	 </vt:lpstr>
      <vt:lpstr>Axis-model	 </vt:lpstr>
      <vt:lpstr>Axis-model </vt:lpstr>
      <vt:lpstr>Conditions </vt:lpstr>
      <vt:lpstr>Conditions </vt:lpstr>
      <vt:lpstr>Conditions </vt:lpstr>
      <vt:lpstr>Conditions </vt:lpstr>
      <vt:lpstr>Conditions </vt:lpstr>
      <vt:lpstr>Functions </vt:lpstr>
      <vt:lpstr>PowerPoint 演示文稿</vt:lpstr>
    </vt:vector>
  </TitlesOfParts>
  <Company>DB Schenker Deutschland AG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Zentrale Innovation Vision, Leitbild, Strategische Ausrichtung</dc:title>
  <dc:creator>Administrator</dc:creator>
  <cp:lastModifiedBy>，，</cp:lastModifiedBy>
  <cp:revision>600</cp:revision>
  <cp:lastPrinted>2012-11-23T10:04:00Z</cp:lastPrinted>
  <dcterms:created xsi:type="dcterms:W3CDTF">2012-01-09T10:50:00Z</dcterms:created>
  <dcterms:modified xsi:type="dcterms:W3CDTF">2023-01-14T10:42:30Z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0x0101009C226AA39FA88A44AFA62822AA17F4C7</vt:lpwstr>
  </property>
  <property fmtid="{D5CDD505-2E9C-101B-9397-08002B2CF9AE}" pid="3" name="ICV">
    <vt:lpwstr>4C110361857D47D0BB9F3CB426B3E31D</vt:lpwstr>
  </property>
  <property fmtid="{D5CDD505-2E9C-101B-9397-08002B2CF9AE}" pid="4" name="KSOProductBuildVer">
    <vt:lpwstr>2052-11.1.0.12980</vt:lpwstr>
  </property>
</Properties>
</file>