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Lst>
  <p:notesMasterIdLst>
    <p:notesMasterId r:id="rId22"/>
  </p:notesMasterIdLst>
  <p:handoutMasterIdLst>
    <p:handoutMasterId r:id="rId23"/>
  </p:handoutMasterIdLst>
  <p:sldIdLst>
    <p:sldId id="352" r:id="rId3"/>
    <p:sldId id="333" r:id="rId4"/>
    <p:sldId id="396" r:id="rId5"/>
    <p:sldId id="398" r:id="rId6"/>
    <p:sldId id="397" r:id="rId7"/>
    <p:sldId id="411" r:id="rId8"/>
    <p:sldId id="400" r:id="rId9"/>
    <p:sldId id="401" r:id="rId10"/>
    <p:sldId id="404" r:id="rId11"/>
    <p:sldId id="405" r:id="rId12"/>
    <p:sldId id="419" r:id="rId13"/>
    <p:sldId id="406" r:id="rId14"/>
    <p:sldId id="414" r:id="rId15"/>
    <p:sldId id="415" r:id="rId16"/>
    <p:sldId id="416" r:id="rId17"/>
    <p:sldId id="418" r:id="rId18"/>
    <p:sldId id="408" r:id="rId19"/>
    <p:sldId id="409" r:id="rId20"/>
    <p:sldId id="379" r:id="rId21"/>
  </p:sldIdLst>
  <p:sldSz cx="9906000" cy="6858000" type="A4"/>
  <p:notesSz cx="6797675" cy="9874250"/>
  <p:custDataLst>
    <p:tags r:id="rId27"/>
  </p:custDataLst>
  <p:defaultTextStyle>
    <a:defPPr>
      <a:defRPr lang="de-DE"/>
    </a:defPPr>
    <a:lvl1pPr algn="ctr"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663" userDrawn="1">
          <p15:clr>
            <a:srgbClr val="A4A3A4"/>
          </p15:clr>
        </p15:guide>
        <p15:guide id="2" orient="horz" pos="1570" userDrawn="1">
          <p15:clr>
            <a:srgbClr val="A4A3A4"/>
          </p15:clr>
        </p15:guide>
        <p15:guide id="3" orient="horz" pos="3566" userDrawn="1">
          <p15:clr>
            <a:srgbClr val="A4A3A4"/>
          </p15:clr>
        </p15:guide>
        <p15:guide id="4" orient="horz" pos="2160" userDrawn="1">
          <p15:clr>
            <a:srgbClr val="A4A3A4"/>
          </p15:clr>
        </p15:guide>
        <p15:guide id="5" orient="horz" pos="2931" userDrawn="1">
          <p15:clr>
            <a:srgbClr val="A4A3A4"/>
          </p15:clr>
        </p15:guide>
        <p15:guide id="6" orient="horz" pos="3521" userDrawn="1">
          <p15:clr>
            <a:srgbClr val="A4A3A4"/>
          </p15:clr>
        </p15:guide>
        <p15:guide id="7" orient="horz" pos="981" userDrawn="1">
          <p15:clr>
            <a:srgbClr val="A4A3A4"/>
          </p15:clr>
        </p15:guide>
        <p15:guide id="8" orient="horz" pos="3339" userDrawn="1">
          <p15:clr>
            <a:srgbClr val="A4A3A4"/>
          </p15:clr>
        </p15:guide>
        <p15:guide id="9" orient="horz" pos="3067" userDrawn="1">
          <p15:clr>
            <a:srgbClr val="A4A3A4"/>
          </p15:clr>
        </p15:guide>
        <p15:guide id="10" orient="horz" pos="1389" userDrawn="1">
          <p15:clr>
            <a:srgbClr val="A4A3A4"/>
          </p15:clr>
        </p15:guide>
        <p15:guide id="11" orient="horz" pos="4156" userDrawn="1">
          <p15:clr>
            <a:srgbClr val="A4A3A4"/>
          </p15:clr>
        </p15:guide>
        <p15:guide id="12" pos="1532" userDrawn="1">
          <p15:clr>
            <a:srgbClr val="A4A3A4"/>
          </p15:clr>
        </p15:guide>
        <p15:guide id="13" pos="6114" userDrawn="1">
          <p15:clr>
            <a:srgbClr val="A4A3A4"/>
          </p15:clr>
        </p15:guide>
        <p15:guide id="14" pos="3120" userDrawn="1">
          <p15:clr>
            <a:srgbClr val="A4A3A4"/>
          </p15:clr>
        </p15:guide>
        <p15:guide id="15" pos="23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FFFF"/>
    <a:srgbClr val="EAEAEA"/>
    <a:srgbClr val="E8ECF1"/>
    <a:srgbClr val="8D9FB9"/>
    <a:srgbClr val="000066"/>
    <a:srgbClr val="FF9900"/>
    <a:srgbClr val="4083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4632" autoAdjust="0"/>
    <p:restoredTop sz="94588" autoAdjust="0"/>
  </p:normalViewPr>
  <p:slideViewPr>
    <p:cSldViewPr showGuides="1">
      <p:cViewPr varScale="1">
        <p:scale>
          <a:sx n="66" d="100"/>
          <a:sy n="66" d="100"/>
        </p:scale>
        <p:origin x="328" y="32"/>
      </p:cViewPr>
      <p:guideLst>
        <p:guide orient="horz" pos="663"/>
        <p:guide orient="horz" pos="1570"/>
        <p:guide orient="horz" pos="3566"/>
        <p:guide orient="horz" pos="2160"/>
        <p:guide orient="horz" pos="2931"/>
        <p:guide orient="horz" pos="3521"/>
        <p:guide orient="horz" pos="981"/>
        <p:guide orient="horz" pos="3339"/>
        <p:guide orient="horz" pos="3067"/>
        <p:guide orient="horz" pos="1389"/>
        <p:guide orient="horz" pos="4156"/>
        <p:guide pos="1532"/>
        <p:guide pos="6114"/>
        <p:guide pos="3120"/>
        <p:guide pos="2394"/>
      </p:guideLst>
    </p:cSldViewPr>
  </p:slideViewPr>
  <p:outlineViewPr>
    <p:cViewPr>
      <p:scale>
        <a:sx n="33" d="100"/>
        <a:sy n="33" d="100"/>
      </p:scale>
      <p:origin x="0" y="1035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75" d="100"/>
          <a:sy n="75" d="100"/>
        </p:scale>
        <p:origin x="-3390" y="-90"/>
      </p:cViewPr>
      <p:guideLst>
        <p:guide orient="horz" pos="3110"/>
        <p:guide pos="214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8.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2972415" cy="530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smtClean="0"/>
            </a:lvl1pPr>
          </a:lstStyle>
          <a:p>
            <a:pPr>
              <a:defRPr/>
            </a:pPr>
            <a:endParaRPr lang="de-DE"/>
          </a:p>
        </p:txBody>
      </p:sp>
      <p:sp>
        <p:nvSpPr>
          <p:cNvPr id="10243" name="Rectangle 3"/>
          <p:cNvSpPr>
            <a:spLocks noGrp="1" noChangeArrowheads="1"/>
          </p:cNvSpPr>
          <p:nvPr>
            <p:ph type="dt" sz="quarter" idx="1"/>
          </p:nvPr>
        </p:nvSpPr>
        <p:spPr bwMode="auto">
          <a:xfrm>
            <a:off x="3886401" y="1"/>
            <a:ext cx="2895596" cy="530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lvl1pPr>
          </a:lstStyle>
          <a:p>
            <a:pPr>
              <a:defRPr/>
            </a:pPr>
            <a:endParaRPr lang="de-DE"/>
          </a:p>
        </p:txBody>
      </p:sp>
      <p:sp>
        <p:nvSpPr>
          <p:cNvPr id="10244" name="Rectangle 4"/>
          <p:cNvSpPr>
            <a:spLocks noGrp="1" noChangeArrowheads="1"/>
          </p:cNvSpPr>
          <p:nvPr>
            <p:ph type="ftr" sz="quarter" idx="2"/>
          </p:nvPr>
        </p:nvSpPr>
        <p:spPr bwMode="auto">
          <a:xfrm>
            <a:off x="0" y="9399528"/>
            <a:ext cx="2972415" cy="454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smtClean="0"/>
            </a:lvl1pPr>
          </a:lstStyle>
          <a:p>
            <a:pPr>
              <a:defRPr/>
            </a:pPr>
            <a:endParaRPr lang="de-DE"/>
          </a:p>
        </p:txBody>
      </p:sp>
      <p:sp>
        <p:nvSpPr>
          <p:cNvPr id="10245" name="Rectangle 5"/>
          <p:cNvSpPr>
            <a:spLocks noGrp="1" noChangeArrowheads="1"/>
          </p:cNvSpPr>
          <p:nvPr>
            <p:ph type="sldNum" sz="quarter" idx="3"/>
          </p:nvPr>
        </p:nvSpPr>
        <p:spPr bwMode="auto">
          <a:xfrm>
            <a:off x="3886401" y="9399528"/>
            <a:ext cx="2895596" cy="454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smtClean="0"/>
            </a:lvl1pPr>
          </a:lstStyle>
          <a:p>
            <a:pPr>
              <a:defRPr/>
            </a:pPr>
            <a:fld id="{8F07C2F6-B101-436D-AEDE-9B0585C13632}" type="slidenum">
              <a:rPr lang="de-DE"/>
            </a:fld>
            <a:endParaRPr lang="de-DE"/>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2" y="1"/>
            <a:ext cx="2945764"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smtClean="0"/>
            </a:lvl1pPr>
          </a:lstStyle>
          <a:p>
            <a:pPr>
              <a:defRPr/>
            </a:pPr>
            <a:endParaRPr lang="de-DE"/>
          </a:p>
        </p:txBody>
      </p:sp>
      <p:sp>
        <p:nvSpPr>
          <p:cNvPr id="5123" name="Rectangle 3"/>
          <p:cNvSpPr>
            <a:spLocks noGrp="1" noChangeArrowheads="1"/>
          </p:cNvSpPr>
          <p:nvPr>
            <p:ph type="dt" idx="1"/>
          </p:nvPr>
        </p:nvSpPr>
        <p:spPr bwMode="auto">
          <a:xfrm>
            <a:off x="3851912" y="1"/>
            <a:ext cx="2945763"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lvl1pPr>
          </a:lstStyle>
          <a:p>
            <a:pPr>
              <a:defRPr/>
            </a:pPr>
            <a:endParaRPr lang="de-DE"/>
          </a:p>
        </p:txBody>
      </p:sp>
      <p:sp>
        <p:nvSpPr>
          <p:cNvPr id="20484" name="Rectangle 4"/>
          <p:cNvSpPr>
            <a:spLocks noGrp="1" noRot="1" noChangeAspect="1" noChangeArrowheads="1" noTextEdit="1"/>
          </p:cNvSpPr>
          <p:nvPr>
            <p:ph type="sldImg" idx="2"/>
          </p:nvPr>
        </p:nvSpPr>
        <p:spPr bwMode="auto">
          <a:xfrm>
            <a:off x="723900" y="739775"/>
            <a:ext cx="5349875" cy="37036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906149" y="4690269"/>
            <a:ext cx="4985380" cy="444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de-DE" noProof="0"/>
              <a:t>Klicken Sie, um die Formate des Vorlagentextes zu bearbeiten</a:t>
            </a:r>
            <a:endParaRPr lang="de-DE" noProof="0"/>
          </a:p>
          <a:p>
            <a:pPr lvl="1"/>
            <a:r>
              <a:rPr lang="de-DE" noProof="0"/>
              <a:t>Zweite Ebene</a:t>
            </a:r>
            <a:endParaRPr lang="de-DE" noProof="0"/>
          </a:p>
          <a:p>
            <a:pPr lvl="2"/>
            <a:r>
              <a:rPr lang="de-DE" noProof="0"/>
              <a:t>Dritte Ebene</a:t>
            </a:r>
            <a:endParaRPr lang="de-DE" noProof="0"/>
          </a:p>
          <a:p>
            <a:pPr lvl="3"/>
            <a:r>
              <a:rPr lang="de-DE" noProof="0"/>
              <a:t>Vierte Ebene</a:t>
            </a:r>
            <a:endParaRPr lang="de-DE" noProof="0"/>
          </a:p>
          <a:p>
            <a:pPr lvl="4"/>
            <a:r>
              <a:rPr lang="de-DE" noProof="0"/>
              <a:t>Fünfte Ebene</a:t>
            </a:r>
            <a:endParaRPr lang="de-DE" noProof="0"/>
          </a:p>
        </p:txBody>
      </p:sp>
      <p:sp>
        <p:nvSpPr>
          <p:cNvPr id="5126" name="Rectangle 6"/>
          <p:cNvSpPr>
            <a:spLocks noGrp="1" noChangeArrowheads="1"/>
          </p:cNvSpPr>
          <p:nvPr>
            <p:ph type="ftr" sz="quarter" idx="4"/>
          </p:nvPr>
        </p:nvSpPr>
        <p:spPr bwMode="auto">
          <a:xfrm>
            <a:off x="2" y="9380538"/>
            <a:ext cx="2945764"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smtClean="0"/>
            </a:lvl1pPr>
          </a:lstStyle>
          <a:p>
            <a:pPr>
              <a:defRPr/>
            </a:pPr>
            <a:endParaRPr lang="de-DE"/>
          </a:p>
        </p:txBody>
      </p:sp>
      <p:sp>
        <p:nvSpPr>
          <p:cNvPr id="5127" name="Rectangle 7"/>
          <p:cNvSpPr>
            <a:spLocks noGrp="1" noChangeArrowheads="1"/>
          </p:cNvSpPr>
          <p:nvPr>
            <p:ph type="sldNum" sz="quarter" idx="5"/>
          </p:nvPr>
        </p:nvSpPr>
        <p:spPr bwMode="auto">
          <a:xfrm>
            <a:off x="3851912" y="9380538"/>
            <a:ext cx="2945763"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smtClean="0"/>
            </a:lvl1pPr>
          </a:lstStyle>
          <a:p>
            <a:pPr>
              <a:defRPr/>
            </a:pPr>
            <a:fld id="{95088786-1D63-4D5D-B015-692FC08AD38F}" type="slidenum">
              <a:rPr lang="de-DE"/>
            </a:fld>
            <a:endParaRPr 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jpeg"/><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Cover">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6" name="Textfeld 15"/>
          <p:cNvSpPr txBox="1"/>
          <p:nvPr userDrawn="1"/>
        </p:nvSpPr>
        <p:spPr>
          <a:xfrm>
            <a:off x="115485" y="3738536"/>
            <a:ext cx="4633000"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3" name="Textplatzhalter 2"/>
          <p:cNvSpPr>
            <a:spLocks noGrp="1"/>
          </p:cNvSpPr>
          <p:nvPr>
            <p:ph type="body" sz="quarter" idx="10" hasCustomPrompt="1"/>
          </p:nvPr>
        </p:nvSpPr>
        <p:spPr>
          <a:xfrm>
            <a:off x="200925" y="4081463"/>
            <a:ext cx="9648000" cy="576000"/>
          </a:xfrm>
        </p:spPr>
        <p:txBody>
          <a:bodyPr/>
          <a:lstStyle>
            <a:lvl1pPr>
              <a:defRPr sz="2000" b="1"/>
            </a:lvl1pPr>
          </a:lstStyle>
          <a:p>
            <a:pPr lvl="0"/>
            <a:r>
              <a:rPr lang="de-DE" dirty="0"/>
              <a:t>Topic </a:t>
            </a:r>
            <a:r>
              <a:rPr lang="de-DE" dirty="0" err="1"/>
              <a:t>of</a:t>
            </a:r>
            <a:r>
              <a:rPr lang="de-DE" dirty="0"/>
              <a:t> </a:t>
            </a:r>
            <a:r>
              <a:rPr lang="de-DE" dirty="0" err="1"/>
              <a:t>the</a:t>
            </a:r>
            <a:r>
              <a:rPr lang="de-DE" dirty="0"/>
              <a:t> </a:t>
            </a:r>
            <a:r>
              <a:rPr lang="de-DE" dirty="0" err="1"/>
              <a:t>Presentation</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Endslide TE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Text Box 16"/>
          <p:cNvSpPr txBox="1">
            <a:spLocks noChangeArrowheads="1"/>
          </p:cNvSpPr>
          <p:nvPr userDrawn="1"/>
        </p:nvSpPr>
        <p:spPr bwMode="auto">
          <a:xfrm>
            <a:off x="3794000" y="4379263"/>
            <a:ext cx="3240000"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Richard Schulz </a:t>
            </a:r>
            <a:endParaRPr lang="de-DE" sz="1200" dirty="0">
              <a:solidFill>
                <a:srgbClr val="000000"/>
              </a:solidFill>
              <a:latin typeface="DB Office"/>
            </a:endParaRPr>
          </a:p>
          <a:p>
            <a:pPr algn="l"/>
            <a:r>
              <a:rPr lang="en-US" sz="1200" b="0" dirty="0">
                <a:solidFill>
                  <a:srgbClr val="000000"/>
                </a:solidFill>
                <a:latin typeface="DB Office"/>
              </a:rPr>
              <a:t>Customer Service - Implementation</a:t>
            </a:r>
            <a:endParaRPr lang="en-US" sz="1200" b="0" dirty="0">
              <a:solidFill>
                <a:srgbClr val="000000"/>
              </a:solidFill>
              <a:latin typeface="DB Office"/>
            </a:endParaRPr>
          </a:p>
          <a:p>
            <a:pPr algn="l"/>
            <a:r>
              <a:rPr lang="en-US" sz="1200" b="0" dirty="0">
                <a:solidFill>
                  <a:srgbClr val="000000"/>
                </a:solidFill>
                <a:latin typeface="DB Office"/>
              </a:rPr>
              <a:t>Differentiating IT (L.LCF)</a:t>
            </a:r>
            <a:endParaRPr lang="en-US" sz="1200" b="0" dirty="0">
              <a:solidFill>
                <a:srgbClr val="000000"/>
              </a:solidFill>
              <a:latin typeface="DB Office"/>
            </a:endParaRPr>
          </a:p>
          <a:p>
            <a:pPr algn="l"/>
            <a:r>
              <a:rPr lang="en-US" sz="1200" b="0" dirty="0">
                <a:solidFill>
                  <a:srgbClr val="000000"/>
                </a:solidFill>
                <a:latin typeface="DB Office"/>
              </a:rPr>
              <a:t>SWORD Customer Service</a:t>
            </a:r>
            <a:endParaRPr lang="en-US" sz="1200" b="0" dirty="0">
              <a:solidFill>
                <a:srgbClr val="000000"/>
              </a:solidFill>
              <a:latin typeface="DB Office"/>
            </a:endParaRPr>
          </a:p>
        </p:txBody>
      </p:sp>
      <p:sp>
        <p:nvSpPr>
          <p:cNvPr id="21" name="Rectangle 17"/>
          <p:cNvSpPr>
            <a:spLocks noChangeArrowheads="1"/>
          </p:cNvSpPr>
          <p:nvPr userDrawn="1"/>
        </p:nvSpPr>
        <p:spPr bwMode="auto">
          <a:xfrm>
            <a:off x="7250310" y="4731688"/>
            <a:ext cx="2527103"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8781-4940</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Richard.Schulz@dbschenker.com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Endslide JvE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
        <p:nvSpPr>
          <p:cNvPr id="23" name="Text Box 16"/>
          <p:cNvSpPr txBox="1">
            <a:spLocks noChangeArrowheads="1"/>
          </p:cNvSpPr>
          <p:nvPr userDrawn="1"/>
        </p:nvSpPr>
        <p:spPr bwMode="auto">
          <a:xfrm>
            <a:off x="3794000" y="4379263"/>
            <a:ext cx="32400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Jürgen van Eik </a:t>
            </a:r>
            <a:endParaRPr lang="de-DE" sz="1200" dirty="0">
              <a:solidFill>
                <a:srgbClr val="000000"/>
              </a:solidFill>
              <a:latin typeface="DB Office"/>
            </a:endParaRPr>
          </a:p>
          <a:p>
            <a:pPr algn="l"/>
            <a:endParaRPr lang="de-DE" sz="1200" b="0" dirty="0">
              <a:solidFill>
                <a:srgbClr val="000000"/>
              </a:solidFill>
              <a:latin typeface="DB Office"/>
            </a:endParaRPr>
          </a:p>
          <a:p>
            <a:pPr algn="l"/>
            <a:r>
              <a:rPr lang="de-DE" sz="1200" b="0" dirty="0">
                <a:solidFill>
                  <a:srgbClr val="000000"/>
                </a:solidFill>
                <a:latin typeface="DB Office"/>
              </a:rPr>
              <a:t>Service Manager SWORD   </a:t>
            </a:r>
            <a:endParaRPr lang="de-DE" sz="1200" b="0" dirty="0">
              <a:solidFill>
                <a:srgbClr val="000000"/>
              </a:solidFill>
              <a:latin typeface="DB Office"/>
            </a:endParaRPr>
          </a:p>
          <a:p>
            <a:pPr algn="l"/>
            <a:r>
              <a:rPr lang="de-DE" sz="1200" b="0" dirty="0">
                <a:solidFill>
                  <a:srgbClr val="000000"/>
                </a:solidFill>
                <a:latin typeface="DB Office"/>
              </a:rPr>
              <a:t>E-Solutions &amp; IT Management </a:t>
            </a:r>
            <a:endParaRPr lang="de-DE" sz="1200" b="0" dirty="0">
              <a:solidFill>
                <a:srgbClr val="000000"/>
              </a:solidFill>
              <a:latin typeface="DB Office"/>
            </a:endParaRPr>
          </a:p>
          <a:p>
            <a:pPr algn="l"/>
            <a:r>
              <a:rPr lang="de-DE" sz="1200" b="0" dirty="0">
                <a:solidFill>
                  <a:srgbClr val="000000"/>
                </a:solidFill>
                <a:latin typeface="DB Office"/>
              </a:rPr>
              <a:t>Corporate Customer &amp; Enterprise Integration </a:t>
            </a:r>
            <a:endParaRPr lang="de-DE" sz="1200" b="0" dirty="0">
              <a:solidFill>
                <a:srgbClr val="000000"/>
              </a:solidFill>
              <a:latin typeface="DB Office"/>
            </a:endParaRP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250310" y="4731688"/>
            <a:ext cx="2527103"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8781-8868</a:t>
            </a:r>
            <a:endParaRPr lang="de-DE" sz="1200" dirty="0">
              <a:solidFill>
                <a:srgbClr val="000000"/>
              </a:solidFill>
              <a:latin typeface="DB Office"/>
            </a:endParaRPr>
          </a:p>
          <a:p>
            <a:pPr algn="l">
              <a:tabLst>
                <a:tab pos="441325" algn="l"/>
              </a:tabLst>
              <a:defRPr/>
            </a:pPr>
            <a:r>
              <a:rPr lang="de-DE" sz="1200" dirty="0">
                <a:solidFill>
                  <a:srgbClr val="000000"/>
                </a:solidFill>
                <a:latin typeface="DB Office"/>
              </a:rPr>
              <a:t>Mobile: +49 160 9748 1026</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Fax: +49 201 8781-8228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juergen.van-eik@dbschenker.com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Endslide HMR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
        <p:nvSpPr>
          <p:cNvPr id="23" name="Text Box 16"/>
          <p:cNvSpPr txBox="1">
            <a:spLocks noChangeArrowheads="1"/>
          </p:cNvSpPr>
          <p:nvPr userDrawn="1"/>
        </p:nvSpPr>
        <p:spPr bwMode="auto">
          <a:xfrm>
            <a:off x="3413000" y="4379263"/>
            <a:ext cx="32400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Herber Mayer-Rückleben </a:t>
            </a:r>
            <a:endParaRPr lang="de-DE" sz="1200" dirty="0">
              <a:solidFill>
                <a:srgbClr val="000000"/>
              </a:solidFill>
              <a:latin typeface="DB Office"/>
            </a:endParaRP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Global 24/7 Support   </a:t>
            </a:r>
            <a:endParaRPr lang="de-DE" sz="1200" b="0" dirty="0">
              <a:solidFill>
                <a:srgbClr val="000000"/>
              </a:solidFill>
              <a:latin typeface="DB Office"/>
            </a:endParaRPr>
          </a:p>
          <a:p>
            <a:pPr algn="l"/>
            <a:r>
              <a:rPr lang="de-DE" sz="1200" b="0" dirty="0">
                <a:solidFill>
                  <a:srgbClr val="000000"/>
                </a:solidFill>
                <a:latin typeface="DB Office"/>
              </a:rPr>
              <a:t>E-Solutions &amp; IT Management </a:t>
            </a:r>
            <a:endParaRPr lang="de-DE" sz="1200" b="0" dirty="0">
              <a:solidFill>
                <a:srgbClr val="000000"/>
              </a:solidFill>
              <a:latin typeface="DB Office"/>
            </a:endParaRPr>
          </a:p>
          <a:p>
            <a:pPr algn="l"/>
            <a:r>
              <a:rPr lang="de-DE" sz="1200" b="0" dirty="0">
                <a:solidFill>
                  <a:srgbClr val="000000"/>
                </a:solidFill>
                <a:latin typeface="DB Office"/>
              </a:rPr>
              <a:t>Corporate Customer &amp; Enterprise Integration </a:t>
            </a:r>
            <a:endParaRPr lang="de-DE" sz="1200" b="0" dirty="0">
              <a:solidFill>
                <a:srgbClr val="000000"/>
              </a:solidFill>
              <a:latin typeface="DB Office"/>
            </a:endParaRP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6707385" y="4731688"/>
            <a:ext cx="376393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8781-8195 </a:t>
            </a:r>
            <a:endParaRPr lang="de-DE" sz="1200" dirty="0">
              <a:solidFill>
                <a:srgbClr val="000000"/>
              </a:solidFill>
              <a:latin typeface="DB Office"/>
            </a:endParaRPr>
          </a:p>
          <a:p>
            <a:pPr algn="l">
              <a:tabLst>
                <a:tab pos="441325" algn="l"/>
              </a:tabLst>
              <a:defRPr/>
            </a:pPr>
            <a:r>
              <a:rPr lang="de-DE" sz="1200" dirty="0">
                <a:solidFill>
                  <a:srgbClr val="000000"/>
                </a:solidFill>
                <a:latin typeface="DB Office"/>
              </a:rPr>
              <a:t>Mobile: +49 170 782 3258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Fax: +49 201 8781-8228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herbert.mayer-rueckleben@dbschenker.com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Endslide GK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
        <p:nvSpPr>
          <p:cNvPr id="23" name="Text Box 16"/>
          <p:cNvSpPr txBox="1">
            <a:spLocks noChangeArrowheads="1"/>
          </p:cNvSpPr>
          <p:nvPr userDrawn="1"/>
        </p:nvSpPr>
        <p:spPr bwMode="auto">
          <a:xfrm>
            <a:off x="3794000" y="4379263"/>
            <a:ext cx="32400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Gabriele Klar  </a:t>
            </a:r>
            <a:endParaRPr lang="de-DE" sz="1200" dirty="0">
              <a:solidFill>
                <a:srgbClr val="000000"/>
              </a:solidFill>
              <a:latin typeface="DB Office"/>
            </a:endParaRP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Customer Service   </a:t>
            </a:r>
            <a:endParaRPr lang="de-DE" sz="1200" b="0" dirty="0">
              <a:solidFill>
                <a:srgbClr val="000000"/>
              </a:solidFill>
              <a:latin typeface="DB Office"/>
            </a:endParaRPr>
          </a:p>
          <a:p>
            <a:pPr algn="l"/>
            <a:r>
              <a:rPr lang="de-DE" sz="1200" b="0" dirty="0">
                <a:solidFill>
                  <a:srgbClr val="000000"/>
                </a:solidFill>
                <a:latin typeface="DB Office"/>
              </a:rPr>
              <a:t>E-Solutions &amp; IT Management </a:t>
            </a:r>
            <a:endParaRPr lang="de-DE" sz="1200" b="0" dirty="0">
              <a:solidFill>
                <a:srgbClr val="000000"/>
              </a:solidFill>
              <a:latin typeface="DB Office"/>
            </a:endParaRPr>
          </a:p>
          <a:p>
            <a:pPr algn="l"/>
            <a:r>
              <a:rPr lang="de-DE" sz="1200" b="0" dirty="0">
                <a:solidFill>
                  <a:srgbClr val="000000"/>
                </a:solidFill>
                <a:latin typeface="DB Office"/>
              </a:rPr>
              <a:t>Corporate Customer &amp; Enterprise Integration </a:t>
            </a:r>
            <a:endParaRPr lang="de-DE" sz="1200" b="0" dirty="0">
              <a:solidFill>
                <a:srgbClr val="000000"/>
              </a:solidFill>
              <a:latin typeface="DB Office"/>
            </a:endParaRP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250310" y="4731688"/>
            <a:ext cx="2527103"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8781-8194</a:t>
            </a:r>
            <a:endParaRPr lang="de-DE" sz="1200" dirty="0">
              <a:solidFill>
                <a:srgbClr val="000000"/>
              </a:solidFill>
              <a:latin typeface="DB Office"/>
            </a:endParaRPr>
          </a:p>
          <a:p>
            <a:pPr algn="l">
              <a:tabLst>
                <a:tab pos="441325" algn="l"/>
              </a:tabLst>
              <a:defRPr/>
            </a:pPr>
            <a:r>
              <a:rPr lang="de-DE" sz="1200" dirty="0">
                <a:solidFill>
                  <a:srgbClr val="000000"/>
                </a:solidFill>
                <a:latin typeface="DB Office"/>
              </a:rPr>
              <a:t>Mobile: +49 160 899 0219</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Fax: +49 201 8781-8228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gabriele.klar@dbschenker.com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Endslide MS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
        <p:nvSpPr>
          <p:cNvPr id="23" name="Text Box 16"/>
          <p:cNvSpPr txBox="1">
            <a:spLocks noChangeArrowheads="1"/>
          </p:cNvSpPr>
          <p:nvPr userDrawn="1"/>
        </p:nvSpPr>
        <p:spPr bwMode="auto">
          <a:xfrm>
            <a:off x="3498724" y="4379263"/>
            <a:ext cx="3722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Michael </a:t>
            </a:r>
            <a:r>
              <a:rPr lang="de-DE" sz="1200" dirty="0" err="1">
                <a:solidFill>
                  <a:srgbClr val="000000"/>
                </a:solidFill>
                <a:latin typeface="DB Office"/>
              </a:rPr>
              <a:t>Scherner</a:t>
            </a:r>
            <a:r>
              <a:rPr lang="de-DE" sz="1200" dirty="0">
                <a:solidFill>
                  <a:srgbClr val="000000"/>
                </a:solidFill>
                <a:latin typeface="DB Office"/>
              </a:rPr>
              <a:t>   </a:t>
            </a:r>
            <a:endParaRPr lang="de-DE" sz="1200" dirty="0">
              <a:solidFill>
                <a:srgbClr val="000000"/>
              </a:solidFill>
              <a:latin typeface="DB Office"/>
            </a:endParaRP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SWORD Engineering Competence Center    </a:t>
            </a:r>
            <a:endParaRPr lang="de-DE" sz="1200" b="0" dirty="0">
              <a:solidFill>
                <a:srgbClr val="000000"/>
              </a:solidFill>
              <a:latin typeface="DB Office"/>
            </a:endParaRPr>
          </a:p>
          <a:p>
            <a:pPr algn="l"/>
            <a:r>
              <a:rPr lang="de-DE" sz="1200" b="0" dirty="0">
                <a:solidFill>
                  <a:srgbClr val="000000"/>
                </a:solidFill>
                <a:latin typeface="DB Office"/>
              </a:rPr>
              <a:t>E-Solutions &amp; IT Management </a:t>
            </a:r>
            <a:endParaRPr lang="de-DE" sz="1200" b="0" dirty="0">
              <a:solidFill>
                <a:srgbClr val="000000"/>
              </a:solidFill>
              <a:latin typeface="DB Office"/>
            </a:endParaRPr>
          </a:p>
          <a:p>
            <a:pPr algn="l"/>
            <a:r>
              <a:rPr lang="de-DE" sz="1200" b="0" dirty="0">
                <a:solidFill>
                  <a:srgbClr val="000000"/>
                </a:solidFill>
                <a:latin typeface="DB Office"/>
              </a:rPr>
              <a:t>Corporate Customer &amp; Enterprise Integration </a:t>
            </a:r>
            <a:endParaRPr lang="de-DE" sz="1200" b="0" dirty="0">
              <a:solidFill>
                <a:srgbClr val="000000"/>
              </a:solidFill>
              <a:latin typeface="DB Office"/>
            </a:endParaRP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145535" y="4731688"/>
            <a:ext cx="263187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8781-8218</a:t>
            </a:r>
            <a:endParaRPr lang="de-DE" sz="1200" dirty="0">
              <a:solidFill>
                <a:srgbClr val="000000"/>
              </a:solidFill>
              <a:latin typeface="DB Office"/>
            </a:endParaRPr>
          </a:p>
          <a:p>
            <a:pPr algn="l">
              <a:tabLst>
                <a:tab pos="441325" algn="l"/>
              </a:tabLst>
              <a:defRPr/>
            </a:pPr>
            <a:r>
              <a:rPr lang="de-DE" sz="1200" dirty="0">
                <a:solidFill>
                  <a:srgbClr val="000000"/>
                </a:solidFill>
                <a:latin typeface="DB Office"/>
              </a:rPr>
              <a:t>Mobile: +49 175 182 2287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Fax: +49 201 8781-8228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michael.scherner@dbschenker.com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Endslide BB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
        <p:nvSpPr>
          <p:cNvPr id="23" name="Text Box 16"/>
          <p:cNvSpPr txBox="1">
            <a:spLocks noChangeArrowheads="1"/>
          </p:cNvSpPr>
          <p:nvPr userDrawn="1"/>
        </p:nvSpPr>
        <p:spPr bwMode="auto">
          <a:xfrm>
            <a:off x="3498724" y="4379263"/>
            <a:ext cx="3722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Birgit Bogumil   </a:t>
            </a:r>
            <a:endParaRPr lang="de-DE" sz="1200" dirty="0">
              <a:solidFill>
                <a:srgbClr val="000000"/>
              </a:solidFill>
              <a:latin typeface="DB Office"/>
            </a:endParaRP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Special Projects</a:t>
            </a:r>
            <a:endParaRPr lang="de-DE" sz="1200" b="0" dirty="0">
              <a:solidFill>
                <a:srgbClr val="000000"/>
              </a:solidFill>
              <a:latin typeface="DB Office"/>
            </a:endParaRPr>
          </a:p>
          <a:p>
            <a:pPr algn="l"/>
            <a:r>
              <a:rPr lang="de-DE" sz="1200" b="0" dirty="0">
                <a:solidFill>
                  <a:srgbClr val="000000"/>
                </a:solidFill>
                <a:latin typeface="DB Office"/>
              </a:rPr>
              <a:t>E-Solutions &amp; IT Management </a:t>
            </a:r>
            <a:endParaRPr lang="de-DE" sz="1200" b="0" dirty="0">
              <a:solidFill>
                <a:srgbClr val="000000"/>
              </a:solidFill>
              <a:latin typeface="DB Office"/>
            </a:endParaRPr>
          </a:p>
          <a:p>
            <a:pPr algn="l"/>
            <a:r>
              <a:rPr lang="de-DE" sz="1200" b="0" dirty="0">
                <a:solidFill>
                  <a:srgbClr val="000000"/>
                </a:solidFill>
                <a:latin typeface="DB Office"/>
              </a:rPr>
              <a:t>Corporate Customer &amp; Enterprise Integration </a:t>
            </a:r>
            <a:endParaRPr lang="de-DE" sz="1200" b="0" dirty="0">
              <a:solidFill>
                <a:srgbClr val="000000"/>
              </a:solidFill>
              <a:latin typeface="DB Office"/>
            </a:endParaRP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145535" y="4731688"/>
            <a:ext cx="263187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8781-8568</a:t>
            </a:r>
            <a:endParaRPr lang="de-DE" sz="1200" dirty="0">
              <a:solidFill>
                <a:srgbClr val="000000"/>
              </a:solidFill>
              <a:latin typeface="DB Office"/>
            </a:endParaRPr>
          </a:p>
          <a:p>
            <a:pPr algn="l">
              <a:tabLst>
                <a:tab pos="441325" algn="l"/>
              </a:tabLst>
              <a:defRPr/>
            </a:pPr>
            <a:r>
              <a:rPr lang="de-DE" sz="1200" dirty="0">
                <a:solidFill>
                  <a:srgbClr val="000000"/>
                </a:solidFill>
                <a:latin typeface="DB Office"/>
              </a:rPr>
              <a:t>Mobile: +49 170 922 6014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Fax: +49 201 8781-8228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birgit.bogumil@dbschenker.com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Endslide MM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2"/>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endParaRPr lang="de-DE" dirty="0">
              <a:solidFill>
                <a:srgbClr val="000000"/>
              </a:solidFill>
              <a:latin typeface="DB Office"/>
            </a:endParaRP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endParaRPr lang="de-DE" sz="2800" b="1" dirty="0">
              <a:solidFill>
                <a:srgbClr val="000000"/>
              </a:solidFill>
              <a:latin typeface="DB Office"/>
            </a:endParaRPr>
          </a:p>
        </p:txBody>
      </p:sp>
      <p:sp>
        <p:nvSpPr>
          <p:cNvPr id="23" name="Text Box 16"/>
          <p:cNvSpPr txBox="1">
            <a:spLocks noChangeArrowheads="1"/>
          </p:cNvSpPr>
          <p:nvPr userDrawn="1"/>
        </p:nvSpPr>
        <p:spPr bwMode="auto">
          <a:xfrm>
            <a:off x="3498724" y="4379263"/>
            <a:ext cx="3722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Markus </a:t>
            </a:r>
            <a:r>
              <a:rPr lang="de-DE" sz="1200" dirty="0" err="1">
                <a:solidFill>
                  <a:srgbClr val="000000"/>
                </a:solidFill>
                <a:latin typeface="DB Office"/>
              </a:rPr>
              <a:t>Melms</a:t>
            </a:r>
            <a:r>
              <a:rPr lang="de-DE" sz="1200" dirty="0">
                <a:solidFill>
                  <a:srgbClr val="000000"/>
                </a:solidFill>
                <a:latin typeface="DB Office"/>
              </a:rPr>
              <a:t>    </a:t>
            </a:r>
            <a:endParaRPr lang="de-DE" sz="1200" dirty="0">
              <a:solidFill>
                <a:srgbClr val="000000"/>
              </a:solidFill>
              <a:latin typeface="DB Office"/>
            </a:endParaRPr>
          </a:p>
          <a:p>
            <a:pPr algn="l"/>
            <a:endParaRPr lang="de-DE" sz="1200" b="0" dirty="0">
              <a:solidFill>
                <a:srgbClr val="000000"/>
              </a:solidFill>
              <a:latin typeface="DB Office"/>
            </a:endParaRPr>
          </a:p>
          <a:p>
            <a:pPr algn="l"/>
            <a:r>
              <a:rPr lang="de-DE" sz="1200" b="0" dirty="0">
                <a:solidFill>
                  <a:srgbClr val="000000"/>
                </a:solidFill>
                <a:latin typeface="DB Office"/>
              </a:rPr>
              <a:t>Project Manager </a:t>
            </a:r>
            <a:endParaRPr lang="de-DE" sz="1200" b="0" dirty="0">
              <a:solidFill>
                <a:srgbClr val="000000"/>
              </a:solidFill>
              <a:latin typeface="DB Office"/>
            </a:endParaRPr>
          </a:p>
          <a:p>
            <a:pPr algn="l"/>
            <a:r>
              <a:rPr lang="de-DE" sz="1200" b="0" dirty="0">
                <a:solidFill>
                  <a:srgbClr val="000000"/>
                </a:solidFill>
                <a:latin typeface="DB Office"/>
              </a:rPr>
              <a:t>E-Solutions &amp; IT Management </a:t>
            </a:r>
            <a:endParaRPr lang="de-DE" sz="1200" b="0" dirty="0">
              <a:solidFill>
                <a:srgbClr val="000000"/>
              </a:solidFill>
              <a:latin typeface="DB Office"/>
            </a:endParaRPr>
          </a:p>
          <a:p>
            <a:pPr algn="l"/>
            <a:r>
              <a:rPr lang="de-DE" sz="1200" b="0" dirty="0">
                <a:solidFill>
                  <a:srgbClr val="000000"/>
                </a:solidFill>
                <a:latin typeface="DB Office"/>
              </a:rPr>
              <a:t>Corporate Customer &amp; Enterprise Integration </a:t>
            </a:r>
            <a:endParaRPr lang="de-DE" sz="1200" b="0" dirty="0">
              <a:solidFill>
                <a:srgbClr val="000000"/>
              </a:solidFill>
              <a:latin typeface="DB Office"/>
            </a:endParaRP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6802635" y="4731688"/>
            <a:ext cx="297477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8781-8107</a:t>
            </a:r>
            <a:endParaRPr lang="de-DE" sz="1200" dirty="0">
              <a:solidFill>
                <a:srgbClr val="000000"/>
              </a:solidFill>
              <a:latin typeface="DB Office"/>
            </a:endParaRPr>
          </a:p>
          <a:p>
            <a:pPr algn="l">
              <a:tabLst>
                <a:tab pos="441325" algn="l"/>
              </a:tabLst>
              <a:defRPr/>
            </a:pPr>
            <a:r>
              <a:rPr lang="de-DE" sz="1200" dirty="0">
                <a:solidFill>
                  <a:srgbClr val="000000"/>
                </a:solidFill>
                <a:latin typeface="DB Office"/>
              </a:rPr>
              <a:t>Mobile: +49 151 651 66627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Fax: +49 201 8781-8228</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markus.melms.extern@dbschenker.com </a:t>
            </a:r>
            <a:endParaRPr lang="de-DE" sz="1200" dirty="0">
              <a:solidFill>
                <a:srgbClr val="000000"/>
              </a:solidFill>
              <a:latin typeface="DB Office"/>
            </a:endParaRP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On behalf </a:t>
            </a:r>
            <a:r>
              <a:rPr lang="de-DE" sz="1200" dirty="0" err="1">
                <a:solidFill>
                  <a:srgbClr val="000000"/>
                </a:solidFill>
                <a:latin typeface="DB Office"/>
              </a:rPr>
              <a:t>of</a:t>
            </a:r>
            <a:r>
              <a:rPr lang="de-DE" sz="1200" dirty="0">
                <a:solidFill>
                  <a:srgbClr val="000000"/>
                </a:solidFill>
                <a:latin typeface="DB Office"/>
              </a:rPr>
              <a:t> Schenker AG</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Alfredstr. 150-154</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45131 Essen </a:t>
            </a:r>
            <a:endParaRPr lang="de-DE" sz="1200" dirty="0">
              <a:solidFill>
                <a:srgbClr val="000000"/>
              </a:solidFill>
              <a:latin typeface="DB Office"/>
            </a:endParaRPr>
          </a:p>
          <a:p>
            <a:pPr algn="l">
              <a:tabLst>
                <a:tab pos="441325" algn="l"/>
              </a:tabLst>
            </a:pPr>
            <a:r>
              <a:rPr lang="de-DE" sz="1200" dirty="0">
                <a:solidFill>
                  <a:srgbClr val="000000"/>
                </a:solidFill>
                <a:latin typeface="DB Office"/>
              </a:rPr>
              <a:t>www.dbschenker.com </a:t>
            </a:r>
            <a:endParaRPr lang="de-DE" sz="1200" dirty="0">
              <a:solidFill>
                <a:srgbClr val="000000"/>
              </a:solidFill>
              <a:latin typeface="DB Offic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4" name="Foliennummernplatzhalter 3"/>
          <p:cNvSpPr>
            <a:spLocks noGrp="1"/>
          </p:cNvSpPr>
          <p:nvPr>
            <p:ph type="sldNum" sz="quarter" idx="10"/>
          </p:nvPr>
        </p:nvSpPr>
        <p:spPr/>
        <p:txBody>
          <a:bodyPr/>
          <a:lstStyle>
            <a:lvl1pPr>
              <a:defRPr>
                <a:latin typeface="DB Office" pitchFamily="34" charset="0"/>
              </a:defRPr>
            </a:lvl1pPr>
          </a:lstStyle>
          <a:p>
            <a:fld id="{E5685BC4-D040-4D83-92FE-61768DB7A4BE}" type="slidenum">
              <a:rPr lang="de-DE" smtClean="0">
                <a:solidFill>
                  <a:srgbClr val="000000"/>
                </a:solidFill>
              </a:rPr>
            </a:fld>
            <a:endParaRPr lang="de-DE" dirty="0">
              <a:solidFill>
                <a:srgbClr val="000000"/>
              </a:solidFill>
            </a:endParaRPr>
          </a:p>
        </p:txBody>
      </p:sp>
      <p:sp>
        <p:nvSpPr>
          <p:cNvPr id="6"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5 Points_neutra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79705">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1" name="Rechteck 30"/>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2" name="Textplatzhalter 11"/>
          <p:cNvSpPr>
            <a:spLocks noGrp="1"/>
          </p:cNvSpPr>
          <p:nvPr>
            <p:ph type="body" sz="quarter" idx="22"/>
          </p:nvPr>
        </p:nvSpPr>
        <p:spPr>
          <a:xfrm>
            <a:off x="828000" y="3573000"/>
            <a:ext cx="5932800" cy="576000"/>
          </a:xfrm>
          <a:ln>
            <a:solidFill>
              <a:schemeClr val="bg2"/>
            </a:solidFill>
          </a:ln>
        </p:spPr>
        <p:txBody>
          <a:bodyPr lIns="72000" anchor="ctr"/>
          <a:lstStyle>
            <a:lvl1pPr marL="179705">
              <a:defRPr b="1"/>
            </a:lvl1pPr>
          </a:lstStyle>
          <a:p>
            <a:pPr lvl="0"/>
            <a:endParaRPr lang="de-DE" dirty="0"/>
          </a:p>
        </p:txBody>
      </p:sp>
      <p:sp>
        <p:nvSpPr>
          <p:cNvPr id="33" name="Textplatzhalter 11"/>
          <p:cNvSpPr>
            <a:spLocks noGrp="1"/>
          </p:cNvSpPr>
          <p:nvPr>
            <p:ph type="body" sz="quarter" idx="23"/>
          </p:nvPr>
        </p:nvSpPr>
        <p:spPr>
          <a:xfrm>
            <a:off x="828000" y="5022000"/>
            <a:ext cx="5932800" cy="576000"/>
          </a:xfrm>
          <a:ln>
            <a:solidFill>
              <a:schemeClr val="bg2"/>
            </a:solidFill>
          </a:ln>
        </p:spPr>
        <p:txBody>
          <a:bodyPr lIns="72000" anchor="ctr"/>
          <a:lstStyle>
            <a:lvl1pPr marL="179705">
              <a:defRPr b="1"/>
            </a:lvl1pPr>
          </a:lstStyle>
          <a:p>
            <a:pPr lvl="0"/>
            <a:endParaRPr lang="de-DE" dirty="0"/>
          </a:p>
        </p:txBody>
      </p:sp>
      <p:sp>
        <p:nvSpPr>
          <p:cNvPr id="34" name="Textplatzhalter 11"/>
          <p:cNvSpPr>
            <a:spLocks noGrp="1"/>
          </p:cNvSpPr>
          <p:nvPr>
            <p:ph type="body" sz="quarter" idx="24"/>
          </p:nvPr>
        </p:nvSpPr>
        <p:spPr>
          <a:xfrm>
            <a:off x="828000" y="4297500"/>
            <a:ext cx="5932800" cy="576000"/>
          </a:xfrm>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5 Points_ Topic 1">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2" name="Textplatzhalter 11"/>
          <p:cNvSpPr>
            <a:spLocks noGrp="1"/>
          </p:cNvSpPr>
          <p:nvPr>
            <p:ph type="body" sz="quarter" idx="12"/>
          </p:nvPr>
        </p:nvSpPr>
        <p:spPr>
          <a:xfrm>
            <a:off x="828000" y="5022000"/>
            <a:ext cx="5932800" cy="576000"/>
          </a:xfrm>
          <a:solidFill>
            <a:schemeClr val="bg1"/>
          </a:solidFill>
          <a:ln>
            <a:solidFill>
              <a:schemeClr val="bg2"/>
            </a:solidFill>
          </a:ln>
        </p:spPr>
        <p:txBody>
          <a:bodyPr lIns="72000" anchor="ctr"/>
          <a:lstStyle>
            <a:lvl1pPr marL="179705">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79705">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5" name="Textplatzhalter 11"/>
          <p:cNvSpPr>
            <a:spLocks noGrp="1"/>
          </p:cNvSpPr>
          <p:nvPr>
            <p:ph type="body" sz="quarter" idx="21"/>
          </p:nvPr>
        </p:nvSpPr>
        <p:spPr>
          <a:xfrm>
            <a:off x="828000" y="2124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6" name="Textplatzhalter 11"/>
          <p:cNvSpPr>
            <a:spLocks noGrp="1"/>
          </p:cNvSpPr>
          <p:nvPr>
            <p:ph type="body" sz="quarter" idx="22"/>
          </p:nvPr>
        </p:nvSpPr>
        <p:spPr>
          <a:xfrm>
            <a:off x="828000" y="3573000"/>
            <a:ext cx="5932800" cy="57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3"/>
          </p:nvPr>
        </p:nvSpPr>
        <p:spPr>
          <a:xfrm>
            <a:off x="828000" y="4297500"/>
            <a:ext cx="5932800" cy="576000"/>
          </a:xfrm>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5 Points_Topic 2">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2" name="Textplatzhalter 11"/>
          <p:cNvSpPr>
            <a:spLocks noGrp="1"/>
          </p:cNvSpPr>
          <p:nvPr>
            <p:ph type="body" sz="quarter" idx="12"/>
          </p:nvPr>
        </p:nvSpPr>
        <p:spPr>
          <a:xfrm>
            <a:off x="828000" y="5022000"/>
            <a:ext cx="5932800" cy="576000"/>
          </a:xfrm>
          <a:solidFill>
            <a:schemeClr val="bg1"/>
          </a:solidFill>
          <a:ln>
            <a:solidFill>
              <a:schemeClr val="bg2"/>
            </a:solidFill>
          </a:ln>
        </p:spPr>
        <p:txBody>
          <a:bodyPr lIns="72000" anchor="ctr"/>
          <a:lstStyle>
            <a:lvl1pPr marL="179705">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3000"/>
            <a:ext cx="5932800" cy="576000"/>
          </a:xfrm>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297500"/>
            <a:ext cx="5932800" cy="576000"/>
          </a:xfrm>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485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5 Points_ Topic 3">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2" name="Textplatzhalter 11"/>
          <p:cNvSpPr>
            <a:spLocks noGrp="1"/>
          </p:cNvSpPr>
          <p:nvPr>
            <p:ph type="body" sz="quarter" idx="12"/>
          </p:nvPr>
        </p:nvSpPr>
        <p:spPr>
          <a:xfrm>
            <a:off x="828000" y="5022000"/>
            <a:ext cx="5932800" cy="576000"/>
          </a:xfrm>
          <a:solidFill>
            <a:schemeClr val="bg1"/>
          </a:solidFill>
          <a:ln>
            <a:solidFill>
              <a:schemeClr val="bg2"/>
            </a:solidFill>
          </a:ln>
        </p:spPr>
        <p:txBody>
          <a:bodyPr lIns="72000" anchor="ctr"/>
          <a:lstStyle>
            <a:lvl1pPr marL="179705">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3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297500"/>
            <a:ext cx="5932800" cy="576000"/>
          </a:xfrm>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79705">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5 Points_ Topic 4">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3000"/>
            <a:ext cx="5932800" cy="576000"/>
          </a:xfrm>
          <a:noFill/>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2975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79705">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16" name="Textplatzhalter 11"/>
          <p:cNvSpPr>
            <a:spLocks noGrp="1"/>
          </p:cNvSpPr>
          <p:nvPr>
            <p:ph type="body" sz="quarter" idx="22"/>
          </p:nvPr>
        </p:nvSpPr>
        <p:spPr>
          <a:xfrm>
            <a:off x="828000" y="5022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5 Points_ Topic 5">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2" name="Textplatzhalter 11"/>
          <p:cNvSpPr>
            <a:spLocks noGrp="1"/>
          </p:cNvSpPr>
          <p:nvPr>
            <p:ph type="body" sz="quarter" idx="12"/>
          </p:nvPr>
        </p:nvSpPr>
        <p:spPr>
          <a:xfrm>
            <a:off x="828000" y="5022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3" name="Textplatzhalter 11"/>
          <p:cNvSpPr>
            <a:spLocks noGrp="1"/>
          </p:cNvSpPr>
          <p:nvPr>
            <p:ph type="body" sz="quarter" idx="13"/>
          </p:nvPr>
        </p:nvSpPr>
        <p:spPr>
          <a:xfrm>
            <a:off x="828000" y="4297500"/>
            <a:ext cx="5932800" cy="576000"/>
          </a:xfrm>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79705">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9" name="Textplatzhalter 11"/>
          <p:cNvSpPr>
            <a:spLocks noGrp="1"/>
          </p:cNvSpPr>
          <p:nvPr>
            <p:ph type="body" sz="quarter" idx="19"/>
          </p:nvPr>
        </p:nvSpPr>
        <p:spPr>
          <a:xfrm>
            <a:off x="828000" y="3573000"/>
            <a:ext cx="5932800" cy="576000"/>
          </a:xfrm>
          <a:solidFill>
            <a:schemeClr val="bg1"/>
          </a:solid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4 Points neutra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no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4 Points_ Topic 1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no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4 Points_Topic 2">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no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0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oints_ Topic 3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6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79705">
              <a:defRPr b="1"/>
            </a:lvl1pPr>
          </a:lstStyle>
          <a:p>
            <a:pPr lvl="0"/>
            <a:endParaRPr lang="de-DE" dirty="0"/>
          </a:p>
        </p:txBody>
      </p:sp>
      <p:sp>
        <p:nvSpPr>
          <p:cNvPr id="15" name="Textplatzhalter 11"/>
          <p:cNvSpPr>
            <a:spLocks noGrp="1"/>
          </p:cNvSpPr>
          <p:nvPr>
            <p:ph type="body" sz="quarter" idx="21"/>
          </p:nvPr>
        </p:nvSpPr>
        <p:spPr>
          <a:xfrm>
            <a:off x="828000" y="4302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4 Points_Topic 4">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79705">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3 Points_neutra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19" name="Textplatzhalter 11"/>
          <p:cNvSpPr>
            <a:spLocks noGrp="1"/>
          </p:cNvSpPr>
          <p:nvPr>
            <p:ph type="body" sz="quarter" idx="19"/>
          </p:nvPr>
        </p:nvSpPr>
        <p:spPr>
          <a:xfrm>
            <a:off x="828000" y="3582000"/>
            <a:ext cx="5932800" cy="576000"/>
          </a:xfrm>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3000"/>
            <a:ext cx="5932800" cy="576000"/>
          </a:xfrm>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3 Points_Topic 1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19" name="Textplatzhalter 11"/>
          <p:cNvSpPr>
            <a:spLocks noGrp="1"/>
          </p:cNvSpPr>
          <p:nvPr>
            <p:ph type="body" sz="quarter" idx="19"/>
          </p:nvPr>
        </p:nvSpPr>
        <p:spPr>
          <a:xfrm>
            <a:off x="828000" y="3582000"/>
            <a:ext cx="5932800" cy="576000"/>
          </a:xfrm>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3000"/>
            <a:ext cx="5932800" cy="576000"/>
          </a:xfrm>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3 Points_Topic 2 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19" name="Textplatzhalter 11"/>
          <p:cNvSpPr>
            <a:spLocks noGrp="1"/>
          </p:cNvSpPr>
          <p:nvPr>
            <p:ph type="body" sz="quarter" idx="19"/>
          </p:nvPr>
        </p:nvSpPr>
        <p:spPr>
          <a:xfrm>
            <a:off x="828000" y="3582000"/>
            <a:ext cx="5932800" cy="576000"/>
          </a:xfrm>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3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3 Points_Topic 3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19" name="Textplatzhalter 11"/>
          <p:cNvSpPr>
            <a:spLocks noGrp="1"/>
          </p:cNvSpPr>
          <p:nvPr>
            <p:ph type="body" sz="quarter" idx="19"/>
          </p:nvPr>
        </p:nvSpPr>
        <p:spPr>
          <a:xfrm>
            <a:off x="828000" y="3582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3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2 Points_neutra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23" name="Rechteck 22"/>
          <p:cNvSpPr/>
          <p:nvPr userDrawn="1"/>
        </p:nvSpPr>
        <p:spPr bwMode="auto">
          <a:xfrm>
            <a:off x="828000" y="286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62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2 Points_Topic 1">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23" name="Rechteck 22"/>
          <p:cNvSpPr/>
          <p:nvPr userDrawn="1"/>
        </p:nvSpPr>
        <p:spPr bwMode="auto">
          <a:xfrm>
            <a:off x="828000" y="286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3000"/>
            <a:ext cx="5932800" cy="57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2 Points_Topic 2">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pPr algn="ctr"/>
            <a:endParaRPr lang="en-US" sz="1400" i="0" dirty="0">
              <a:latin typeface="DB Office" pitchFamily="34" charset="0"/>
              <a:cs typeface="Arial" panose="020B0604020202020204" pitchFamily="34"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79705">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23" name="Rechteck 22"/>
          <p:cNvSpPr/>
          <p:nvPr userDrawn="1"/>
        </p:nvSpPr>
        <p:spPr bwMode="auto">
          <a:xfrm>
            <a:off x="828000" y="2862000"/>
            <a:ext cx="5932800" cy="576000"/>
          </a:xfrm>
          <a:prstGeom prst="rect">
            <a:avLst/>
          </a:prstGeom>
          <a:solidFill>
            <a:schemeClr val="bg1"/>
          </a:solidFill>
          <a:ln>
            <a:noFill/>
          </a:ln>
          <a:effectLst/>
        </p:spPr>
        <p:txBody>
          <a:bodyPr vert="horz" wrap="none" lIns="90000" tIns="46800" rIns="90000" bIns="4680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de-DE" sz="2000" b="0" i="0" u="none" strike="noStrike" cap="none" normalizeH="0" baseline="0">
              <a:ln>
                <a:noFill/>
              </a:ln>
              <a:solidFill>
                <a:schemeClr val="tx1"/>
              </a:solidFill>
              <a:effectLst/>
              <a:latin typeface="Arial" panose="020B0604020202020204" pitchFamily="34" charset="0"/>
            </a:endParaRPr>
          </a:p>
        </p:txBody>
      </p:sp>
      <p:sp>
        <p:nvSpPr>
          <p:cNvPr id="20" name="Textplatzhalter 11"/>
          <p:cNvSpPr>
            <a:spLocks noGrp="1"/>
          </p:cNvSpPr>
          <p:nvPr>
            <p:ph type="body" sz="quarter" idx="20"/>
          </p:nvPr>
        </p:nvSpPr>
        <p:spPr>
          <a:xfrm>
            <a:off x="828000" y="2853000"/>
            <a:ext cx="5932800" cy="576000"/>
          </a:xfrm>
          <a:solidFill>
            <a:schemeClr val="accent5"/>
          </a:solid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_Neutral">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5">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noFill/>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noFill/>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noFill/>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7">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8">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9">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lvl1pPr>
              <a:defRPr baseline="0"/>
            </a:lvl1pPr>
          </a:lstStyle>
          <a:p>
            <a:pPr lvl="0"/>
            <a:r>
              <a:rPr lang="de-DE" dirty="0"/>
              <a:t>Headline 1</a:t>
            </a:r>
            <a:br>
              <a:rPr lang="de-DE" dirty="0"/>
            </a:br>
            <a:r>
              <a:rPr lang="de-DE" dirty="0"/>
              <a:t>Headline 2 </a:t>
            </a:r>
            <a:endParaRPr lang="de-DE" dirty="0"/>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ln>
        </p:spPr>
        <p:txBody>
          <a:bodyPr rot="10800000" lIns="72000" tIns="72000" rIns="72000" bIns="72000" anchor="ctr"/>
          <a:lstStyle/>
          <a:p>
            <a:endParaRPr lang="en-US" sz="1400" dirty="0">
              <a:solidFill>
                <a:srgbClr val="000000"/>
              </a:solidFill>
              <a:latin typeface="DB Office" pitchFamily="34" charset="0"/>
              <a:cs typeface="Arial" panose="020B0604020202020204" pitchFamily="34"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79705">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79705">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solidFill>
            <a:schemeClr val="accent5"/>
          </a:solidFill>
          <a:ln>
            <a:solidFill>
              <a:schemeClr val="bg2"/>
            </a:solidFill>
          </a:ln>
        </p:spPr>
        <p:txBody>
          <a:bodyPr lIns="72000" anchor="ctr"/>
          <a:lstStyle>
            <a:lvl1pPr marL="179705">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79705">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79705">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79705">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79705">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79705">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79705">
              <a:defRPr b="1"/>
            </a:lvl1pPr>
          </a:lstStyle>
          <a:p>
            <a:pPr lvl="0"/>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 Topics">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p:txBody>
          <a:bodyPr/>
          <a:lstStyle>
            <a:lvl1pPr>
              <a:defRPr>
                <a:latin typeface="DB Office" pitchFamily="34" charset="0"/>
              </a:defRPr>
            </a:lvl1pPr>
          </a:lstStyle>
          <a:p>
            <a:pPr>
              <a:defRPr/>
            </a:pPr>
            <a:fld id="{32E0B5BB-B465-4A53-BD8E-672FD4A25165}" type="slidenum">
              <a:rPr lang="de-DE" smtClean="0"/>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5" name="Textplatzhalter 12"/>
          <p:cNvSpPr>
            <a:spLocks noGrp="1"/>
          </p:cNvSpPr>
          <p:nvPr>
            <p:ph type="body" sz="quarter" idx="12" hasCustomPrompt="1"/>
          </p:nvPr>
        </p:nvSpPr>
        <p:spPr>
          <a:xfrm>
            <a:off x="2432720" y="1631920"/>
            <a:ext cx="7131600" cy="4827600"/>
          </a:xfrm>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16" name="Textplatzhalter 11"/>
          <p:cNvSpPr>
            <a:spLocks noGrp="1"/>
          </p:cNvSpPr>
          <p:nvPr>
            <p:ph type="body" sz="quarter" idx="13" hasCustomPrompt="1"/>
          </p:nvPr>
        </p:nvSpPr>
        <p:spPr>
          <a:xfrm>
            <a:off x="200472" y="1631920"/>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endParaRPr lang="de-DE" dirty="0"/>
          </a:p>
        </p:txBody>
      </p:sp>
      <p:sp>
        <p:nvSpPr>
          <p:cNvPr id="17" name="Textplatzhalter 11"/>
          <p:cNvSpPr>
            <a:spLocks noGrp="1"/>
          </p:cNvSpPr>
          <p:nvPr>
            <p:ph type="body" sz="quarter" idx="14" hasCustomPrompt="1"/>
          </p:nvPr>
        </p:nvSpPr>
        <p:spPr>
          <a:xfrm>
            <a:off x="200472" y="3358552"/>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endParaRPr lang="de-DE" dirty="0"/>
          </a:p>
        </p:txBody>
      </p:sp>
      <p:sp>
        <p:nvSpPr>
          <p:cNvPr id="18" name="Textplatzhalter 11"/>
          <p:cNvSpPr>
            <a:spLocks noGrp="1"/>
          </p:cNvSpPr>
          <p:nvPr>
            <p:ph type="body" sz="quarter" idx="15" hasCustomPrompt="1"/>
          </p:nvPr>
        </p:nvSpPr>
        <p:spPr>
          <a:xfrm>
            <a:off x="200472" y="5085184"/>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Topics">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p:txBody>
          <a:bodyPr/>
          <a:lstStyle>
            <a:lvl1pPr>
              <a:defRPr>
                <a:latin typeface="DB Office" pitchFamily="34" charset="0"/>
              </a:defRPr>
            </a:lvl1pPr>
          </a:lstStyle>
          <a:p>
            <a:pPr>
              <a:defRPr/>
            </a:pPr>
            <a:fld id="{32E0B5BB-B465-4A53-BD8E-672FD4A25165}" type="slidenum">
              <a:rPr lang="de-DE" smtClean="0"/>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0" name="Textplatzhalter 12"/>
          <p:cNvSpPr>
            <a:spLocks noGrp="1"/>
          </p:cNvSpPr>
          <p:nvPr>
            <p:ph type="body" sz="quarter" idx="12" hasCustomPrompt="1"/>
          </p:nvPr>
        </p:nvSpPr>
        <p:spPr>
          <a:xfrm>
            <a:off x="2432720" y="1631920"/>
            <a:ext cx="7131600" cy="4827600"/>
          </a:xfrm>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14" name="Textplatzhalter 11"/>
          <p:cNvSpPr>
            <a:spLocks noGrp="1"/>
          </p:cNvSpPr>
          <p:nvPr>
            <p:ph type="body" sz="quarter" idx="13" hasCustomPrompt="1"/>
          </p:nvPr>
        </p:nvSpPr>
        <p:spPr>
          <a:xfrm>
            <a:off x="200472" y="1631920"/>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endParaRPr lang="de-DE" dirty="0"/>
          </a:p>
        </p:txBody>
      </p:sp>
      <p:sp>
        <p:nvSpPr>
          <p:cNvPr id="15" name="Textplatzhalter 11"/>
          <p:cNvSpPr>
            <a:spLocks noGrp="1"/>
          </p:cNvSpPr>
          <p:nvPr>
            <p:ph type="body" sz="quarter" idx="14" hasCustomPrompt="1"/>
          </p:nvPr>
        </p:nvSpPr>
        <p:spPr>
          <a:xfrm>
            <a:off x="200472" y="3358552"/>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Topic">
    <p:spTree>
      <p:nvGrpSpPr>
        <p:cNvPr id="1" name=""/>
        <p:cNvGrpSpPr/>
        <p:nvPr/>
      </p:nvGrpSpPr>
      <p:grpSpPr>
        <a:xfrm>
          <a:off x="0" y="0"/>
          <a:ext cx="0" cy="0"/>
          <a:chOff x="0" y="0"/>
          <a:chExt cx="0" cy="0"/>
        </a:xfrm>
      </p:grpSpPr>
      <p:sp>
        <p:nvSpPr>
          <p:cNvPr id="2" name="Rechteck 1"/>
          <p:cNvSpPr/>
          <p:nvPr userDrawn="1"/>
        </p:nvSpPr>
        <p:spPr bwMode="auto">
          <a:xfrm>
            <a:off x="195263" y="1631920"/>
            <a:ext cx="1951200" cy="648000"/>
          </a:xfrm>
          <a:prstGeom prst="rect">
            <a:avLst/>
          </a:prstGeom>
          <a:solidFill>
            <a:schemeClr val="bg2"/>
          </a:solidFill>
          <a:ln w="12700" cap="flat" cmpd="sng" algn="ctr">
            <a:solidFill>
              <a:schemeClr val="bg2"/>
            </a:solidFill>
            <a:prstDash val="solid"/>
            <a:round/>
            <a:headEnd type="none" w="med" len="med"/>
            <a:tailEnd type="none" w="med" len="med"/>
          </a:ln>
          <a:effectLst/>
        </p:spPr>
        <p:txBody>
          <a:bodyPr vert="horz" wrap="non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de-DE" sz="1600" b="0" i="0" u="none" strike="noStrike" cap="none" normalizeH="0" baseline="0">
              <a:ln>
                <a:noFill/>
              </a:ln>
              <a:solidFill>
                <a:schemeClr val="tx1"/>
              </a:solidFill>
              <a:effectLst/>
              <a:latin typeface="DB Office" pitchFamily="34" charset="0"/>
            </a:endParaRPr>
          </a:p>
        </p:txBody>
      </p:sp>
      <p:sp>
        <p:nvSpPr>
          <p:cNvPr id="4" name="Rectangle 17"/>
          <p:cNvSpPr>
            <a:spLocks noGrp="1" noChangeArrowheads="1"/>
          </p:cNvSpPr>
          <p:nvPr>
            <p:ph type="sldNum" sz="quarter" idx="10"/>
          </p:nvPr>
        </p:nvSpPr>
        <p:spPr/>
        <p:txBody>
          <a:bodyPr/>
          <a:lstStyle>
            <a:lvl1pPr>
              <a:defRPr>
                <a:latin typeface="DB Office" pitchFamily="34" charset="0"/>
              </a:defRPr>
            </a:lvl1pPr>
          </a:lstStyle>
          <a:p>
            <a:pPr>
              <a:defRPr/>
            </a:pPr>
            <a:fld id="{32E0B5BB-B465-4A53-BD8E-672FD4A25165}" type="slidenum">
              <a:rPr lang="de-DE" smtClean="0"/>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0" name="Textplatzhalter 12"/>
          <p:cNvSpPr>
            <a:spLocks noGrp="1"/>
          </p:cNvSpPr>
          <p:nvPr>
            <p:ph type="body" sz="quarter" idx="12" hasCustomPrompt="1"/>
          </p:nvPr>
        </p:nvSpPr>
        <p:spPr>
          <a:xfrm>
            <a:off x="2432720" y="1631920"/>
            <a:ext cx="7131600" cy="4827600"/>
          </a:xfrm>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12" name="Textplatzhalter 9"/>
          <p:cNvSpPr>
            <a:spLocks noGrp="1"/>
          </p:cNvSpPr>
          <p:nvPr>
            <p:ph type="body" sz="quarter" idx="11" hasCustomPrompt="1"/>
          </p:nvPr>
        </p:nvSpPr>
        <p:spPr>
          <a:xfrm>
            <a:off x="195263" y="1631920"/>
            <a:ext cx="1951200" cy="648000"/>
          </a:xfrm>
        </p:spPr>
        <p:txBody>
          <a:bodyPr anchor="ctr"/>
          <a:lstStyle>
            <a:lvl1pPr algn="ctr">
              <a:defRPr b="1">
                <a:solidFill>
                  <a:schemeClr val="bg1"/>
                </a:solidFill>
              </a:defRPr>
            </a:lvl1pPr>
          </a:lstStyle>
          <a:p>
            <a:pPr lvl="0"/>
            <a:r>
              <a:rPr lang="de-DE" dirty="0"/>
              <a:t>Topic 1</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 Topic 2 Boxes">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p:txBody>
          <a:bodyPr/>
          <a:lstStyle>
            <a:lvl1pPr>
              <a:defRPr>
                <a:latin typeface="DB Office" pitchFamily="34" charset="0"/>
              </a:defRPr>
            </a:lvl1pPr>
          </a:lstStyle>
          <a:p>
            <a:pPr>
              <a:defRPr/>
            </a:pPr>
            <a:fld id="{32E0B5BB-B465-4A53-BD8E-672FD4A25165}" type="slidenum">
              <a:rPr lang="de-DE" smtClean="0"/>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0" name="Textplatzhalter 12"/>
          <p:cNvSpPr>
            <a:spLocks noGrp="1"/>
          </p:cNvSpPr>
          <p:nvPr>
            <p:ph type="body" sz="quarter" idx="12" hasCustomPrompt="1"/>
          </p:nvPr>
        </p:nvSpPr>
        <p:spPr>
          <a:xfrm>
            <a:off x="2432720" y="1631920"/>
            <a:ext cx="7131600" cy="4827600"/>
          </a:xfrm>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9" name="Rechteck 8"/>
          <p:cNvSpPr/>
          <p:nvPr userDrawn="1"/>
        </p:nvSpPr>
        <p:spPr bwMode="auto">
          <a:xfrm>
            <a:off x="195263" y="1631920"/>
            <a:ext cx="1951200" cy="648000"/>
          </a:xfrm>
          <a:prstGeom prst="rect">
            <a:avLst/>
          </a:prstGeom>
          <a:solidFill>
            <a:schemeClr val="bg2"/>
          </a:solidFill>
          <a:ln w="12700" cap="flat" cmpd="sng" algn="ctr">
            <a:solidFill>
              <a:schemeClr val="bg2"/>
            </a:solidFill>
            <a:prstDash val="solid"/>
            <a:round/>
            <a:headEnd type="none" w="med" len="med"/>
            <a:tailEnd type="none" w="med" len="med"/>
          </a:ln>
          <a:effectLst/>
        </p:spPr>
        <p:txBody>
          <a:bodyPr vert="horz" wrap="non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de-DE" sz="1600" b="0" i="0" u="none" strike="noStrike" cap="none" normalizeH="0" baseline="0">
              <a:ln>
                <a:noFill/>
              </a:ln>
              <a:solidFill>
                <a:schemeClr val="tx1"/>
              </a:solidFill>
              <a:effectLst/>
              <a:latin typeface="DB Office"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 Topic 1 Box">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p:txBody>
          <a:bodyPr/>
          <a:lstStyle>
            <a:lvl1pPr>
              <a:defRPr>
                <a:latin typeface="DB Office" pitchFamily="34" charset="0"/>
              </a:defRPr>
            </a:lvl1pPr>
          </a:lstStyle>
          <a:p>
            <a:pPr>
              <a:defRPr/>
            </a:pPr>
            <a:fld id="{32E0B5BB-B465-4A53-BD8E-672FD4A25165}" type="slidenum">
              <a:rPr lang="de-DE" smtClean="0"/>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10" name="Textplatzhalter 12"/>
          <p:cNvSpPr>
            <a:spLocks noGrp="1"/>
          </p:cNvSpPr>
          <p:nvPr>
            <p:ph type="body" sz="quarter" idx="12" hasCustomPrompt="1"/>
          </p:nvPr>
        </p:nvSpPr>
        <p:spPr>
          <a:xfrm>
            <a:off x="2432720" y="1631920"/>
            <a:ext cx="7131600" cy="4827600"/>
          </a:xfrm>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9" name="Rechteck 8"/>
          <p:cNvSpPr/>
          <p:nvPr userDrawn="1"/>
        </p:nvSpPr>
        <p:spPr bwMode="auto">
          <a:xfrm>
            <a:off x="195263" y="1631920"/>
            <a:ext cx="1951200" cy="648000"/>
          </a:xfrm>
          <a:prstGeom prst="rect">
            <a:avLst/>
          </a:prstGeom>
          <a:solidFill>
            <a:schemeClr val="bg2"/>
          </a:solidFill>
          <a:ln w="12700" cap="flat" cmpd="sng" algn="ctr">
            <a:solidFill>
              <a:schemeClr val="bg2"/>
            </a:solidFill>
            <a:prstDash val="solid"/>
            <a:round/>
            <a:headEnd type="none" w="med" len="med"/>
            <a:tailEnd type="none" w="med" len="med"/>
          </a:ln>
          <a:effectLst/>
        </p:spPr>
        <p:txBody>
          <a:bodyPr vert="horz" wrap="non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de-DE" sz="1600" b="0" i="0" u="none" strike="noStrike" cap="none" normalizeH="0" baseline="0">
              <a:ln>
                <a:noFill/>
              </a:ln>
              <a:solidFill>
                <a:schemeClr val="tx1"/>
              </a:solidFill>
              <a:effectLst/>
              <a:latin typeface="DB Office"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isting">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p:txBody>
          <a:bodyPr/>
          <a:lstStyle>
            <a:lvl1pPr>
              <a:defRPr>
                <a:latin typeface="DB Office" pitchFamily="34" charset="0"/>
              </a:defRPr>
            </a:lvl1pPr>
          </a:lstStyle>
          <a:p>
            <a:pPr>
              <a:defRPr/>
            </a:pPr>
            <a:fld id="{32E0B5BB-B465-4A53-BD8E-672FD4A25165}" type="slidenum">
              <a:rPr lang="de-DE" smtClean="0"/>
            </a:fld>
            <a:endParaRPr lang="de-DE"/>
          </a:p>
        </p:txBody>
      </p:sp>
      <p:sp>
        <p:nvSpPr>
          <p:cNvPr id="8"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sp>
        <p:nvSpPr>
          <p:cNvPr id="5" name="Inhaltsplatzhalter 2"/>
          <p:cNvSpPr>
            <a:spLocks noGrp="1"/>
          </p:cNvSpPr>
          <p:nvPr>
            <p:ph idx="1" hasCustomPrompt="1"/>
          </p:nvPr>
        </p:nvSpPr>
        <p:spPr>
          <a:xfrm>
            <a:off x="200025" y="1557338"/>
            <a:ext cx="9505950" cy="4897437"/>
          </a:xfrm>
        </p:spPr>
        <p:txBody>
          <a:body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7" Type="http://schemas.openxmlformats.org/officeDocument/2006/relationships/theme" Target="../theme/theme1.xml"/><Relationship Id="rId46" Type="http://schemas.openxmlformats.org/officeDocument/2006/relationships/image" Target="../media/image8.png"/><Relationship Id="rId45" Type="http://schemas.openxmlformats.org/officeDocument/2006/relationships/image" Target="../media/image1.png"/><Relationship Id="rId44" Type="http://schemas.openxmlformats.org/officeDocument/2006/relationships/tags" Target="../tags/tag9.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body" idx="1"/>
          </p:nvPr>
        </p:nvSpPr>
        <p:spPr bwMode="auto">
          <a:xfrm>
            <a:off x="200025" y="1557338"/>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p>
            <a:pPr lvl="0"/>
            <a:r>
              <a:rPr lang="de-DE" dirty="0"/>
              <a:t>Klicken Sie, um die Formate des Vorlagentextes zu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3089" name="Rectangle 17"/>
          <p:cNvSpPr>
            <a:spLocks noGrp="1" noChangeArrowheads="1"/>
          </p:cNvSpPr>
          <p:nvPr>
            <p:ph type="sldNum" sz="quarter" idx="4"/>
          </p:nvPr>
        </p:nvSpPr>
        <p:spPr bwMode="auto">
          <a:xfrm>
            <a:off x="4000500" y="6692900"/>
            <a:ext cx="1905000" cy="9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lstStyle>
            <a:lvl1pPr>
              <a:defRPr sz="900"/>
            </a:lvl1pPr>
          </a:lstStyle>
          <a:p>
            <a:fld id="{775CC551-11A1-4996-9818-EF2E6E972248}" type="slidenum">
              <a:rPr lang="de-DE">
                <a:solidFill>
                  <a:srgbClr val="000000"/>
                </a:solidFill>
                <a:latin typeface="DB Office" pitchFamily="34" charset="0"/>
              </a:rPr>
            </a:fld>
            <a:endParaRPr lang="de-DE" dirty="0">
              <a:solidFill>
                <a:srgbClr val="000000"/>
              </a:solidFill>
              <a:latin typeface="DB Office" pitchFamily="34" charset="0"/>
            </a:endParaRPr>
          </a:p>
        </p:txBody>
      </p:sp>
      <p:grpSp>
        <p:nvGrpSpPr>
          <p:cNvPr id="3126" name="Group 54"/>
          <p:cNvGrpSpPr/>
          <p:nvPr/>
        </p:nvGrpSpPr>
        <p:grpSpPr bwMode="auto">
          <a:xfrm>
            <a:off x="0" y="1123950"/>
            <a:ext cx="9906000" cy="287338"/>
            <a:chOff x="0" y="708"/>
            <a:chExt cx="6240" cy="181"/>
          </a:xfrm>
        </p:grpSpPr>
        <p:sp>
          <p:nvSpPr>
            <p:cNvPr id="3127" name="Rectangle 55"/>
            <p:cNvSpPr>
              <a:spLocks noChangeArrowheads="1"/>
            </p:cNvSpPr>
            <p:nvPr/>
          </p:nvSpPr>
          <p:spPr bwMode="auto">
            <a:xfrm>
              <a:off x="0" y="708"/>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dirty="0">
                <a:solidFill>
                  <a:srgbClr val="000000"/>
                </a:solidFill>
                <a:latin typeface="DB Office" pitchFamily="34" charset="0"/>
              </a:endParaRPr>
            </a:p>
          </p:txBody>
        </p:sp>
        <p:sp>
          <p:nvSpPr>
            <p:cNvPr id="3128" name="Rectangle 56"/>
            <p:cNvSpPr>
              <a:spLocks noChangeArrowheads="1"/>
            </p:cNvSpPr>
            <p:nvPr/>
          </p:nvSpPr>
          <p:spPr bwMode="auto">
            <a:xfrm>
              <a:off x="0" y="708"/>
              <a:ext cx="2122" cy="18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dirty="0">
                <a:solidFill>
                  <a:srgbClr val="000000"/>
                </a:solidFill>
                <a:latin typeface="DB Office" pitchFamily="34" charset="0"/>
              </a:endParaRPr>
            </a:p>
          </p:txBody>
        </p:sp>
      </p:grpSp>
      <p:pic>
        <p:nvPicPr>
          <p:cNvPr id="3135" name="Picture 63" descr="DB-SCHENKER_rgb_M"/>
          <p:cNvPicPr>
            <a:picLocks noChangeAspect="1" noChangeArrowheads="1"/>
          </p:cNvPicPr>
          <p:nvPr userDrawn="1">
            <p:custDataLst>
              <p:tags r:id="rId44"/>
            </p:custDataLst>
          </p:nvPr>
        </p:nvPicPr>
        <p:blipFill>
          <a:blip r:embed="rId45"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25"/>
          <p:cNvSpPr txBox="1">
            <a:spLocks noChangeArrowheads="1"/>
          </p:cNvSpPr>
          <p:nvPr userDrawn="1"/>
        </p:nvSpPr>
        <p:spPr bwMode="auto">
          <a:xfrm>
            <a:off x="128588" y="6610618"/>
            <a:ext cx="3536546" cy="230832"/>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200" b="1" i="1">
                <a:solidFill>
                  <a:schemeClr val="tx1"/>
                </a:solidFill>
                <a:latin typeface="Arial" panose="020B0604020202020204" pitchFamily="34" charset="0"/>
              </a:defRPr>
            </a:lvl1pPr>
            <a:lvl2pPr marL="742950" indent="-285750">
              <a:defRPr sz="1200" b="1" i="1">
                <a:solidFill>
                  <a:schemeClr val="tx1"/>
                </a:solidFill>
                <a:latin typeface="Arial" panose="020B0604020202020204" pitchFamily="34" charset="0"/>
              </a:defRPr>
            </a:lvl2pPr>
            <a:lvl3pPr marL="1143000" indent="-228600">
              <a:defRPr sz="1200" b="1" i="1">
                <a:solidFill>
                  <a:schemeClr val="tx1"/>
                </a:solidFill>
                <a:latin typeface="Arial" panose="020B0604020202020204" pitchFamily="34" charset="0"/>
              </a:defRPr>
            </a:lvl3pPr>
            <a:lvl4pPr marL="1600200" indent="-228600">
              <a:defRPr sz="1200" b="1" i="1">
                <a:solidFill>
                  <a:schemeClr val="tx1"/>
                </a:solidFill>
                <a:latin typeface="Arial" panose="020B0604020202020204" pitchFamily="34" charset="0"/>
              </a:defRPr>
            </a:lvl4pPr>
            <a:lvl5pPr marL="2057400" indent="-228600">
              <a:defRPr sz="1200" b="1" i="1">
                <a:solidFill>
                  <a:schemeClr val="tx1"/>
                </a:solidFill>
                <a:latin typeface="Arial" panose="020B0604020202020204" pitchFamily="34" charset="0"/>
              </a:defRPr>
            </a:lvl5pPr>
            <a:lvl6pPr marL="2514600" indent="-228600" eaLnBrk="0" fontAlgn="base" hangingPunct="0">
              <a:spcBef>
                <a:spcPct val="0"/>
              </a:spcBef>
              <a:spcAft>
                <a:spcPct val="0"/>
              </a:spcAft>
              <a:defRPr sz="1200" b="1" i="1">
                <a:solidFill>
                  <a:schemeClr val="tx1"/>
                </a:solidFill>
                <a:latin typeface="Arial" panose="020B0604020202020204" pitchFamily="34" charset="0"/>
              </a:defRPr>
            </a:lvl6pPr>
            <a:lvl7pPr marL="2971800" indent="-228600" eaLnBrk="0" fontAlgn="base" hangingPunct="0">
              <a:spcBef>
                <a:spcPct val="0"/>
              </a:spcBef>
              <a:spcAft>
                <a:spcPct val="0"/>
              </a:spcAft>
              <a:defRPr sz="1200" b="1" i="1">
                <a:solidFill>
                  <a:schemeClr val="tx1"/>
                </a:solidFill>
                <a:latin typeface="Arial" panose="020B0604020202020204" pitchFamily="34" charset="0"/>
              </a:defRPr>
            </a:lvl7pPr>
            <a:lvl8pPr marL="3429000" indent="-228600" eaLnBrk="0" fontAlgn="base" hangingPunct="0">
              <a:spcBef>
                <a:spcPct val="0"/>
              </a:spcBef>
              <a:spcAft>
                <a:spcPct val="0"/>
              </a:spcAft>
              <a:defRPr sz="1200" b="1" i="1">
                <a:solidFill>
                  <a:schemeClr val="tx1"/>
                </a:solidFill>
                <a:latin typeface="Arial" panose="020B0604020202020204" pitchFamily="34" charset="0"/>
              </a:defRPr>
            </a:lvl8pPr>
            <a:lvl9pPr marL="3886200" indent="-228600" eaLnBrk="0" fontAlgn="base" hangingPunct="0">
              <a:spcBef>
                <a:spcPct val="0"/>
              </a:spcBef>
              <a:spcAft>
                <a:spcPct val="0"/>
              </a:spcAft>
              <a:defRPr sz="1200" b="1" i="1">
                <a:solidFill>
                  <a:schemeClr val="tx1"/>
                </a:solidFill>
                <a:latin typeface="Arial" panose="020B0604020202020204" pitchFamily="34" charset="0"/>
              </a:defRPr>
            </a:lvl9pPr>
          </a:lstStyle>
          <a:p>
            <a:pPr algn="l">
              <a:defRPr/>
            </a:pPr>
            <a:r>
              <a:rPr lang="de-DE" sz="900" b="0" i="0" dirty="0">
                <a:solidFill>
                  <a:srgbClr val="000000"/>
                </a:solidFill>
                <a:latin typeface="+mn-lt"/>
              </a:rPr>
              <a:t>Schenker AG l Richard</a:t>
            </a:r>
            <a:r>
              <a:rPr lang="de-DE" sz="900" b="0" i="0" baseline="0" dirty="0">
                <a:solidFill>
                  <a:srgbClr val="000000"/>
                </a:solidFill>
                <a:latin typeface="+mn-lt"/>
              </a:rPr>
              <a:t> Schulz </a:t>
            </a:r>
            <a:r>
              <a:rPr lang="de-DE" sz="900" b="0" i="0" dirty="0">
                <a:solidFill>
                  <a:srgbClr val="000000"/>
                </a:solidFill>
                <a:latin typeface="+mn-lt"/>
              </a:rPr>
              <a:t>l 01 - 2015| Basic XML-Knowledge</a:t>
            </a:r>
            <a:endParaRPr lang="de-DE" sz="900" b="0" i="0" dirty="0">
              <a:solidFill>
                <a:srgbClr val="000000"/>
              </a:solidFill>
              <a:latin typeface="+mn-lt"/>
            </a:endParaRPr>
          </a:p>
        </p:txBody>
      </p:sp>
      <p:sp>
        <p:nvSpPr>
          <p:cNvPr id="11" name="Textfeld 10"/>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endParaRPr lang="de-DE" sz="1600" b="1" dirty="0">
              <a:solidFill>
                <a:srgbClr val="878C96"/>
              </a:solidFill>
              <a:latin typeface="DB Office"/>
            </a:endParaRPr>
          </a:p>
        </p:txBody>
      </p:sp>
      <p:sp>
        <p:nvSpPr>
          <p:cNvPr id="20"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lstStyle/>
          <a:p>
            <a:pPr lvl="0"/>
            <a:r>
              <a:rPr lang="de-DE" dirty="0"/>
              <a:t>Klicken Sie, um das Titelformat zu bearbeiten</a:t>
            </a:r>
            <a:endParaRPr lang="de-DE" dirty="0"/>
          </a:p>
        </p:txBody>
      </p:sp>
      <p:pic>
        <p:nvPicPr>
          <p:cNvPr id="12" name="Grafik 11"/>
          <p:cNvPicPr preferRelativeResize="0">
            <a:picLocks noChangeAspect="1"/>
          </p:cNvPicPr>
          <p:nvPr userDrawn="1"/>
        </p:nvPicPr>
        <p:blipFill>
          <a:blip r:embed="rId46">
            <a:extLst>
              <a:ext uri="{28A0092B-C50C-407E-A947-70E740481C1C}">
                <a14:useLocalDpi xmlns:a14="http://schemas.microsoft.com/office/drawing/2010/main" val="0"/>
              </a:ext>
            </a:extLst>
          </a:blip>
          <a:stretch>
            <a:fillRect/>
          </a:stretch>
        </p:blipFill>
        <p:spPr>
          <a:xfrm>
            <a:off x="8567117" y="647701"/>
            <a:ext cx="1130455" cy="40729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Lst>
  <mc:AlternateContent xmlns:mc="http://schemas.openxmlformats.org/markup-compatibility/2006">
    <mc:Choice xmlns:p14="http://schemas.microsoft.com/office/powerpoint/2010/main" Requires="p14">
      <p:transition p14:dur="10"/>
    </mc:Choice>
    <mc:Fallback>
      <p:transition/>
    </mc:Fallback>
  </mc:AlternateContent>
  <p:hf hdr="0" dt="0"/>
  <p:txStyles>
    <p:titleStyle>
      <a:lvl1pPr algn="l" rtl="0" eaLnBrk="0" fontAlgn="base" hangingPunct="0">
        <a:spcBef>
          <a:spcPct val="0"/>
        </a:spcBef>
        <a:spcAft>
          <a:spcPct val="0"/>
        </a:spcAft>
        <a:defRPr sz="2000" b="1" baseline="0">
          <a:solidFill>
            <a:schemeClr val="tx2"/>
          </a:solidFill>
          <a:latin typeface="+mj-lt"/>
          <a:ea typeface="+mj-ea"/>
          <a:cs typeface="+mj-cs"/>
        </a:defRPr>
      </a:lvl1pPr>
      <a:lvl2pPr algn="l" rtl="0" eaLnBrk="0" fontAlgn="base" hangingPunct="0">
        <a:spcBef>
          <a:spcPct val="0"/>
        </a:spcBef>
        <a:spcAft>
          <a:spcPct val="0"/>
        </a:spcAft>
        <a:defRPr sz="2000" b="1">
          <a:solidFill>
            <a:schemeClr val="tx2"/>
          </a:solidFill>
          <a:latin typeface="DB Office" pitchFamily="34" charset="0"/>
        </a:defRPr>
      </a:lvl2pPr>
      <a:lvl3pPr algn="l" rtl="0" eaLnBrk="0" fontAlgn="base" hangingPunct="0">
        <a:spcBef>
          <a:spcPct val="0"/>
        </a:spcBef>
        <a:spcAft>
          <a:spcPct val="0"/>
        </a:spcAft>
        <a:defRPr sz="2000" b="1">
          <a:solidFill>
            <a:schemeClr val="tx2"/>
          </a:solidFill>
          <a:latin typeface="DB Office" pitchFamily="34" charset="0"/>
        </a:defRPr>
      </a:lvl3pPr>
      <a:lvl4pPr algn="l" rtl="0" eaLnBrk="0" fontAlgn="base" hangingPunct="0">
        <a:spcBef>
          <a:spcPct val="0"/>
        </a:spcBef>
        <a:spcAft>
          <a:spcPct val="0"/>
        </a:spcAft>
        <a:defRPr sz="2000" b="1">
          <a:solidFill>
            <a:schemeClr val="tx2"/>
          </a:solidFill>
          <a:latin typeface="DB Office" pitchFamily="34" charset="0"/>
        </a:defRPr>
      </a:lvl4pPr>
      <a:lvl5pPr algn="l" rtl="0" eaLnBrk="0" fontAlgn="base" hangingPunct="0">
        <a:spcBef>
          <a:spcPct val="0"/>
        </a:spcBef>
        <a:spcAft>
          <a:spcPct val="0"/>
        </a:spcAft>
        <a:defRPr sz="2000" b="1">
          <a:solidFill>
            <a:schemeClr val="tx2"/>
          </a:solidFill>
          <a:latin typeface="DB Office" pitchFamily="34" charset="0"/>
        </a:defRPr>
      </a:lvl5pPr>
      <a:lvl6pPr marL="457200" algn="l" rtl="0" eaLnBrk="0" fontAlgn="base" hangingPunct="0">
        <a:spcBef>
          <a:spcPct val="0"/>
        </a:spcBef>
        <a:spcAft>
          <a:spcPct val="0"/>
        </a:spcAft>
        <a:defRPr sz="2000" b="1">
          <a:solidFill>
            <a:schemeClr val="tx2"/>
          </a:solidFill>
          <a:latin typeface="DB Office" pitchFamily="34" charset="0"/>
        </a:defRPr>
      </a:lvl6pPr>
      <a:lvl7pPr marL="914400" algn="l" rtl="0" eaLnBrk="0" fontAlgn="base" hangingPunct="0">
        <a:spcBef>
          <a:spcPct val="0"/>
        </a:spcBef>
        <a:spcAft>
          <a:spcPct val="0"/>
        </a:spcAft>
        <a:defRPr sz="2000" b="1">
          <a:solidFill>
            <a:schemeClr val="tx2"/>
          </a:solidFill>
          <a:latin typeface="DB Office" pitchFamily="34" charset="0"/>
        </a:defRPr>
      </a:lvl7pPr>
      <a:lvl8pPr marL="1371600" algn="l" rtl="0" eaLnBrk="0" fontAlgn="base" hangingPunct="0">
        <a:spcBef>
          <a:spcPct val="0"/>
        </a:spcBef>
        <a:spcAft>
          <a:spcPct val="0"/>
        </a:spcAft>
        <a:defRPr sz="2000" b="1">
          <a:solidFill>
            <a:schemeClr val="tx2"/>
          </a:solidFill>
          <a:latin typeface="DB Office" pitchFamily="34" charset="0"/>
        </a:defRPr>
      </a:lvl8pPr>
      <a:lvl9pPr marL="1828800" algn="l" rtl="0" eaLnBrk="0" fontAlgn="base" hangingPunct="0">
        <a:spcBef>
          <a:spcPct val="0"/>
        </a:spcBef>
        <a:spcAft>
          <a:spcPct val="0"/>
        </a:spcAft>
        <a:defRPr sz="2000" b="1">
          <a:solidFill>
            <a:schemeClr val="tx2"/>
          </a:solidFill>
          <a:latin typeface="DB Office" pitchFamily="34" charset="0"/>
        </a:defRPr>
      </a:lvl9pPr>
    </p:titleStyle>
    <p:body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0"/>
          </p:nvPr>
        </p:nvSpPr>
        <p:spPr>
          <a:xfrm>
            <a:off x="210450" y="4081463"/>
            <a:ext cx="9648000" cy="576000"/>
          </a:xfrm>
        </p:spPr>
        <p:txBody>
          <a:bodyPr/>
          <a:lstStyle/>
          <a:p>
            <a:r>
              <a:rPr lang="en-US" dirty="0"/>
              <a:t>XSLT-Basic knowledge</a:t>
            </a:r>
            <a:endParaRPr lang="en-US" noProof="0" dirty="0">
              <a:latin typeface="+mj-lt"/>
            </a:endParaRPr>
          </a:p>
        </p:txBody>
      </p:sp>
      <p:sp>
        <p:nvSpPr>
          <p:cNvPr id="3" name="FirmaBox"/>
          <p:cNvSpPr txBox="1">
            <a:spLocks noChangeArrowheads="1"/>
          </p:cNvSpPr>
          <p:nvPr>
            <p:custDataLst>
              <p:tags r:id="rId1"/>
            </p:custDataLst>
          </p:nvPr>
        </p:nvSpPr>
        <p:spPr bwMode="auto">
          <a:xfrm>
            <a:off x="6537325" y="5589588"/>
            <a:ext cx="3368675"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DB Office" pitchFamily="34" charset="0"/>
              </a:rPr>
              <a:t>Name </a:t>
            </a:r>
            <a:r>
              <a:rPr lang="en-US" sz="1200" dirty="0">
                <a:solidFill>
                  <a:srgbClr val="000000"/>
                </a:solidFill>
                <a:latin typeface="+mn-lt"/>
              </a:rPr>
              <a:t>Referent</a:t>
            </a:r>
            <a:r>
              <a:rPr lang="en-US" sz="1200" dirty="0">
                <a:solidFill>
                  <a:srgbClr val="000000"/>
                </a:solidFill>
                <a:latin typeface="DB Office" pitchFamily="34" charset="0"/>
              </a:rPr>
              <a:t> </a:t>
            </a:r>
            <a:endParaRPr lang="en-US" sz="1200" dirty="0">
              <a:solidFill>
                <a:srgbClr val="000000"/>
              </a:solidFill>
              <a:latin typeface="DB Office" pitchFamily="34" charset="0"/>
            </a:endParaRPr>
          </a:p>
        </p:txBody>
      </p:sp>
      <p:sp>
        <p:nvSpPr>
          <p:cNvPr id="4" name="Referentbox"/>
          <p:cNvSpPr txBox="1">
            <a:spLocks noChangeArrowheads="1"/>
          </p:cNvSpPr>
          <p:nvPr>
            <p:custDataLst>
              <p:tags r:id="rId2"/>
            </p:custDataLst>
          </p:nvPr>
        </p:nvSpPr>
        <p:spPr bwMode="auto">
          <a:xfrm>
            <a:off x="6537325" y="5876925"/>
            <a:ext cx="3367088"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DB Office" pitchFamily="34" charset="0"/>
              </a:rPr>
              <a:t>Title/ </a:t>
            </a:r>
            <a:r>
              <a:rPr lang="en-US" sz="1200" dirty="0">
                <a:solidFill>
                  <a:srgbClr val="000000"/>
                </a:solidFill>
                <a:latin typeface="+mn-lt"/>
              </a:rPr>
              <a:t>Function</a:t>
            </a:r>
            <a:r>
              <a:rPr lang="en-US" sz="1200" dirty="0">
                <a:solidFill>
                  <a:srgbClr val="000000"/>
                </a:solidFill>
                <a:latin typeface="DB Office" pitchFamily="34" charset="0"/>
              </a:rPr>
              <a:t> </a:t>
            </a:r>
            <a:endParaRPr lang="en-US" sz="1200" dirty="0">
              <a:solidFill>
                <a:srgbClr val="000000"/>
              </a:solidFill>
              <a:latin typeface="DB Office" pitchFamily="34" charset="0"/>
            </a:endParaRPr>
          </a:p>
        </p:txBody>
      </p:sp>
      <p:sp>
        <p:nvSpPr>
          <p:cNvPr id="5" name="Line 5"/>
          <p:cNvSpPr>
            <a:spLocks noChangeShapeType="1"/>
          </p:cNvSpPr>
          <p:nvPr>
            <p:custDataLst>
              <p:tags r:id="rId3"/>
            </p:custDataLst>
          </p:nvPr>
        </p:nvSpPr>
        <p:spPr bwMode="auto">
          <a:xfrm>
            <a:off x="6537325" y="5561013"/>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6" name="Line 6"/>
          <p:cNvSpPr>
            <a:spLocks noChangeShapeType="1"/>
          </p:cNvSpPr>
          <p:nvPr>
            <p:custDataLst>
              <p:tags r:id="rId4"/>
            </p:custDataLst>
          </p:nvPr>
        </p:nvSpPr>
        <p:spPr bwMode="auto">
          <a:xfrm>
            <a:off x="6537325" y="5849938"/>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7" name="Line 7"/>
          <p:cNvSpPr>
            <a:spLocks noChangeShapeType="1"/>
          </p:cNvSpPr>
          <p:nvPr>
            <p:custDataLst>
              <p:tags r:id="rId5"/>
            </p:custDataLst>
          </p:nvPr>
        </p:nvSpPr>
        <p:spPr bwMode="auto">
          <a:xfrm>
            <a:off x="6537325" y="6137275"/>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8" name="Line 8"/>
          <p:cNvSpPr>
            <a:spLocks noChangeShapeType="1"/>
          </p:cNvSpPr>
          <p:nvPr>
            <p:custDataLst>
              <p:tags r:id="rId6"/>
            </p:custDataLst>
          </p:nvPr>
        </p:nvSpPr>
        <p:spPr bwMode="auto">
          <a:xfrm>
            <a:off x="6537325" y="6426200"/>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9" name="Referentbox"/>
          <p:cNvSpPr txBox="1">
            <a:spLocks noChangeArrowheads="1"/>
          </p:cNvSpPr>
          <p:nvPr>
            <p:custDataLst>
              <p:tags r:id="rId7"/>
            </p:custDataLst>
          </p:nvPr>
        </p:nvSpPr>
        <p:spPr bwMode="auto">
          <a:xfrm>
            <a:off x="6537220" y="6165510"/>
            <a:ext cx="3367088"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mn-lt"/>
              </a:rPr>
              <a:t>Corporate Customer &amp; Enterprise Integration</a:t>
            </a:r>
            <a:endParaRPr lang="en-US" sz="1200" dirty="0">
              <a:solidFill>
                <a:srgbClr val="000000"/>
              </a:solidFill>
              <a:latin typeface="+mn-lt"/>
            </a:endParaRPr>
          </a:p>
        </p:txBody>
      </p:sp>
      <p:sp>
        <p:nvSpPr>
          <p:cNvPr id="10" name="Referentbox"/>
          <p:cNvSpPr txBox="1">
            <a:spLocks noChangeArrowheads="1"/>
          </p:cNvSpPr>
          <p:nvPr>
            <p:custDataLst>
              <p:tags r:id="rId8"/>
            </p:custDataLst>
          </p:nvPr>
        </p:nvSpPr>
        <p:spPr bwMode="auto">
          <a:xfrm>
            <a:off x="6537220" y="6453550"/>
            <a:ext cx="3367088"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mn-lt"/>
              </a:rPr>
              <a:t>Date </a:t>
            </a:r>
            <a:endParaRPr lang="en-US" sz="1200" dirty="0">
              <a:solidFill>
                <a:srgbClr val="000000"/>
              </a:solidFill>
              <a:latin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p:txBody>
          <a:bodyPr/>
          <a:lstStyle/>
          <a:p>
            <a:pPr>
              <a:defRPr/>
            </a:pPr>
            <a:fld id="{8FCD0415-9DE9-479C-B705-9CCDC294208E}" type="slidenum">
              <a:rPr lang="de-DE" smtClean="0"/>
            </a:fld>
            <a:endParaRPr lang="de-DE" dirty="0"/>
          </a:p>
        </p:txBody>
      </p:sp>
      <p:sp>
        <p:nvSpPr>
          <p:cNvPr id="5" name="Titel 4"/>
          <p:cNvSpPr>
            <a:spLocks noGrp="1"/>
          </p:cNvSpPr>
          <p:nvPr>
            <p:ph type="title"/>
          </p:nvPr>
        </p:nvSpPr>
        <p:spPr/>
        <p:txBody>
          <a:bodyPr/>
          <a:lstStyle/>
          <a:p>
            <a:r>
              <a:rPr lang="en-US" dirty="0"/>
              <a:t>XSLT-Basic knowledge</a:t>
            </a:r>
            <a:br>
              <a:rPr lang="en-US" dirty="0"/>
            </a:br>
            <a:endParaRPr lang="en-US" noProof="0" dirty="0"/>
          </a:p>
        </p:txBody>
      </p:sp>
      <p:sp>
        <p:nvSpPr>
          <p:cNvPr id="28" name="Textplatzhalter 27"/>
          <p:cNvSpPr>
            <a:spLocks noGrp="1"/>
          </p:cNvSpPr>
          <p:nvPr>
            <p:ph type="body" sz="quarter" idx="20"/>
          </p:nvPr>
        </p:nvSpPr>
        <p:spPr/>
        <p:txBody>
          <a:bodyPr/>
          <a:lstStyle/>
          <a:p>
            <a:r>
              <a:rPr lang="de-DE" dirty="0"/>
              <a:t>Structur</a:t>
            </a:r>
            <a:r>
              <a:rPr lang="en-US"/>
              <a:t>e</a:t>
            </a:r>
            <a:endParaRPr lang="en-US" noProof="0" dirty="0"/>
          </a:p>
        </p:txBody>
      </p:sp>
      <p:sp>
        <p:nvSpPr>
          <p:cNvPr id="29" name="Textplatzhalter 28"/>
          <p:cNvSpPr>
            <a:spLocks noGrp="1"/>
          </p:cNvSpPr>
          <p:nvPr>
            <p:ph type="body" sz="quarter" idx="21"/>
          </p:nvPr>
        </p:nvSpPr>
        <p:spPr/>
        <p:txBody>
          <a:bodyPr/>
          <a:lstStyle/>
          <a:p>
            <a:r>
              <a:rPr lang="en-US" noProof="0" dirty="0"/>
              <a:t>What is XSLT </a:t>
            </a:r>
            <a:endParaRPr lang="en-US" noProof="0" dirty="0"/>
          </a:p>
        </p:txBody>
      </p:sp>
      <p:sp>
        <p:nvSpPr>
          <p:cNvPr id="30" name="Textplatzhalter 29"/>
          <p:cNvSpPr>
            <a:spLocks noGrp="1"/>
          </p:cNvSpPr>
          <p:nvPr>
            <p:ph type="body" sz="quarter" idx="22"/>
          </p:nvPr>
        </p:nvSpPr>
        <p:spPr/>
        <p:txBody>
          <a:bodyPr/>
          <a:lstStyle/>
          <a:p>
            <a:r>
              <a:rPr lang="en-US" dirty="0"/>
              <a:t>Vocabulary of a </a:t>
            </a:r>
            <a:r>
              <a:rPr lang="en-US" dirty="0" err="1"/>
              <a:t>xsl</a:t>
            </a:r>
            <a:endParaRPr lang="de-DE"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p:txBody>
          <a:bodyPr/>
          <a:lstStyle/>
          <a:p>
            <a:pPr>
              <a:lnSpc>
                <a:spcPct val="150000"/>
              </a:lnSpc>
            </a:pPr>
            <a:r>
              <a:rPr lang="en-US" sz="1800" b="1" dirty="0"/>
              <a:t>Motivation &amp; History</a:t>
            </a:r>
            <a:endParaRPr lang="de-DE" sz="1800" b="1" dirty="0"/>
          </a:p>
          <a:p>
            <a:pPr marL="285750" indent="-285750">
              <a:lnSpc>
                <a:spcPct val="150000"/>
              </a:lnSpc>
              <a:buFontTx/>
              <a:buChar char="-"/>
            </a:pPr>
            <a:r>
              <a:rPr lang="en-US" dirty="0"/>
              <a:t>XSL stands for </a:t>
            </a:r>
            <a:r>
              <a:rPr lang="en-US" dirty="0" err="1"/>
              <a:t>E</a:t>
            </a:r>
            <a:r>
              <a:rPr lang="en-US" b="1" dirty="0" err="1"/>
              <a:t>X</a:t>
            </a:r>
            <a:r>
              <a:rPr lang="en-US" dirty="0" err="1"/>
              <a:t>tensible</a:t>
            </a:r>
            <a:r>
              <a:rPr lang="en-US" dirty="0"/>
              <a:t> </a:t>
            </a:r>
            <a:r>
              <a:rPr lang="en-US" b="1" dirty="0" err="1"/>
              <a:t>S</a:t>
            </a:r>
            <a:r>
              <a:rPr lang="en-US" dirty="0" err="1"/>
              <a:t>tylesheet</a:t>
            </a:r>
            <a:r>
              <a:rPr lang="en-US" dirty="0"/>
              <a:t> </a:t>
            </a:r>
            <a:r>
              <a:rPr lang="en-US" b="1" dirty="0"/>
              <a:t>L</a:t>
            </a:r>
            <a:r>
              <a:rPr lang="en-US" dirty="0"/>
              <a:t>anguage.</a:t>
            </a:r>
            <a:endParaRPr lang="en-US" dirty="0"/>
          </a:p>
          <a:p>
            <a:pPr marL="285750" indent="-285750">
              <a:lnSpc>
                <a:spcPct val="150000"/>
              </a:lnSpc>
              <a:buFontTx/>
              <a:buChar char="-"/>
            </a:pPr>
            <a:r>
              <a:rPr lang="en-US" dirty="0"/>
              <a:t>need for an XML-based </a:t>
            </a:r>
            <a:r>
              <a:rPr lang="en-US" dirty="0" err="1"/>
              <a:t>Stylesheet</a:t>
            </a:r>
            <a:r>
              <a:rPr lang="en-US" dirty="0"/>
              <a:t> Language</a:t>
            </a:r>
            <a:endParaRPr lang="en-US" dirty="0"/>
          </a:p>
          <a:p>
            <a:pPr marL="471805" lvl="1" indent="-285750">
              <a:lnSpc>
                <a:spcPct val="150000"/>
              </a:lnSpc>
              <a:buFontTx/>
              <a:buChar char="-"/>
            </a:pPr>
            <a:r>
              <a:rPr lang="de-DE" dirty="0"/>
              <a:t>CSS </a:t>
            </a:r>
            <a:r>
              <a:rPr lang="de-DE" dirty="0" err="1"/>
              <a:t>for</a:t>
            </a:r>
            <a:r>
              <a:rPr lang="de-DE" dirty="0"/>
              <a:t> </a:t>
            </a:r>
            <a:r>
              <a:rPr lang="de-DE" dirty="0" err="1"/>
              <a:t>html</a:t>
            </a:r>
            <a:endParaRPr lang="de-DE" dirty="0"/>
          </a:p>
          <a:p>
            <a:pPr marL="471805" lvl="1" indent="-285750">
              <a:lnSpc>
                <a:spcPct val="150000"/>
              </a:lnSpc>
              <a:buFontTx/>
              <a:buChar char="-"/>
            </a:pPr>
            <a:r>
              <a:rPr lang="de-DE" dirty="0"/>
              <a:t>XSL </a:t>
            </a:r>
            <a:r>
              <a:rPr lang="de-DE" dirty="0" err="1"/>
              <a:t>for</a:t>
            </a:r>
            <a:r>
              <a:rPr lang="de-DE" dirty="0"/>
              <a:t> XML</a:t>
            </a:r>
            <a:endParaRPr lang="de-DE" dirty="0"/>
          </a:p>
          <a:p>
            <a:pPr marL="285750" indent="-285750">
              <a:lnSpc>
                <a:spcPct val="150000"/>
              </a:lnSpc>
              <a:buFontTx/>
              <a:buChar char="-"/>
            </a:pPr>
            <a:r>
              <a:rPr lang="en-US" dirty="0"/>
              <a:t>XSL describes how the XML document should be displayed</a:t>
            </a:r>
            <a:endParaRPr lang="en-US" dirty="0"/>
          </a:p>
          <a:p>
            <a:pPr marL="285750" indent="-285750">
              <a:lnSpc>
                <a:spcPct val="150000"/>
              </a:lnSpc>
              <a:buFontTx/>
              <a:buChar char="-"/>
            </a:pPr>
            <a:r>
              <a:rPr lang="en-US" dirty="0"/>
              <a:t>parts:</a:t>
            </a:r>
            <a:endParaRPr lang="en-US" dirty="0"/>
          </a:p>
          <a:p>
            <a:pPr marL="471805" lvl="1" indent="-285750">
              <a:lnSpc>
                <a:spcPct val="150000"/>
              </a:lnSpc>
              <a:buFontTx/>
              <a:buChar char="-"/>
            </a:pPr>
            <a:r>
              <a:rPr lang="de-DE" dirty="0" err="1"/>
              <a:t>XPath</a:t>
            </a:r>
            <a:r>
              <a:rPr lang="de-DE" dirty="0"/>
              <a:t> - a </a:t>
            </a:r>
            <a:r>
              <a:rPr lang="de-DE" dirty="0" err="1"/>
              <a:t>language</a:t>
            </a:r>
            <a:r>
              <a:rPr lang="de-DE" dirty="0"/>
              <a:t> </a:t>
            </a:r>
            <a:r>
              <a:rPr lang="de-DE" dirty="0" err="1"/>
              <a:t>for</a:t>
            </a:r>
            <a:r>
              <a:rPr lang="de-DE" dirty="0"/>
              <a:t> </a:t>
            </a:r>
            <a:r>
              <a:rPr lang="de-DE" dirty="0" err="1"/>
              <a:t>navigating</a:t>
            </a:r>
            <a:r>
              <a:rPr lang="de-DE" dirty="0"/>
              <a:t> in XML </a:t>
            </a:r>
            <a:r>
              <a:rPr lang="de-DE" dirty="0" err="1"/>
              <a:t>documents</a:t>
            </a:r>
            <a:endParaRPr lang="de-DE" dirty="0"/>
          </a:p>
          <a:p>
            <a:pPr marL="471805" lvl="1" indent="-285750">
              <a:lnSpc>
                <a:spcPct val="150000"/>
              </a:lnSpc>
              <a:buFontTx/>
              <a:buChar char="-"/>
            </a:pPr>
            <a:r>
              <a:rPr lang="de-DE" dirty="0"/>
              <a:t>XSLT - a </a:t>
            </a:r>
            <a:r>
              <a:rPr lang="de-DE" dirty="0" err="1"/>
              <a:t>language</a:t>
            </a:r>
            <a:r>
              <a:rPr lang="de-DE" dirty="0"/>
              <a:t> </a:t>
            </a:r>
            <a:r>
              <a:rPr lang="de-DE" dirty="0" err="1"/>
              <a:t>for</a:t>
            </a:r>
            <a:r>
              <a:rPr lang="de-DE" dirty="0"/>
              <a:t> </a:t>
            </a:r>
            <a:r>
              <a:rPr lang="de-DE" dirty="0" err="1"/>
              <a:t>transforming</a:t>
            </a:r>
            <a:r>
              <a:rPr lang="de-DE" dirty="0"/>
              <a:t> XML </a:t>
            </a:r>
            <a:r>
              <a:rPr lang="de-DE" dirty="0" err="1"/>
              <a:t>documents</a:t>
            </a:r>
            <a:endParaRPr lang="de-DE" dirty="0"/>
          </a:p>
          <a:p>
            <a:pPr marL="471805" lvl="1" indent="-285750">
              <a:lnSpc>
                <a:spcPct val="150000"/>
              </a:lnSpc>
              <a:buFontTx/>
              <a:buChar char="-"/>
            </a:pPr>
            <a:r>
              <a:rPr lang="de-DE" dirty="0"/>
              <a:t>XSL-FO - a </a:t>
            </a:r>
            <a:r>
              <a:rPr lang="de-DE" dirty="0" err="1"/>
              <a:t>language</a:t>
            </a:r>
            <a:r>
              <a:rPr lang="de-DE" dirty="0"/>
              <a:t> </a:t>
            </a:r>
            <a:r>
              <a:rPr lang="de-DE" dirty="0" err="1"/>
              <a:t>for</a:t>
            </a:r>
            <a:r>
              <a:rPr lang="de-DE" dirty="0"/>
              <a:t> </a:t>
            </a:r>
            <a:r>
              <a:rPr lang="de-DE" dirty="0" err="1"/>
              <a:t>formatting</a:t>
            </a:r>
            <a:r>
              <a:rPr lang="de-DE" dirty="0"/>
              <a:t> XML </a:t>
            </a:r>
            <a:r>
              <a:rPr lang="de-DE" dirty="0" err="1"/>
              <a:t>documents</a:t>
            </a:r>
            <a:endParaRPr lang="de-DE" dirty="0"/>
          </a:p>
          <a:p>
            <a:pPr>
              <a:lnSpc>
                <a:spcPct val="150000"/>
              </a:lnSpc>
            </a:pPr>
            <a:endParaRPr lang="de-DE" dirty="0"/>
          </a:p>
          <a:p>
            <a:endParaRPr lang="de-DE" dirty="0"/>
          </a:p>
          <a:p>
            <a:endParaRPr lang="en-US"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dirty="0"/>
          </a:p>
        </p:txBody>
      </p:sp>
      <p:sp>
        <p:nvSpPr>
          <p:cNvPr id="5" name="Titel 4"/>
          <p:cNvSpPr>
            <a:spLocks noGrp="1"/>
          </p:cNvSpPr>
          <p:nvPr>
            <p:ph type="title"/>
          </p:nvPr>
        </p:nvSpPr>
        <p:spPr/>
        <p:txBody>
          <a:bodyPr/>
          <a:lstStyle/>
          <a:p>
            <a:r>
              <a:rPr lang="en-US" noProof="0" dirty="0"/>
              <a:t>What is XSL	</a:t>
            </a: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de-DE" sz="2000" b="1" dirty="0" err="1"/>
              <a:t>Overview</a:t>
            </a:r>
            <a:endParaRPr lang="en-US" sz="1800" b="1" dirty="0"/>
          </a:p>
          <a:p>
            <a:pPr marL="285750" indent="-285750">
              <a:lnSpc>
                <a:spcPct val="200000"/>
              </a:lnSpc>
              <a:buFontTx/>
              <a:buChar char="-"/>
            </a:pPr>
            <a:r>
              <a:rPr lang="en-US" sz="1800" dirty="0"/>
              <a:t>XSLT </a:t>
            </a:r>
            <a:endParaRPr lang="en-US" sz="1800" dirty="0"/>
          </a:p>
          <a:p>
            <a:pPr marL="471805" lvl="1" indent="-285750">
              <a:lnSpc>
                <a:spcPct val="200000"/>
              </a:lnSpc>
              <a:buFontTx/>
              <a:buChar char="-"/>
            </a:pPr>
            <a:r>
              <a:rPr lang="en-US" sz="1800" dirty="0"/>
              <a:t>is used to transform an XML document into another XML document</a:t>
            </a:r>
            <a:endParaRPr lang="en-US" sz="1800" dirty="0"/>
          </a:p>
          <a:p>
            <a:pPr marL="471805" lvl="1" indent="-285750">
              <a:lnSpc>
                <a:spcPct val="200000"/>
              </a:lnSpc>
              <a:buFontTx/>
              <a:buChar char="-"/>
            </a:pPr>
            <a:r>
              <a:rPr lang="en-US" sz="1800" dirty="0"/>
              <a:t>describe the transformation process</a:t>
            </a:r>
            <a:r>
              <a:rPr lang="en-US" sz="1800" b="1" dirty="0">
                <a:sym typeface="Wingdings" panose="05000000000000000000" pitchFamily="2" charset="2"/>
              </a:rPr>
              <a:t> </a:t>
            </a:r>
            <a:r>
              <a:rPr lang="en-US" sz="1800" b="1" dirty="0"/>
              <a:t>XSLT transforms an XML source-tree into an XML result-tree</a:t>
            </a:r>
            <a:endParaRPr lang="en-US" sz="1800" b="1" dirty="0"/>
          </a:p>
          <a:p>
            <a:pPr marL="471805" lvl="1" indent="-285750">
              <a:lnSpc>
                <a:spcPct val="200000"/>
              </a:lnSpc>
              <a:buFontTx/>
              <a:buChar char="-"/>
            </a:pPr>
            <a:r>
              <a:rPr lang="en-US" sz="1800" dirty="0"/>
              <a:t>add/remove elements and attributes </a:t>
            </a:r>
            <a:endParaRPr lang="en-US" sz="1800" dirty="0"/>
          </a:p>
          <a:p>
            <a:pPr marL="471805" lvl="1" indent="-285750">
              <a:lnSpc>
                <a:spcPct val="200000"/>
              </a:lnSpc>
              <a:buFontTx/>
              <a:buChar char="-"/>
            </a:pPr>
            <a:r>
              <a:rPr lang="en-US" sz="1800" dirty="0"/>
              <a:t>rearrange and sort elements </a:t>
            </a:r>
            <a:endParaRPr lang="en-US" sz="1800" dirty="0"/>
          </a:p>
          <a:p>
            <a:pPr marL="471805" lvl="1" indent="-285750">
              <a:lnSpc>
                <a:spcPct val="200000"/>
              </a:lnSpc>
              <a:buFontTx/>
              <a:buChar char="-"/>
            </a:pPr>
            <a:r>
              <a:rPr lang="en-US" sz="1800" dirty="0"/>
              <a:t>perform tests and make decisions</a:t>
            </a:r>
            <a:endParaRPr lang="en-US" sz="1800" dirty="0"/>
          </a:p>
          <a:p>
            <a:pPr marL="285750" indent="-285750">
              <a:buFontTx/>
              <a:buChar char="-"/>
            </a:pPr>
            <a:endParaRPr lang="en-US" sz="1800" dirty="0"/>
          </a:p>
          <a:p>
            <a:pPr marL="471805" lvl="1" indent="-285750">
              <a:buFontTx/>
              <a:buChar char="-"/>
            </a:pPr>
            <a:endParaRPr lang="de-DE" i="1" dirty="0"/>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p:txBody>
          <a:bodyPr/>
          <a:lstStyle/>
          <a:p>
            <a:r>
              <a:rPr lang="de-DE" sz="2000" b="1" dirty="0" err="1"/>
              <a:t>Overview</a:t>
            </a:r>
            <a:endParaRPr lang="en-US"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pic>
        <p:nvPicPr>
          <p:cNvPr id="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80792" y="1916833"/>
            <a:ext cx="4557364" cy="4037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557339"/>
            <a:ext cx="4752975" cy="3023790"/>
          </a:xfrm>
        </p:spPr>
        <p:txBody>
          <a:bodyPr/>
          <a:lstStyle/>
          <a:p>
            <a:pPr>
              <a:lnSpc>
                <a:spcPct val="150000"/>
              </a:lnSpc>
            </a:pPr>
            <a:r>
              <a:rPr lang="en-US" sz="1800" b="1" dirty="0"/>
              <a:t>XSL vs. XQuery</a:t>
            </a:r>
            <a:endParaRPr lang="de-DE" dirty="0"/>
          </a:p>
          <a:p>
            <a:endParaRPr lang="de-DE" dirty="0"/>
          </a:p>
          <a:p>
            <a:endParaRPr lang="en-US"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dirty="0"/>
          </a:p>
        </p:txBody>
      </p:sp>
      <p:sp>
        <p:nvSpPr>
          <p:cNvPr id="5" name="Titel 4"/>
          <p:cNvSpPr>
            <a:spLocks noGrp="1"/>
          </p:cNvSpPr>
          <p:nvPr>
            <p:ph type="title"/>
          </p:nvPr>
        </p:nvSpPr>
        <p:spPr/>
        <p:txBody>
          <a:bodyPr/>
          <a:lstStyle/>
          <a:p>
            <a:r>
              <a:rPr lang="en-US" noProof="0" dirty="0"/>
              <a:t>What is XSL	</a:t>
            </a:r>
            <a:br>
              <a:rPr lang="en-US" noProof="0" dirty="0"/>
            </a:br>
            <a:endParaRPr lang="en-US" noProof="0" dirty="0"/>
          </a:p>
        </p:txBody>
      </p:sp>
      <p:sp>
        <p:nvSpPr>
          <p:cNvPr id="6" name="Textplatzhalter 15"/>
          <p:cNvSpPr txBox="1"/>
          <p:nvPr/>
        </p:nvSpPr>
        <p:spPr bwMode="auto">
          <a:xfrm>
            <a:off x="4808984" y="1916832"/>
            <a:ext cx="47529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r>
              <a:rPr lang="en-US" sz="1200" dirty="0"/>
              <a:t>“While XQuery </a:t>
            </a:r>
            <a:r>
              <a:rPr lang="en-US" sz="1200" i="1" dirty="0"/>
              <a:t>can</a:t>
            </a:r>
            <a:r>
              <a:rPr lang="en-US" sz="1200" dirty="0"/>
              <a:t> be used for simple transformations, it lacks the power and </a:t>
            </a:r>
            <a:r>
              <a:rPr lang="en-US" sz="1200" dirty="0" err="1"/>
              <a:t>sophistication</a:t>
            </a:r>
            <a:r>
              <a:rPr lang="en-US" sz="1200" dirty="0"/>
              <a:t> of XSLT (especially templates and the &lt;</a:t>
            </a:r>
            <a:r>
              <a:rPr lang="en-US" sz="1200" dirty="0" err="1"/>
              <a:t>xsl:apply-templates</a:t>
            </a:r>
            <a:r>
              <a:rPr lang="en-US" sz="1200" dirty="0"/>
              <a:t>&gt; instruction).</a:t>
            </a:r>
            <a:br>
              <a:rPr lang="en-US" sz="1200" dirty="0"/>
            </a:br>
            <a:endParaRPr lang="en-US" sz="1200" dirty="0"/>
          </a:p>
          <a:p>
            <a:r>
              <a:rPr lang="en-US" sz="1200" dirty="0"/>
              <a:t>XSLT is a language that was especially designed to process tree structures. It is still best at doing this.</a:t>
            </a:r>
            <a:br>
              <a:rPr lang="en-US" sz="1200" dirty="0"/>
            </a:br>
            <a:endParaRPr lang="en-US" sz="1200" dirty="0"/>
          </a:p>
          <a:p>
            <a:r>
              <a:rPr lang="en-US" sz="1200" dirty="0"/>
              <a:t>In cases when accessing an XML database it would be a good decision to use (the efficiency of) XQuery to extract the necessary XML nodes and then do the transformation with XSLT from here on. …</a:t>
            </a:r>
            <a:endParaRPr lang="en-US" sz="1200" dirty="0"/>
          </a:p>
        </p:txBody>
      </p:sp>
      <p:sp>
        <p:nvSpPr>
          <p:cNvPr id="7" name="Textplatzhalter 15"/>
          <p:cNvSpPr txBox="1"/>
          <p:nvPr/>
        </p:nvSpPr>
        <p:spPr bwMode="auto">
          <a:xfrm>
            <a:off x="416496" y="2060848"/>
            <a:ext cx="5040560"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pPr>
              <a:lnSpc>
                <a:spcPct val="150000"/>
              </a:lnSpc>
            </a:pPr>
            <a:r>
              <a:rPr lang="en-US" kern="0" dirty="0"/>
              <a:t>“XSLT was designed to transform </a:t>
            </a:r>
            <a:br>
              <a:rPr lang="en-US" kern="0" dirty="0"/>
            </a:br>
            <a:r>
              <a:rPr lang="en-US" kern="0" dirty="0"/>
              <a:t>documents for publishing…”</a:t>
            </a:r>
            <a:endParaRPr lang="en-US" kern="0" dirty="0"/>
          </a:p>
        </p:txBody>
      </p:sp>
      <p:sp>
        <p:nvSpPr>
          <p:cNvPr id="8" name="Textplatzhalter 15"/>
          <p:cNvSpPr txBox="1"/>
          <p:nvPr/>
        </p:nvSpPr>
        <p:spPr bwMode="auto">
          <a:xfrm>
            <a:off x="4953000" y="4299942"/>
            <a:ext cx="47529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pPr>
              <a:lnSpc>
                <a:spcPct val="150000"/>
              </a:lnSpc>
            </a:pPr>
            <a:r>
              <a:rPr lang="en-US" sz="1200" dirty="0"/>
              <a:t>“…there is a high degree of overlap in the functionality of the two languages. They share many common concepts, such as the underlying data model, and they both include the whole of XPath 2.0 as a sublanguage, together with its extensive repertoire of data types and the associated function library.”</a:t>
            </a:r>
            <a:endParaRPr lang="en-US" sz="1200" dirty="0"/>
          </a:p>
        </p:txBody>
      </p:sp>
      <p:sp>
        <p:nvSpPr>
          <p:cNvPr id="9" name="Textplatzhalter 15"/>
          <p:cNvSpPr txBox="1"/>
          <p:nvPr/>
        </p:nvSpPr>
        <p:spPr bwMode="auto">
          <a:xfrm>
            <a:off x="200025" y="3861048"/>
            <a:ext cx="47529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r>
              <a:rPr lang="en-US" sz="1200" dirty="0"/>
              <a:t>“XSLT has a “processing engine” that automatically goes through the document tree and applies templates as it finds nodes; with XQuery the programmer has to direct the process. […]</a:t>
            </a:r>
            <a:endParaRPr lang="en-US" sz="1200" dirty="0"/>
          </a:p>
          <a:p>
            <a:endParaRPr lang="en-US" sz="1200" dirty="0"/>
          </a:p>
          <a:p>
            <a:r>
              <a:rPr lang="en-US" sz="1200" dirty="0"/>
              <a:t>XSLT is to XQuery as JavaScript is to Java. XSLT is </a:t>
            </a:r>
            <a:r>
              <a:rPr lang="en-US" sz="1200" dirty="0" err="1"/>
              <a:t>untyped</a:t>
            </a:r>
            <a:r>
              <a:rPr lang="en-US" sz="1200" dirty="0"/>
              <a:t>; conversions between nodes and strings and numbers are handled pretty much transparently. XQuery is a typed language which uses the types defined by XML Schema. XQuery will complain when it gets input that isn't of the appropriate type.” </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br>
              <a:rPr lang="en-US" sz="1800" b="1" dirty="0"/>
            </a:br>
            <a:endParaRPr lang="en-US" sz="1800" b="1" dirty="0"/>
          </a:p>
          <a:p>
            <a:r>
              <a:rPr lang="de-DE" sz="1800" dirty="0" err="1"/>
              <a:t>Xslt</a:t>
            </a:r>
            <a:r>
              <a:rPr lang="de-DE" sz="1800" dirty="0"/>
              <a:t>-files </a:t>
            </a:r>
            <a:r>
              <a:rPr lang="de-DE" sz="1800" dirty="0" err="1"/>
              <a:t>itself</a:t>
            </a:r>
            <a:r>
              <a:rPr lang="de-DE" sz="1800" dirty="0"/>
              <a:t> </a:t>
            </a:r>
            <a:r>
              <a:rPr lang="de-DE" sz="1800" dirty="0" err="1"/>
              <a:t>are</a:t>
            </a:r>
            <a:r>
              <a:rPr lang="de-DE" sz="1800" dirty="0"/>
              <a:t> valid XML-files</a:t>
            </a:r>
            <a:endParaRPr lang="en-US" sz="1800" dirty="0"/>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xmlns:xsl</a:t>
            </a:r>
            <a:r>
              <a:rPr lang="de-DE" dirty="0">
                <a:latin typeface="CordiaUPC" panose="020B0304020202020204" pitchFamily="34" charset="-34"/>
                <a:cs typeface="CordiaUPC" panose="020B0304020202020204" pitchFamily="34" charset="-34"/>
              </a:rPr>
              <a:t>="http://www.w3.org/1999/XSL/Transform"&gt;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endParaRPr lang="en-US" sz="1800" b="1" dirty="0"/>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xmlns:xsl</a:t>
            </a:r>
            <a:r>
              <a:rPr lang="de-DE" dirty="0">
                <a:latin typeface="CordiaUPC" panose="020B0304020202020204" pitchFamily="34" charset="-34"/>
                <a:cs typeface="CordiaUPC" panose="020B0304020202020204" pitchFamily="34" charset="-34"/>
              </a:rPr>
              <a:t>="http://www.w3.org/1999/XSL/Transform"&gt;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11" name="Textfeld 10"/>
          <p:cNvSpPr txBox="1"/>
          <p:nvPr/>
        </p:nvSpPr>
        <p:spPr>
          <a:xfrm>
            <a:off x="6033120" y="3284984"/>
            <a:ext cx="2199769"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XSL is a valid xml</a:t>
            </a:r>
            <a:endParaRPr lang="en-US" dirty="0"/>
          </a:p>
        </p:txBody>
      </p:sp>
      <p:sp>
        <p:nvSpPr>
          <p:cNvPr id="13" name="Textfeld 12"/>
          <p:cNvSpPr txBox="1"/>
          <p:nvPr/>
        </p:nvSpPr>
        <p:spPr>
          <a:xfrm>
            <a:off x="433404" y="1995736"/>
            <a:ext cx="2935419"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err="1"/>
              <a:t>XSL:stylesheet</a:t>
            </a:r>
            <a:r>
              <a:rPr lang="en-US" dirty="0"/>
              <a:t> element</a:t>
            </a:r>
            <a:endParaRPr lang="en-US" dirty="0"/>
          </a:p>
        </p:txBody>
      </p:sp>
      <p:sp>
        <p:nvSpPr>
          <p:cNvPr id="14" name="Textfeld 13"/>
          <p:cNvSpPr txBox="1"/>
          <p:nvPr/>
        </p:nvSpPr>
        <p:spPr>
          <a:xfrm>
            <a:off x="3564534" y="1995736"/>
            <a:ext cx="3155158"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Namespace XSL declared</a:t>
            </a:r>
            <a:endParaRPr lang="en-US" dirty="0"/>
          </a:p>
        </p:txBody>
      </p:sp>
      <p:sp>
        <p:nvSpPr>
          <p:cNvPr id="15" name="Textfeld 14"/>
          <p:cNvSpPr txBox="1"/>
          <p:nvPr/>
        </p:nvSpPr>
        <p:spPr>
          <a:xfrm>
            <a:off x="1208584" y="4725144"/>
            <a:ext cx="1794081"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Main template</a:t>
            </a:r>
            <a:endParaRPr lang="en-US" dirty="0"/>
          </a:p>
        </p:txBody>
      </p:sp>
      <p:sp>
        <p:nvSpPr>
          <p:cNvPr id="12" name="Geschweifte Klammer rechts 11"/>
          <p:cNvSpPr/>
          <p:nvPr/>
        </p:nvSpPr>
        <p:spPr bwMode="auto">
          <a:xfrm>
            <a:off x="5426520" y="2492896"/>
            <a:ext cx="390576" cy="1984286"/>
          </a:xfrm>
          <a:prstGeom prst="rightBrace">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DB Office" pitchFamily="34" charset="0"/>
            </a:endParaRPr>
          </a:p>
        </p:txBody>
      </p:sp>
      <p:cxnSp>
        <p:nvCxnSpPr>
          <p:cNvPr id="18" name="Gerade Verbindung mit Pfeil 17"/>
          <p:cNvCxnSpPr>
            <a:stCxn id="15" idx="0"/>
          </p:cNvCxnSpPr>
          <p:nvPr/>
        </p:nvCxnSpPr>
        <p:spPr bwMode="auto">
          <a:xfrm flipH="1" flipV="1">
            <a:off x="1640632" y="3485039"/>
            <a:ext cx="464993" cy="1240105"/>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Gerade Verbindung mit Pfeil 19"/>
          <p:cNvCxnSpPr/>
          <p:nvPr/>
        </p:nvCxnSpPr>
        <p:spPr bwMode="auto">
          <a:xfrm flipH="1">
            <a:off x="1208584" y="2395846"/>
            <a:ext cx="432048" cy="601106"/>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 Verbindung mit Pfeil 21"/>
          <p:cNvCxnSpPr/>
          <p:nvPr/>
        </p:nvCxnSpPr>
        <p:spPr bwMode="auto">
          <a:xfrm flipH="1">
            <a:off x="2576736" y="2395846"/>
            <a:ext cx="1368152" cy="601106"/>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endParaRPr lang="en-US" sz="1800" b="1" dirty="0"/>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xmlns:xsl</a:t>
            </a:r>
            <a:r>
              <a:rPr lang="de-DE" dirty="0">
                <a:latin typeface="CordiaUPC" panose="020B0304020202020204" pitchFamily="34" charset="-34"/>
                <a:cs typeface="CordiaUPC" panose="020B0304020202020204" pitchFamily="34" charset="-34"/>
              </a:rPr>
              <a:t>="http://www.w3.org/1999/XSL/Transform"&gt;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 typeface="Wingdings" panose="05000000000000000000"/>
              <a:buChar char="è"/>
            </a:pPr>
            <a:r>
              <a:rPr lang="de-DE" dirty="0" err="1">
                <a:sym typeface="Wingdings" panose="05000000000000000000" pitchFamily="2" charset="2"/>
              </a:rPr>
              <a:t>Selects</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root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XML-</a:t>
            </a:r>
            <a:r>
              <a:rPr lang="de-DE" dirty="0" err="1">
                <a:sym typeface="Wingdings" panose="05000000000000000000" pitchFamily="2" charset="2"/>
              </a:rPr>
              <a:t>Document</a:t>
            </a:r>
            <a:r>
              <a:rPr lang="de-DE" dirty="0">
                <a:sym typeface="Wingdings" panose="05000000000000000000" pitchFamily="2" charset="2"/>
              </a:rPr>
              <a:t> </a:t>
            </a:r>
            <a:endParaRPr lang="de-DE" dirty="0">
              <a:sym typeface="Wingdings" panose="05000000000000000000" pitchFamily="2" charset="2"/>
            </a:endParaRPr>
          </a:p>
          <a:p>
            <a:pPr marL="471805" lvl="1" indent="-285750">
              <a:buFont typeface="Wingdings" panose="05000000000000000000"/>
              <a:buChar char="è"/>
            </a:pPr>
            <a:endParaRPr lang="de-DE" dirty="0">
              <a:sym typeface="Wingdings" panose="05000000000000000000" pitchFamily="2" charset="2"/>
            </a:endParaRPr>
          </a:p>
          <a:p>
            <a:pPr marL="471805" lvl="1" indent="-285750">
              <a:buFont typeface="Wingdings" panose="05000000000000000000"/>
              <a:buChar char="è"/>
            </a:pPr>
            <a:r>
              <a:rPr lang="de-DE" dirty="0">
                <a:sym typeface="Wingdings" panose="05000000000000000000" pitchFamily="2" charset="2"/>
              </a:rPr>
              <a:t>The </a:t>
            </a:r>
            <a:r>
              <a:rPr lang="de-DE" dirty="0" err="1">
                <a:sym typeface="Wingdings" panose="05000000000000000000" pitchFamily="2" charset="2"/>
              </a:rPr>
              <a:t>skeleton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result</a:t>
            </a:r>
            <a:r>
              <a:rPr lang="de-DE" dirty="0">
                <a:sym typeface="Wingdings" panose="05000000000000000000" pitchFamily="2" charset="2"/>
              </a:rPr>
              <a:t> XML </a:t>
            </a:r>
            <a:r>
              <a:rPr lang="de-DE" dirty="0" err="1">
                <a:sym typeface="Wingdings" panose="05000000000000000000" pitchFamily="2" charset="2"/>
              </a:rPr>
              <a:t>is</a:t>
            </a:r>
            <a:r>
              <a:rPr lang="de-DE" dirty="0">
                <a:sym typeface="Wingdings" panose="05000000000000000000" pitchFamily="2" charset="2"/>
              </a:rPr>
              <a:t> in </a:t>
            </a:r>
            <a:r>
              <a:rPr lang="de-DE" dirty="0" err="1">
                <a:sym typeface="Wingdings" panose="05000000000000000000" pitchFamily="2" charset="2"/>
              </a:rPr>
              <a:t>this</a:t>
            </a:r>
            <a:r>
              <a:rPr lang="de-DE" dirty="0">
                <a:sym typeface="Wingdings" panose="05000000000000000000" pitchFamily="2" charset="2"/>
              </a:rPr>
              <a:t> </a:t>
            </a:r>
            <a:r>
              <a:rPr lang="de-DE" dirty="0" err="1">
                <a:sym typeface="Wingdings" panose="05000000000000000000" pitchFamily="2" charset="2"/>
              </a:rPr>
              <a:t>template</a:t>
            </a:r>
            <a:endParaRPr lang="de-DE" dirty="0">
              <a:sym typeface="Wingdings" panose="05000000000000000000" pitchFamily="2" charset="2"/>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15" name="Textfeld 14"/>
          <p:cNvSpPr txBox="1"/>
          <p:nvPr/>
        </p:nvSpPr>
        <p:spPr>
          <a:xfrm>
            <a:off x="2216696" y="3673044"/>
            <a:ext cx="1794081"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Main template</a:t>
            </a:r>
            <a:endParaRPr lang="en-US" dirty="0"/>
          </a:p>
        </p:txBody>
      </p:sp>
      <p:cxnSp>
        <p:nvCxnSpPr>
          <p:cNvPr id="18" name="Gerade Verbindung mit Pfeil 17"/>
          <p:cNvCxnSpPr/>
          <p:nvPr/>
        </p:nvCxnSpPr>
        <p:spPr bwMode="auto">
          <a:xfrm flipH="1" flipV="1">
            <a:off x="1640633" y="3485040"/>
            <a:ext cx="576063" cy="376008"/>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endParaRPr lang="en-US" sz="1800" b="1" dirty="0"/>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xmlns:xsl</a:t>
            </a:r>
            <a:r>
              <a:rPr lang="de-DE" dirty="0">
                <a:latin typeface="CordiaUPC" panose="020B0304020202020204" pitchFamily="34" charset="-34"/>
                <a:cs typeface="CordiaUPC" panose="020B0304020202020204" pitchFamily="34" charset="-34"/>
              </a:rPr>
              <a:t>="http://www.w3.org/1999/XSL/Transform"&gt;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     </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 typeface="Wingdings" panose="05000000000000000000"/>
              <a:buChar char="è"/>
            </a:pPr>
            <a:r>
              <a:rPr lang="de-DE" dirty="0" err="1">
                <a:sym typeface="Wingdings" panose="05000000000000000000" pitchFamily="2" charset="2"/>
              </a:rPr>
              <a:t>Selects</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root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XML-</a:t>
            </a:r>
            <a:r>
              <a:rPr lang="de-DE" dirty="0" err="1">
                <a:sym typeface="Wingdings" panose="05000000000000000000" pitchFamily="2" charset="2"/>
              </a:rPr>
              <a:t>Document</a:t>
            </a:r>
            <a:r>
              <a:rPr lang="de-DE" dirty="0">
                <a:sym typeface="Wingdings" panose="05000000000000000000" pitchFamily="2" charset="2"/>
              </a:rPr>
              <a:t> </a:t>
            </a:r>
            <a:endParaRPr lang="de-DE" dirty="0">
              <a:sym typeface="Wingdings" panose="05000000000000000000" pitchFamily="2" charset="2"/>
            </a:endParaRPr>
          </a:p>
          <a:p>
            <a:pPr marL="471805" lvl="1" indent="-285750">
              <a:buFont typeface="Wingdings" panose="05000000000000000000"/>
              <a:buChar char="è"/>
            </a:pPr>
            <a:endParaRPr lang="de-DE" dirty="0">
              <a:sym typeface="Wingdings" panose="05000000000000000000" pitchFamily="2" charset="2"/>
            </a:endParaRPr>
          </a:p>
          <a:p>
            <a:pPr marL="471805" lvl="1" indent="-285750">
              <a:buFont typeface="Wingdings" panose="05000000000000000000"/>
              <a:buChar char="è"/>
            </a:pPr>
            <a:r>
              <a:rPr lang="de-DE" dirty="0">
                <a:sym typeface="Wingdings" panose="05000000000000000000" pitchFamily="2" charset="2"/>
              </a:rPr>
              <a:t>The </a:t>
            </a:r>
            <a:r>
              <a:rPr lang="de-DE" dirty="0" err="1">
                <a:sym typeface="Wingdings" panose="05000000000000000000" pitchFamily="2" charset="2"/>
              </a:rPr>
              <a:t>skeleton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result</a:t>
            </a:r>
            <a:r>
              <a:rPr lang="de-DE" dirty="0">
                <a:sym typeface="Wingdings" panose="05000000000000000000" pitchFamily="2" charset="2"/>
              </a:rPr>
              <a:t> XML </a:t>
            </a:r>
            <a:r>
              <a:rPr lang="de-DE" dirty="0" err="1">
                <a:sym typeface="Wingdings" panose="05000000000000000000" pitchFamily="2" charset="2"/>
              </a:rPr>
              <a:t>is</a:t>
            </a:r>
            <a:r>
              <a:rPr lang="de-DE" dirty="0">
                <a:sym typeface="Wingdings" panose="05000000000000000000" pitchFamily="2" charset="2"/>
              </a:rPr>
              <a:t> in </a:t>
            </a:r>
            <a:r>
              <a:rPr lang="de-DE" dirty="0" err="1">
                <a:sym typeface="Wingdings" panose="05000000000000000000" pitchFamily="2" charset="2"/>
              </a:rPr>
              <a:t>this</a:t>
            </a:r>
            <a:r>
              <a:rPr lang="de-DE" dirty="0">
                <a:sym typeface="Wingdings" panose="05000000000000000000" pitchFamily="2" charset="2"/>
              </a:rPr>
              <a:t> </a:t>
            </a:r>
            <a:r>
              <a:rPr lang="de-DE" dirty="0" err="1">
                <a:sym typeface="Wingdings" panose="05000000000000000000" pitchFamily="2" charset="2"/>
              </a:rPr>
              <a:t>template</a:t>
            </a:r>
            <a:endParaRPr lang="de-DE" dirty="0">
              <a:sym typeface="Wingdings" panose="05000000000000000000" pitchFamily="2" charset="2"/>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endParaRPr lang="en-US" sz="1800" b="1" dirty="0"/>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xmlns:xsl</a:t>
            </a:r>
            <a:r>
              <a:rPr lang="de-DE" dirty="0">
                <a:latin typeface="CordiaUPC" panose="020B0304020202020204" pitchFamily="34" charset="-34"/>
                <a:cs typeface="CordiaUPC" panose="020B0304020202020204" pitchFamily="34" charset="-34"/>
              </a:rPr>
              <a:t>="http://www.w3.org/1999/XSL/Transform"&gt;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     </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 typeface="Wingdings" panose="05000000000000000000"/>
              <a:buChar char="è"/>
            </a:pPr>
            <a:r>
              <a:rPr lang="de-DE" dirty="0" err="1">
                <a:sym typeface="Wingdings" panose="05000000000000000000" pitchFamily="2" charset="2"/>
              </a:rPr>
              <a:t>Selects</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root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XML-</a:t>
            </a:r>
            <a:r>
              <a:rPr lang="de-DE" dirty="0" err="1">
                <a:sym typeface="Wingdings" panose="05000000000000000000" pitchFamily="2" charset="2"/>
              </a:rPr>
              <a:t>Document</a:t>
            </a:r>
            <a:r>
              <a:rPr lang="de-DE" dirty="0">
                <a:sym typeface="Wingdings" panose="05000000000000000000" pitchFamily="2" charset="2"/>
              </a:rPr>
              <a:t> </a:t>
            </a:r>
            <a:endParaRPr lang="de-DE" dirty="0">
              <a:sym typeface="Wingdings" panose="05000000000000000000" pitchFamily="2" charset="2"/>
            </a:endParaRPr>
          </a:p>
          <a:p>
            <a:pPr marL="471805" lvl="1" indent="-285750">
              <a:buFont typeface="Wingdings" panose="05000000000000000000"/>
              <a:buChar char="è"/>
            </a:pPr>
            <a:endParaRPr lang="de-DE" dirty="0">
              <a:sym typeface="Wingdings" panose="05000000000000000000" pitchFamily="2" charset="2"/>
            </a:endParaRPr>
          </a:p>
          <a:p>
            <a:pPr marL="471805" lvl="1" indent="-285750">
              <a:buFont typeface="Wingdings" panose="05000000000000000000"/>
              <a:buChar char="è"/>
            </a:pPr>
            <a:r>
              <a:rPr lang="de-DE" dirty="0">
                <a:sym typeface="Wingdings" panose="05000000000000000000" pitchFamily="2" charset="2"/>
              </a:rPr>
              <a:t>The </a:t>
            </a:r>
            <a:r>
              <a:rPr lang="de-DE" dirty="0" err="1">
                <a:sym typeface="Wingdings" panose="05000000000000000000" pitchFamily="2" charset="2"/>
              </a:rPr>
              <a:t>skeleton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result</a:t>
            </a:r>
            <a:r>
              <a:rPr lang="de-DE" dirty="0">
                <a:sym typeface="Wingdings" panose="05000000000000000000" pitchFamily="2" charset="2"/>
              </a:rPr>
              <a:t> XML </a:t>
            </a:r>
            <a:r>
              <a:rPr lang="de-DE" dirty="0" err="1">
                <a:sym typeface="Wingdings" panose="05000000000000000000" pitchFamily="2" charset="2"/>
              </a:rPr>
              <a:t>is</a:t>
            </a:r>
            <a:r>
              <a:rPr lang="de-DE" dirty="0">
                <a:sym typeface="Wingdings" panose="05000000000000000000" pitchFamily="2" charset="2"/>
              </a:rPr>
              <a:t> in </a:t>
            </a:r>
            <a:r>
              <a:rPr lang="de-DE" dirty="0" err="1">
                <a:sym typeface="Wingdings" panose="05000000000000000000" pitchFamily="2" charset="2"/>
              </a:rPr>
              <a:t>this</a:t>
            </a:r>
            <a:r>
              <a:rPr lang="de-DE" dirty="0">
                <a:sym typeface="Wingdings" panose="05000000000000000000" pitchFamily="2" charset="2"/>
              </a:rPr>
              <a:t> </a:t>
            </a:r>
            <a:r>
              <a:rPr lang="de-DE" dirty="0" err="1">
                <a:sym typeface="Wingdings" panose="05000000000000000000" pitchFamily="2" charset="2"/>
              </a:rPr>
              <a:t>template</a:t>
            </a:r>
            <a:endParaRPr lang="de-DE" dirty="0">
              <a:sym typeface="Wingdings" panose="05000000000000000000" pitchFamily="2" charset="2"/>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6" name="Textplatzhalter 15"/>
          <p:cNvSpPr txBox="1"/>
          <p:nvPr/>
        </p:nvSpPr>
        <p:spPr bwMode="auto">
          <a:xfrm>
            <a:off x="5601072" y="2420888"/>
            <a:ext cx="3528393" cy="3016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endParaRPr lang="en-US" sz="1800" kern="0" dirty="0">
              <a:latin typeface="CordiaUPC" panose="020B0304020202020204" pitchFamily="34" charset="-34"/>
              <a:cs typeface="CordiaUPC" panose="020B0304020202020204" pitchFamily="34" charset="-34"/>
            </a:endParaRPr>
          </a:p>
          <a:p>
            <a:endParaRPr lang="en-US" sz="1800" kern="0" dirty="0">
              <a:latin typeface="CordiaUPC" panose="020B0304020202020204" pitchFamily="34" charset="-34"/>
              <a:cs typeface="CordiaUPC" panose="020B0304020202020204" pitchFamily="34" charset="-34"/>
            </a:endParaRPr>
          </a:p>
          <a:p>
            <a:endParaRPr lang="en-US" sz="1800" kern="0" dirty="0">
              <a:latin typeface="CordiaUPC" panose="020B0304020202020204" pitchFamily="34" charset="-34"/>
              <a:cs typeface="CordiaUPC" panose="020B0304020202020204" pitchFamily="34" charset="-34"/>
            </a:endParaRPr>
          </a:p>
          <a:p>
            <a:pPr lvl="1" indent="0">
              <a:buFont typeface="Wingdings" panose="05000000000000000000" pitchFamily="2" charset="2"/>
              <a:buNone/>
            </a:pPr>
            <a:r>
              <a:rPr lang="de-DE" kern="0" dirty="0">
                <a:latin typeface="CordiaUPC" panose="020B0304020202020204" pitchFamily="34" charset="-34"/>
                <a:cs typeface="CordiaUPC" panose="020B0304020202020204" pitchFamily="34" charset="-34"/>
              </a:rPr>
              <a:t>&lt;?</a:t>
            </a:r>
            <a:r>
              <a:rPr lang="de-DE" kern="0" dirty="0" err="1">
                <a:latin typeface="CordiaUPC" panose="020B0304020202020204" pitchFamily="34" charset="-34"/>
                <a:cs typeface="CordiaUPC" panose="020B0304020202020204" pitchFamily="34" charset="-34"/>
              </a:rPr>
              <a:t>xml</a:t>
            </a:r>
            <a:r>
              <a:rPr lang="de-DE" kern="0" dirty="0">
                <a:latin typeface="CordiaUPC" panose="020B0304020202020204" pitchFamily="34" charset="-34"/>
                <a:cs typeface="CordiaUPC" panose="020B0304020202020204" pitchFamily="34" charset="-34"/>
              </a:rPr>
              <a:t> </a:t>
            </a:r>
            <a:r>
              <a:rPr lang="de-DE" kern="0" dirty="0" err="1">
                <a:latin typeface="CordiaUPC" panose="020B0304020202020204" pitchFamily="34" charset="-34"/>
                <a:cs typeface="CordiaUPC" panose="020B0304020202020204" pitchFamily="34" charset="-34"/>
              </a:rPr>
              <a:t>version</a:t>
            </a:r>
            <a:r>
              <a:rPr lang="de-DE" kern="0" dirty="0">
                <a:latin typeface="CordiaUPC" panose="020B0304020202020204" pitchFamily="34" charset="-34"/>
                <a:cs typeface="CordiaUPC" panose="020B0304020202020204" pitchFamily="34" charset="-34"/>
              </a:rPr>
              <a:t>="1.0" </a:t>
            </a:r>
            <a:r>
              <a:rPr lang="de-DE" kern="0" dirty="0" err="1">
                <a:latin typeface="CordiaUPC" panose="020B0304020202020204" pitchFamily="34" charset="-34"/>
                <a:cs typeface="CordiaUPC" panose="020B0304020202020204" pitchFamily="34" charset="-34"/>
              </a:rPr>
              <a:t>encoding</a:t>
            </a:r>
            <a:r>
              <a:rPr lang="de-DE" kern="0" dirty="0">
                <a:latin typeface="CordiaUPC" panose="020B0304020202020204" pitchFamily="34" charset="-34"/>
                <a:cs typeface="CordiaUPC" panose="020B0304020202020204" pitchFamily="34" charset="-34"/>
              </a:rPr>
              <a:t>="UTF-8"?&gt;</a:t>
            </a:r>
            <a:endParaRPr lang="de-DE" kern="0" dirty="0">
              <a:latin typeface="CordiaUPC" panose="020B0304020202020204" pitchFamily="34" charset="-34"/>
              <a:cs typeface="CordiaUPC" panose="020B0304020202020204" pitchFamily="34" charset="-34"/>
            </a:endParaRPr>
          </a:p>
          <a:p>
            <a:pPr lvl="1" indent="0">
              <a:buFont typeface="Wingdings" panose="05000000000000000000" pitchFamily="2" charset="2"/>
              <a:buNone/>
            </a:pPr>
            <a:r>
              <a:rPr lang="de-DE" kern="0" dirty="0">
                <a:latin typeface="CordiaUPC" panose="020B0304020202020204" pitchFamily="34" charset="-34"/>
                <a:cs typeface="CordiaUPC" panose="020B0304020202020204" pitchFamily="34" charset="-34"/>
              </a:rPr>
              <a:t>&lt;</a:t>
            </a:r>
            <a:r>
              <a:rPr lang="de-DE" kern="0" dirty="0" err="1">
                <a:latin typeface="CordiaUPC" panose="020B0304020202020204" pitchFamily="34" charset="-34"/>
                <a:cs typeface="CordiaUPC" panose="020B0304020202020204" pitchFamily="34" charset="-34"/>
              </a:rPr>
              <a:t>persons</a:t>
            </a:r>
            <a:r>
              <a:rPr lang="de-DE" kern="0" dirty="0">
                <a:latin typeface="CordiaUPC" panose="020B0304020202020204" pitchFamily="34" charset="-34"/>
                <a:cs typeface="CordiaUPC" panose="020B0304020202020204" pitchFamily="34" charset="-34"/>
              </a:rPr>
              <a:t>&gt;</a:t>
            </a:r>
            <a:endParaRPr lang="de-DE" kern="0" dirty="0">
              <a:latin typeface="CordiaUPC" panose="020B0304020202020204" pitchFamily="34" charset="-34"/>
              <a:cs typeface="CordiaUPC" panose="020B0304020202020204" pitchFamily="34" charset="-34"/>
            </a:endParaRPr>
          </a:p>
          <a:p>
            <a:pPr lvl="1" indent="0">
              <a:buFont typeface="Wingdings" panose="05000000000000000000" pitchFamily="2" charset="2"/>
              <a:buNone/>
            </a:pPr>
            <a:r>
              <a:rPr lang="de-DE" kern="0" dirty="0">
                <a:latin typeface="CordiaUPC" panose="020B0304020202020204" pitchFamily="34" charset="-34"/>
                <a:cs typeface="CordiaUPC" panose="020B0304020202020204" pitchFamily="34" charset="-34"/>
              </a:rPr>
              <a:t>      &lt;</a:t>
            </a:r>
            <a:r>
              <a:rPr lang="de-DE" kern="0" dirty="0" err="1">
                <a:latin typeface="CordiaUPC" panose="020B0304020202020204" pitchFamily="34" charset="-34"/>
                <a:cs typeface="CordiaUPC" panose="020B0304020202020204" pitchFamily="34" charset="-34"/>
              </a:rPr>
              <a:t>person</a:t>
            </a:r>
            <a:r>
              <a:rPr lang="de-DE" kern="0" dirty="0">
                <a:latin typeface="CordiaUPC" panose="020B0304020202020204" pitchFamily="34" charset="-34"/>
                <a:cs typeface="CordiaUPC" panose="020B0304020202020204" pitchFamily="34" charset="-34"/>
              </a:rPr>
              <a:t>&gt;     </a:t>
            </a:r>
            <a:endParaRPr lang="de-DE" kern="0" dirty="0">
              <a:latin typeface="CordiaUPC" panose="020B0304020202020204" pitchFamily="34" charset="-34"/>
              <a:cs typeface="CordiaUPC" panose="020B0304020202020204" pitchFamily="34" charset="-34"/>
            </a:endParaRPr>
          </a:p>
          <a:p>
            <a:pPr lvl="1" indent="0">
              <a:buFont typeface="Wingdings" panose="05000000000000000000" pitchFamily="2" charset="2"/>
              <a:buNone/>
            </a:pPr>
            <a:r>
              <a:rPr lang="de-DE" kern="0" dirty="0">
                <a:latin typeface="CordiaUPC" panose="020B0304020202020204" pitchFamily="34" charset="-34"/>
                <a:cs typeface="CordiaUPC" panose="020B0304020202020204" pitchFamily="34" charset="-34"/>
              </a:rPr>
              <a:t>      &lt;/</a:t>
            </a:r>
            <a:r>
              <a:rPr lang="de-DE" kern="0" dirty="0" err="1">
                <a:latin typeface="CordiaUPC" panose="020B0304020202020204" pitchFamily="34" charset="-34"/>
                <a:cs typeface="CordiaUPC" panose="020B0304020202020204" pitchFamily="34" charset="-34"/>
              </a:rPr>
              <a:t>person</a:t>
            </a:r>
            <a:r>
              <a:rPr lang="de-DE" kern="0" dirty="0">
                <a:latin typeface="CordiaUPC" panose="020B0304020202020204" pitchFamily="34" charset="-34"/>
                <a:cs typeface="CordiaUPC" panose="020B0304020202020204" pitchFamily="34" charset="-34"/>
              </a:rPr>
              <a:t>&gt;</a:t>
            </a:r>
            <a:endParaRPr lang="de-DE" kern="0" dirty="0">
              <a:latin typeface="CordiaUPC" panose="020B0304020202020204" pitchFamily="34" charset="-34"/>
              <a:cs typeface="CordiaUPC" panose="020B0304020202020204" pitchFamily="34" charset="-34"/>
            </a:endParaRPr>
          </a:p>
          <a:p>
            <a:pPr lvl="1" indent="0">
              <a:buFont typeface="Wingdings" panose="05000000000000000000" pitchFamily="2" charset="2"/>
              <a:buNone/>
            </a:pPr>
            <a:r>
              <a:rPr lang="de-DE" kern="0" dirty="0">
                <a:latin typeface="CordiaUPC" panose="020B0304020202020204" pitchFamily="34" charset="-34"/>
                <a:cs typeface="CordiaUPC" panose="020B0304020202020204" pitchFamily="34" charset="-34"/>
              </a:rPr>
              <a:t> &lt;/</a:t>
            </a:r>
            <a:r>
              <a:rPr lang="de-DE" kern="0" dirty="0" err="1">
                <a:latin typeface="CordiaUPC" panose="020B0304020202020204" pitchFamily="34" charset="-34"/>
                <a:cs typeface="CordiaUPC" panose="020B0304020202020204" pitchFamily="34" charset="-34"/>
              </a:rPr>
              <a:t>persons</a:t>
            </a:r>
            <a:r>
              <a:rPr lang="de-DE" kern="0" dirty="0">
                <a:latin typeface="CordiaUPC" panose="020B0304020202020204" pitchFamily="34" charset="-34"/>
                <a:cs typeface="CordiaUPC" panose="020B0304020202020204" pitchFamily="34" charset="-34"/>
              </a:rPr>
              <a:t>&gt;</a:t>
            </a:r>
            <a:endParaRPr lang="de-DE" kern="0" dirty="0">
              <a:latin typeface="CordiaUPC" panose="020B0304020202020204" pitchFamily="34" charset="-34"/>
              <a:cs typeface="CordiaUPC" panose="020B0304020202020204" pitchFamily="34" charset="-34"/>
            </a:endParaRPr>
          </a:p>
          <a:p>
            <a:pPr marL="471805" lvl="1" indent="-285750">
              <a:buFontTx/>
              <a:buChar char="-"/>
            </a:pPr>
            <a:endParaRPr lang="de-DE" i="1" kern="0" dirty="0"/>
          </a:p>
          <a:p>
            <a:endParaRPr lang="de-DE" kern="0" dirty="0"/>
          </a:p>
        </p:txBody>
      </p:sp>
      <p:sp>
        <p:nvSpPr>
          <p:cNvPr id="2" name="Geschweifte Klammer rechts 1"/>
          <p:cNvSpPr/>
          <p:nvPr/>
        </p:nvSpPr>
        <p:spPr bwMode="auto">
          <a:xfrm>
            <a:off x="5025008" y="2708920"/>
            <a:ext cx="648072" cy="2448272"/>
          </a:xfrm>
          <a:prstGeom prst="rightBrace">
            <a:avLst/>
          </a:prstGeom>
          <a:solidFill>
            <a:schemeClr val="bg1"/>
          </a:solidFill>
          <a:ln w="12700"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DB Office"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1676190" y="1700807"/>
            <a:ext cx="4752975" cy="4897437"/>
          </a:xfrm>
        </p:spPr>
        <p:txBody>
          <a:bodyPr/>
          <a:lstStyle/>
          <a:p>
            <a:r>
              <a:rPr lang="en-US" sz="1800" b="1" dirty="0"/>
              <a:t>Vocabulary of a </a:t>
            </a:r>
            <a:r>
              <a:rPr lang="en-US" sz="1800" b="1" dirty="0" err="1"/>
              <a:t>xsl</a:t>
            </a:r>
            <a:endParaRPr lang="en-US" sz="1800" b="1" dirty="0"/>
          </a:p>
          <a:p>
            <a:pPr marL="471805" lvl="1" indent="-285750"/>
            <a:r>
              <a:rPr lang="de-DE" sz="2000" dirty="0">
                <a:latin typeface="CordiaUPC" panose="020B0304020202020204" pitchFamily="34" charset="-34"/>
                <a:cs typeface="CordiaUPC" panose="020B0304020202020204" pitchFamily="34" charset="-34"/>
              </a:rPr>
              <a:t>Core</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xsl:element</a:t>
            </a:r>
            <a:r>
              <a:rPr lang="de-DE" sz="2000" dirty="0">
                <a:latin typeface="CordiaUPC" panose="020B0304020202020204" pitchFamily="34" charset="-34"/>
                <a:cs typeface="CordiaUPC" panose="020B0304020202020204" pitchFamily="34" charset="-34"/>
              </a:rPr>
              <a:t>	</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xsl:attribute</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xsl:text</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xsl:value-of</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xsl:variable</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xsl:copy</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xsl:decimal-format</a:t>
            </a:r>
            <a:endParaRPr lang="de-DE" sz="2000" dirty="0">
              <a:latin typeface="CordiaUPC" panose="020B0304020202020204" pitchFamily="34" charset="-34"/>
              <a:cs typeface="CordiaUPC" panose="020B0304020202020204" pitchFamily="34" charset="-34"/>
            </a:endParaRPr>
          </a:p>
          <a:p>
            <a:pPr marL="471805" lvl="1" indent="-285750"/>
            <a:r>
              <a:rPr lang="de-DE" sz="2000" dirty="0">
                <a:latin typeface="CordiaUPC" panose="020B0304020202020204" pitchFamily="34" charset="-34"/>
                <a:cs typeface="CordiaUPC" panose="020B0304020202020204" pitchFamily="34" charset="-34"/>
              </a:rPr>
              <a:t>Loop</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xsl:for-each</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xsl:sort</a:t>
            </a:r>
            <a:endParaRPr lang="de-DE" sz="2000" dirty="0">
              <a:latin typeface="CordiaUPC" panose="020B0304020202020204" pitchFamily="34" charset="-34"/>
              <a:cs typeface="CordiaUPC" panose="020B0304020202020204" pitchFamily="34" charset="-34"/>
            </a:endParaRPr>
          </a:p>
          <a:p>
            <a:pPr marL="644525" lvl="2" indent="-285750"/>
            <a:endParaRPr lang="de-DE" sz="2000" dirty="0">
              <a:latin typeface="CordiaUPC" panose="020B0304020202020204" pitchFamily="34" charset="-34"/>
              <a:cs typeface="CordiaUPC" panose="020B0304020202020204" pitchFamily="34" charset="-34"/>
            </a:endParaRPr>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
        <p:nvSpPr>
          <p:cNvPr id="6" name="Textplatzhalter 15"/>
          <p:cNvSpPr txBox="1"/>
          <p:nvPr/>
        </p:nvSpPr>
        <p:spPr bwMode="auto">
          <a:xfrm>
            <a:off x="4736976" y="1699915"/>
            <a:ext cx="2952328"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pPr marL="644525" lvl="2" indent="-285750"/>
            <a:endParaRPr lang="de-DE" sz="2000" dirty="0">
              <a:latin typeface="CordiaUPC" panose="020B0304020202020204" pitchFamily="34" charset="-34"/>
              <a:cs typeface="CordiaUPC" panose="020B0304020202020204" pitchFamily="34" charset="-34"/>
            </a:endParaRPr>
          </a:p>
          <a:p>
            <a:pPr marL="471805" lvl="1" indent="-285750"/>
            <a:r>
              <a:rPr lang="de-DE" sz="2000" dirty="0" err="1">
                <a:latin typeface="CordiaUPC" panose="020B0304020202020204" pitchFamily="34" charset="-34"/>
                <a:cs typeface="CordiaUPC" panose="020B0304020202020204" pitchFamily="34" charset="-34"/>
              </a:rPr>
              <a:t>Branching</a:t>
            </a:r>
            <a:endParaRPr lang="de-DE" sz="200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xsl:if</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xsl:choose</a:t>
            </a:r>
            <a:endParaRPr lang="de-DE" sz="2000" kern="0" dirty="0">
              <a:latin typeface="CordiaUPC" panose="020B0304020202020204" pitchFamily="34" charset="-34"/>
              <a:cs typeface="CordiaUPC" panose="020B0304020202020204" pitchFamily="34" charset="-34"/>
            </a:endParaRPr>
          </a:p>
          <a:p>
            <a:pPr marL="471805" lvl="1" indent="-285750"/>
            <a:r>
              <a:rPr lang="de-DE" sz="2000" kern="0" dirty="0">
                <a:latin typeface="CordiaUPC" panose="020B0304020202020204" pitchFamily="34" charset="-34"/>
                <a:cs typeface="CordiaUPC" panose="020B0304020202020204" pitchFamily="34" charset="-34"/>
              </a:rPr>
              <a:t>Import</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xsl:import</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xsl:include</a:t>
            </a:r>
            <a:endParaRPr lang="de-DE" sz="2000" kern="0" dirty="0">
              <a:latin typeface="CordiaUPC" panose="020B0304020202020204" pitchFamily="34" charset="-34"/>
              <a:cs typeface="CordiaUPC" panose="020B0304020202020204" pitchFamily="34" charset="-34"/>
            </a:endParaRPr>
          </a:p>
          <a:p>
            <a:pPr marL="471805" lvl="1" indent="-285750"/>
            <a:r>
              <a:rPr lang="de-DE" sz="2000" kern="0" dirty="0">
                <a:latin typeface="CordiaUPC" panose="020B0304020202020204" pitchFamily="34" charset="-34"/>
                <a:cs typeface="CordiaUPC" panose="020B0304020202020204" pitchFamily="34" charset="-34"/>
              </a:rPr>
              <a:t>Templates</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xsl:template</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xsl:param</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xsl:apply-templates</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xsl:call-templates</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xsl:with-param</a:t>
            </a:r>
            <a:endParaRPr lang="de-DE" sz="2000" kern="0" dirty="0">
              <a:latin typeface="CordiaUPC" panose="020B0304020202020204" pitchFamily="34" charset="-34"/>
              <a:cs typeface="CordiaUPC" panose="020B0304020202020204" pitchFamily="34" charset="-34"/>
            </a:endParaRPr>
          </a:p>
          <a:p>
            <a:pPr marL="644525" lvl="2" indent="-285750"/>
            <a:endParaRPr lang="de-DE" kern="0" dirty="0">
              <a:latin typeface="CordiaUPC" panose="020B0304020202020204" pitchFamily="34" charset="-34"/>
              <a:cs typeface="CordiaUPC" panose="020B0304020202020204" pitchFamily="34" charset="-34"/>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Core:</a:t>
            </a:r>
            <a:r>
              <a:rPr lang="de-DE" dirty="0">
                <a:latin typeface="CordiaUPC" panose="020B0304020202020204" pitchFamily="34" charset="-34"/>
                <a:cs typeface="CordiaUPC" panose="020B0304020202020204" pitchFamily="34" charset="-34"/>
              </a:rPr>
              <a:t>:</a:t>
            </a:r>
            <a:endParaRPr lang="de-DE"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a:t>
            </a:r>
            <a:endParaRPr lang="de-DE" sz="1400"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rPr>
              <a:t>An </a:t>
            </a:r>
            <a:r>
              <a:rPr lang="de-DE" sz="1400" dirty="0" err="1">
                <a:latin typeface="CordiaUPC" panose="020B0304020202020204" pitchFamily="34" charset="-34"/>
                <a:cs typeface="CordiaUPC" panose="020B0304020202020204" pitchFamily="34" charset="-34"/>
              </a:rPr>
              <a:t>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created</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by</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two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ways</a:t>
            </a:r>
            <a:r>
              <a:rPr lang="de-DE" sz="1400" dirty="0">
                <a:latin typeface="CordiaUPC" panose="020B0304020202020204" pitchFamily="34" charset="-34"/>
                <a:cs typeface="CordiaUPC" panose="020B0304020202020204" pitchFamily="34" charset="-34"/>
              </a:rPr>
              <a: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1: </a:t>
            </a:r>
            <a:r>
              <a:rPr lang="de-DE" sz="1400" dirty="0" err="1">
                <a:latin typeface="CordiaUPC" panose="020B0304020202020204" pitchFamily="34" charset="-34"/>
                <a:cs typeface="CordiaUPC" panose="020B0304020202020204" pitchFamily="34" charset="-34"/>
              </a:rPr>
              <a:t>use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as</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known</a:t>
            </a:r>
            <a:r>
              <a:rPr lang="de-DE" sz="1400" dirty="0">
                <a:latin typeface="CordiaUPC" panose="020B0304020202020204" pitchFamily="34" charset="-34"/>
                <a:cs typeface="CordiaUPC" panose="020B0304020202020204" pitchFamily="34" charset="-34"/>
              </a:rPr>
              <a:t> in </a:t>
            </a:r>
            <a:r>
              <a:rPr lang="de-DE" sz="1400" dirty="0" err="1">
                <a:latin typeface="CordiaUPC" panose="020B0304020202020204" pitchFamily="34" charset="-34"/>
                <a:cs typeface="CordiaUPC" panose="020B0304020202020204" pitchFamily="34" charset="-34"/>
              </a:rPr>
              <a:t>xml</a:t>
            </a:r>
            <a:r>
              <a:rPr lang="de-DE" sz="1400" dirty="0">
                <a:latin typeface="CordiaUPC" panose="020B0304020202020204" pitchFamily="34" charset="-34"/>
                <a:cs typeface="CordiaUPC" panose="020B0304020202020204" pitchFamily="34" charset="-34"/>
              </a:rPr>
              <a: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element</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endParaRPr lang="de-DE" sz="1400"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 :</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“/&gt;This </a:t>
            </a:r>
            <a:r>
              <a:rPr lang="de-DE" sz="1400" dirty="0" err="1">
                <a:latin typeface="CordiaUPC" panose="020B0304020202020204" pitchFamily="34" charset="-34"/>
                <a:cs typeface="CordiaUPC" panose="020B0304020202020204" pitchFamily="34" charset="-34"/>
              </a:rPr>
              <a:t>is</a:t>
            </a:r>
            <a:r>
              <a:rPr lang="de-DE" sz="1400" dirty="0">
                <a:latin typeface="CordiaUPC" panose="020B0304020202020204" pitchFamily="34" charset="-34"/>
                <a:cs typeface="CordiaUPC" panose="020B0304020202020204" pitchFamily="34" charset="-34"/>
              </a:rPr>
              <a:t> a simple </a:t>
            </a:r>
            <a:r>
              <a:rPr lang="de-DE" sz="1400" dirty="0" err="1">
                <a:latin typeface="CordiaUPC" panose="020B0304020202020204" pitchFamily="34" charset="-34"/>
                <a:cs typeface="CordiaUPC" panose="020B0304020202020204" pitchFamily="34" charset="-34"/>
              </a:rPr>
              <a:t>element</a:t>
            </a: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&gt;</a:t>
            </a:r>
            <a:endParaRPr lang="de-DE" sz="1400"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element</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r>
              <a:rPr lang="de-DE" sz="1400" dirty="0">
                <a:latin typeface="CordiaUPC" panose="020B0304020202020204" pitchFamily="34" charset="-34"/>
                <a:cs typeface="CordiaUPC" panose="020B0304020202020204" pitchFamily="34" charset="-34"/>
              </a:rPr>
              <a:t>	</a:t>
            </a:r>
            <a:endParaRPr lang="de-DE" sz="1400"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xsl:attribute</a:t>
            </a:r>
            <a:endParaRPr lang="de-DE" sz="1400" b="1"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     &lt;</a:t>
            </a:r>
            <a:r>
              <a:rPr lang="de-DE" sz="1400" dirty="0" err="1">
                <a:latin typeface="CordiaUPC" panose="020B0304020202020204" pitchFamily="34" charset="-34"/>
                <a:cs typeface="CordiaUPC" panose="020B0304020202020204" pitchFamily="34" charset="-34"/>
              </a:rPr>
              <a:t>xsl:attribute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=„attrib1“&gt;This </a:t>
            </a:r>
            <a:r>
              <a:rPr lang="de-DE" sz="1400" dirty="0" err="1">
                <a:latin typeface="CordiaUPC" panose="020B0304020202020204" pitchFamily="34" charset="-34"/>
                <a:cs typeface="CordiaUPC" panose="020B0304020202020204" pitchFamily="34" charset="-34"/>
              </a:rPr>
              <a:t>is</a:t>
            </a:r>
            <a:r>
              <a:rPr lang="de-DE" sz="1400" dirty="0">
                <a:latin typeface="CordiaUPC" panose="020B0304020202020204" pitchFamily="34" charset="-34"/>
                <a:cs typeface="CordiaUPC" panose="020B0304020202020204" pitchFamily="34" charset="-34"/>
              </a:rPr>
              <a:t> a simple </a:t>
            </a:r>
            <a:r>
              <a:rPr lang="de-DE" sz="1400" dirty="0" err="1">
                <a:latin typeface="CordiaUPC" panose="020B0304020202020204" pitchFamily="34" charset="-34"/>
                <a:cs typeface="CordiaUPC" panose="020B0304020202020204" pitchFamily="34" charset="-34"/>
              </a:rPr>
              <a:t>attribute</a:t>
            </a: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xsl:attribute</a:t>
            </a:r>
            <a:r>
              <a:rPr lang="de-DE" sz="1400" dirty="0">
                <a:latin typeface="CordiaUPC" panose="020B0304020202020204" pitchFamily="34" charset="-34"/>
                <a:cs typeface="CordiaUPC" panose="020B0304020202020204" pitchFamily="34" charset="-34"/>
              </a:rPr>
              <a:t>&gt;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     This </a:t>
            </a:r>
            <a:r>
              <a:rPr lang="de-DE" sz="1400" dirty="0" err="1">
                <a:latin typeface="CordiaUPC" panose="020B0304020202020204" pitchFamily="34" charset="-34"/>
                <a:cs typeface="CordiaUPC" panose="020B0304020202020204" pitchFamily="34" charset="-34"/>
              </a:rPr>
              <a:t>is</a:t>
            </a:r>
            <a:r>
              <a:rPr lang="de-DE" sz="1400" dirty="0">
                <a:latin typeface="CordiaUPC" panose="020B0304020202020204" pitchFamily="34" charset="-34"/>
                <a:cs typeface="CordiaUPC" panose="020B0304020202020204" pitchFamily="34" charset="-34"/>
              </a:rPr>
              <a:t> a simple </a:t>
            </a:r>
            <a:r>
              <a:rPr lang="de-DE" sz="1400" dirty="0" err="1">
                <a:latin typeface="CordiaUPC" panose="020B0304020202020204" pitchFamily="34" charset="-34"/>
                <a:cs typeface="CordiaUPC" panose="020B0304020202020204" pitchFamily="34" charset="-34"/>
              </a:rPr>
              <a:t>element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&gt;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 attrib1=„This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attribute</a:t>
            </a:r>
            <a:r>
              <a:rPr lang="de-DE" sz="1400" dirty="0">
                <a:latin typeface="CordiaUPC" panose="020B0304020202020204" pitchFamily="34" charset="-34"/>
                <a:cs typeface="CordiaUPC" panose="020B0304020202020204" pitchFamily="34" charset="-34"/>
                <a:sym typeface="Wingdings" panose="05000000000000000000" pitchFamily="2" charset="2"/>
              </a:rPr>
              <a:t>“&gt;This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element</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endParaRPr lang="de-DE" sz="1400"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xsl:text</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Needful</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for</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example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create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merged</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elements</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 + </a:t>
            </a:r>
            <a:r>
              <a:rPr lang="de-DE" sz="1400" dirty="0" err="1">
                <a:latin typeface="CordiaUPC" panose="020B0304020202020204" pitchFamily="34" charset="-34"/>
                <a:cs typeface="CordiaUPC" panose="020B0304020202020204" pitchFamily="34" charset="-34"/>
              </a:rPr>
              <a:t>surname</a:t>
            </a:r>
            <a:r>
              <a:rPr lang="de-DE" sz="1400" dirty="0">
                <a:latin typeface="CordiaUPC" panose="020B0304020202020204" pitchFamily="34" charset="-34"/>
                <a:cs typeface="CordiaUPC" panose="020B0304020202020204" pitchFamily="34" charset="-34"/>
              </a:rPr>
              <a:t>=&gt;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one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field</a:t>
            </a:r>
            <a:r>
              <a:rPr lang="de-DE" sz="1400" dirty="0">
                <a:latin typeface="CordiaUPC" panose="020B0304020202020204" pitchFamily="34" charset="-34"/>
                <a:cs typeface="CordiaUPC" panose="020B0304020202020204" pitchFamily="34" charset="-34"/>
              </a:rPr>
              <a:t>:</a:t>
            </a:r>
            <a:endParaRPr lang="de-DE" sz="1400"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rPr>
              <a:t> &lt;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 &lt;/</a:t>
            </a:r>
            <a:r>
              <a:rPr lang="de-DE" sz="1400" dirty="0" err="1">
                <a:latin typeface="CordiaUPC" panose="020B0304020202020204" pitchFamily="34" charset="-34"/>
                <a:cs typeface="CordiaUPC" panose="020B0304020202020204" pitchFamily="34" charset="-34"/>
              </a:rPr>
              <a:t>xsl:text</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surname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PeterSchmitz</a:t>
            </a:r>
            <a:endParaRPr lang="de-DE" sz="1400" i="1" dirty="0"/>
          </a:p>
          <a:p>
            <a:pPr lvl="3" indent="0">
              <a:buNone/>
            </a:pPr>
            <a:r>
              <a:rPr lang="de-DE" sz="1400" dirty="0">
                <a:latin typeface="CordiaUPC" panose="020B0304020202020204" pitchFamily="34" charset="-34"/>
                <a:cs typeface="CordiaUPC" panose="020B0304020202020204" pitchFamily="34" charset="-34"/>
              </a:rPr>
              <a:t> &lt;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xsl:text</a:t>
            </a:r>
            <a:r>
              <a:rPr lang="de-DE" sz="1400" dirty="0">
                <a:latin typeface="CordiaUPC" panose="020B0304020202020204" pitchFamily="34" charset="-34"/>
                <a:cs typeface="CordiaUPC" panose="020B0304020202020204" pitchFamily="34" charset="-34"/>
              </a:rPr>
              <a:t>&gt; &lt;/</a:t>
            </a:r>
            <a:r>
              <a:rPr lang="de-DE" sz="1400" dirty="0" err="1">
                <a:latin typeface="CordiaUPC" panose="020B0304020202020204" pitchFamily="34" charset="-34"/>
                <a:cs typeface="CordiaUPC" panose="020B0304020202020204" pitchFamily="34" charset="-34"/>
              </a:rPr>
              <a:t>xsl:text</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surname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a:t>
            </a:r>
            <a:r>
              <a:rPr lang="de-DE" sz="1400" dirty="0">
                <a:latin typeface="CordiaUPC" panose="020B0304020202020204" pitchFamily="34" charset="-34"/>
                <a:cs typeface="CordiaUPC" panose="020B0304020202020204" pitchFamily="34" charset="-34"/>
                <a:sym typeface="Wingdings" panose="05000000000000000000" pitchFamily="2" charset="2"/>
              </a:rPr>
              <a:t> Peter Schmitz</a:t>
            </a:r>
            <a:endParaRPr lang="de-DE" sz="1400"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99915"/>
            <a:ext cx="9505950" cy="4897437"/>
          </a:xfrm>
        </p:spPr>
        <p:txBody>
          <a:bodyPr/>
          <a:lstStyle/>
          <a:p>
            <a:r>
              <a:rPr lang="en-US" sz="1800" b="1" dirty="0"/>
              <a:t>Core:</a:t>
            </a:r>
            <a:r>
              <a:rPr lang="de-DE" dirty="0">
                <a:latin typeface="CordiaUPC" panose="020B0304020202020204" pitchFamily="34" charset="-34"/>
                <a:cs typeface="CordiaUPC" panose="020B0304020202020204" pitchFamily="34" charset="-34"/>
              </a:rPr>
              <a:t>:</a:t>
            </a:r>
            <a:endParaRPr lang="de-DE"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xsl:value-of</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Copy</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value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of</a:t>
            </a:r>
            <a:r>
              <a:rPr lang="de-DE" sz="1400" dirty="0">
                <a:latin typeface="CordiaUPC" panose="020B0304020202020204" pitchFamily="34" charset="-34"/>
                <a:cs typeface="CordiaUPC" panose="020B0304020202020204" pitchFamily="34" charset="-34"/>
              </a:rPr>
              <a:t> an </a:t>
            </a:r>
            <a:r>
              <a:rPr lang="de-DE" sz="1400" dirty="0" err="1">
                <a:latin typeface="CordiaUPC" panose="020B0304020202020204" pitchFamily="34" charset="-34"/>
                <a:cs typeface="CordiaUPC" panose="020B0304020202020204" pitchFamily="34" charset="-34"/>
              </a:rPr>
              <a:t>Xpath</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expression</a:t>
            </a:r>
            <a:r>
              <a:rPr lang="de-DE" sz="1400" dirty="0">
                <a:latin typeface="CordiaUPC" panose="020B0304020202020204" pitchFamily="34" charset="-34"/>
                <a:cs typeface="CordiaUPC" panose="020B0304020202020204" pitchFamily="34" charset="-34"/>
              </a:rPr>
              <a: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xpath_expression</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a:t>
            </a:r>
            <a:endParaRPr lang="de-DE" sz="1400"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r>
              <a:rPr lang="de-DE" sz="1400" dirty="0" err="1">
                <a:latin typeface="CordiaUPC" panose="020B0304020202020204" pitchFamily="34" charset="-34"/>
                <a:cs typeface="CordiaUPC" panose="020B0304020202020204" pitchFamily="34" charset="-34"/>
                <a:sym typeface="Wingdings" panose="05000000000000000000" pitchFamily="2" charset="2"/>
              </a:rPr>
              <a:t>value</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of</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expression</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endParaRPr lang="de-DE" sz="1400"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xsl:variable</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Assign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value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 variable </a:t>
            </a:r>
            <a:r>
              <a:rPr lang="de-DE" sz="1400" dirty="0" err="1">
                <a:latin typeface="CordiaUPC" panose="020B0304020202020204" pitchFamily="34" charset="-34"/>
                <a:cs typeface="CordiaUPC" panose="020B0304020202020204" pitchFamily="34" charset="-34"/>
              </a:rPr>
              <a:t>which</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used</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through</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parser</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runtime</a:t>
            </a:r>
            <a:r>
              <a:rPr lang="de-DE" sz="1400" dirty="0">
                <a:latin typeface="CordiaUPC" panose="020B0304020202020204" pitchFamily="34" charset="-34"/>
                <a:cs typeface="CordiaUPC" panose="020B0304020202020204" pitchFamily="34" charset="-34"/>
              </a:rPr>
              <a:t>.</a:t>
            </a:r>
            <a:endParaRPr lang="de-DE" sz="1400"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rPr>
              <a:t>Variables </a:t>
            </a:r>
            <a:r>
              <a:rPr lang="de-DE" sz="1400" dirty="0" err="1">
                <a:latin typeface="CordiaUPC" panose="020B0304020202020204" pitchFamily="34" charset="-34"/>
                <a:cs typeface="CordiaUPC" panose="020B0304020202020204" pitchFamily="34" charset="-34"/>
              </a:rPr>
              <a:t>can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only</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bound</a:t>
            </a:r>
            <a:r>
              <a:rPr lang="de-DE" sz="1400" dirty="0">
                <a:latin typeface="CordiaUPC" panose="020B0304020202020204" pitchFamily="34" charset="-34"/>
                <a:cs typeface="CordiaUPC" panose="020B0304020202020204" pitchFamily="34" charset="-34"/>
              </a:rPr>
              <a:t> at </a:t>
            </a:r>
            <a:r>
              <a:rPr lang="de-DE" sz="1400" dirty="0" err="1">
                <a:latin typeface="CordiaUPC" panose="020B0304020202020204" pitchFamily="34" charset="-34"/>
                <a:cs typeface="CordiaUPC" panose="020B0304020202020204" pitchFamily="34" charset="-34"/>
              </a:rPr>
              <a:t>one</a:t>
            </a:r>
            <a:r>
              <a:rPr lang="de-DE" sz="1400" dirty="0">
                <a:latin typeface="CordiaUPC" panose="020B0304020202020204" pitchFamily="34" charset="-34"/>
                <a:cs typeface="CordiaUPC" panose="020B0304020202020204" pitchFamily="34" charset="-34"/>
              </a:rPr>
              <a:t> time</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xsl:variable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=„variable1“&gt;</a:t>
            </a:r>
            <a:r>
              <a:rPr lang="de-DE" sz="1400" dirty="0" err="1">
                <a:latin typeface="CordiaUPC" panose="020B0304020202020204" pitchFamily="34" charset="-34"/>
                <a:cs typeface="CordiaUPC" panose="020B0304020202020204" pitchFamily="34" charset="-34"/>
              </a:rPr>
              <a:t>content_of_variable</a:t>
            </a: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xsl:variable</a:t>
            </a:r>
            <a:r>
              <a:rPr lang="de-DE" sz="1400" dirty="0">
                <a:latin typeface="CordiaUPC" panose="020B0304020202020204" pitchFamily="34" charset="-34"/>
                <a:cs typeface="CordiaUPC" panose="020B0304020202020204" pitchFamily="34" charset="-34"/>
              </a:rPr>
              <a:t>&gt;</a:t>
            </a:r>
            <a:endParaRPr lang="de-DE" sz="1400"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Can </a:t>
            </a:r>
            <a:r>
              <a:rPr lang="de-DE" sz="1400" dirty="0" err="1">
                <a:latin typeface="CordiaUPC" panose="020B0304020202020204" pitchFamily="34" charset="-34"/>
                <a:cs typeface="CordiaUPC" panose="020B0304020202020204" pitchFamily="34" charset="-34"/>
                <a:sym typeface="Wingdings" panose="05000000000000000000" pitchFamily="2" charset="2"/>
              </a:rPr>
              <a:t>be</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accessed</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by</a:t>
            </a:r>
            <a:r>
              <a:rPr lang="de-DE" sz="1400" dirty="0">
                <a:latin typeface="CordiaUPC" panose="020B0304020202020204" pitchFamily="34" charset="-34"/>
                <a:cs typeface="CordiaUPC" panose="020B0304020202020204" pitchFamily="34" charset="-34"/>
                <a:sym typeface="Wingdings" panose="05000000000000000000" pitchFamily="2" charset="2"/>
              </a:rPr>
              <a:t> $variable1</a:t>
            </a:r>
            <a:endParaRPr lang="de-DE" sz="1400" dirty="0">
              <a:latin typeface="CordiaUPC" panose="020B0304020202020204" pitchFamily="34" charset="-34"/>
              <a:cs typeface="CordiaUPC" panose="020B0304020202020204" pitchFamily="34" charset="-34"/>
            </a:endParaRPr>
          </a:p>
          <a:p>
            <a:pPr marL="471805" lvl="1" indent="-285750"/>
            <a:r>
              <a:rPr lang="de-DE" sz="1400" b="1" dirty="0" err="1">
                <a:latin typeface="CordiaUPC" panose="020B0304020202020204" pitchFamily="34" charset="-34"/>
                <a:cs typeface="CordiaUPC" panose="020B0304020202020204" pitchFamily="34" charset="-34"/>
              </a:rPr>
              <a:t>xsl:copy-of</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Copies</a:t>
            </a:r>
            <a:r>
              <a:rPr lang="de-DE" sz="1400" dirty="0">
                <a:latin typeface="CordiaUPC" panose="020B0304020202020204" pitchFamily="34" charset="-34"/>
                <a:cs typeface="CordiaUPC" panose="020B0304020202020204" pitchFamily="34" charset="-34"/>
              </a:rPr>
              <a:t> a </a:t>
            </a:r>
            <a:r>
              <a:rPr lang="de-DE" sz="1400" dirty="0" err="1">
                <a:latin typeface="CordiaUPC" panose="020B0304020202020204" pitchFamily="34" charset="-34"/>
                <a:cs typeface="CordiaUPC" panose="020B0304020202020204" pitchFamily="34" charset="-34"/>
              </a:rPr>
              <a:t>whole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amount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elements</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result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tree</a:t>
            </a:r>
            <a:endParaRPr lang="de-DE" sz="1400" dirty="0">
              <a:latin typeface="CordiaUPC" panose="020B0304020202020204" pitchFamily="34" charset="-34"/>
              <a:cs typeface="CordiaUPC" panose="020B0304020202020204" pitchFamily="34" charset="-34"/>
            </a:endParaRPr>
          </a:p>
          <a:p>
            <a:pPr marL="471805" lvl="1" indent="-285750"/>
            <a:r>
              <a:rPr lang="de-DE" sz="1400" b="1" dirty="0">
                <a:latin typeface="CordiaUPC" panose="020B0304020202020204" pitchFamily="34" charset="-34"/>
                <a:cs typeface="CordiaUPC" panose="020B0304020202020204" pitchFamily="34" charset="-34"/>
              </a:rPr>
              <a:t>format-</a:t>
            </a:r>
            <a:r>
              <a:rPr lang="de-DE" sz="1400" b="1" dirty="0" err="1">
                <a:latin typeface="CordiaUPC" panose="020B0304020202020204" pitchFamily="34" charset="-34"/>
                <a:cs typeface="CordiaUPC" panose="020B0304020202020204" pitchFamily="34" charset="-34"/>
              </a:rPr>
              <a:t>number</a:t>
            </a:r>
            <a:endParaRPr lang="de-DE" sz="1400" b="1" dirty="0">
              <a:latin typeface="CordiaUPC" panose="020B0304020202020204" pitchFamily="34" charset="-34"/>
              <a:cs typeface="CordiaUPC" panose="020B0304020202020204" pitchFamily="34" charset="-34"/>
            </a:endParaRPr>
          </a:p>
          <a:p>
            <a:pPr marL="830580" lvl="3" indent="-285750"/>
            <a:r>
              <a:rPr lang="en-US" sz="1400" dirty="0">
                <a:latin typeface="CordiaUPC" panose="020B0304020202020204" pitchFamily="34" charset="-34"/>
                <a:cs typeface="CordiaUPC" panose="020B0304020202020204" pitchFamily="34" charset="-34"/>
              </a:rPr>
              <a:t>&lt;</a:t>
            </a:r>
            <a:r>
              <a:rPr lang="en-US" sz="1400" dirty="0" err="1">
                <a:latin typeface="CordiaUPC" panose="020B0304020202020204" pitchFamily="34" charset="-34"/>
                <a:cs typeface="CordiaUPC" panose="020B0304020202020204" pitchFamily="34" charset="-34"/>
              </a:rPr>
              <a:t>xsl:value-of</a:t>
            </a:r>
            <a:r>
              <a:rPr lang="en-US" sz="1400" dirty="0">
                <a:latin typeface="CordiaUPC" panose="020B0304020202020204" pitchFamily="34" charset="-34"/>
                <a:cs typeface="CordiaUPC" panose="020B0304020202020204" pitchFamily="34" charset="-34"/>
              </a:rPr>
              <a:t> select="format-number(26825.8, '#,###.00')"/&gt; </a:t>
            </a:r>
            <a:r>
              <a:rPr lang="en-US"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a:t>26</a:t>
            </a:r>
            <a:r>
              <a:rPr lang="de-DE" sz="1400" dirty="0">
                <a:solidFill>
                  <a:srgbClr val="FF0000"/>
                </a:solidFill>
              </a:rPr>
              <a:t>,</a:t>
            </a:r>
            <a:r>
              <a:rPr lang="de-DE" sz="1400" dirty="0"/>
              <a:t>825</a:t>
            </a:r>
            <a:r>
              <a:rPr lang="de-DE" sz="1400" dirty="0">
                <a:solidFill>
                  <a:srgbClr val="FF0000"/>
                </a:solidFill>
              </a:rPr>
              <a:t>.</a:t>
            </a:r>
            <a:r>
              <a:rPr lang="de-DE" sz="1400" dirty="0"/>
              <a:t>80 </a:t>
            </a:r>
            <a:endParaRPr lang="de-DE" sz="1400" dirty="0"/>
          </a:p>
          <a:p>
            <a:pPr marL="830580" lvl="3" indent="-285750"/>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xsl:decimal-format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european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decimal</a:t>
            </a:r>
            <a:r>
              <a:rPr lang="de-DE" sz="1400" dirty="0">
                <a:latin typeface="CordiaUPC" panose="020B0304020202020204" pitchFamily="34" charset="-34"/>
                <a:cs typeface="CordiaUPC" panose="020B0304020202020204" pitchFamily="34" charset="-34"/>
              </a:rPr>
              <a:t>-separator=',' </a:t>
            </a:r>
            <a:r>
              <a:rPr lang="de-DE" sz="1400" dirty="0" err="1">
                <a:latin typeface="CordiaUPC" panose="020B0304020202020204" pitchFamily="34" charset="-34"/>
                <a:cs typeface="CordiaUPC" panose="020B0304020202020204" pitchFamily="34" charset="-34"/>
              </a:rPr>
              <a:t>grouping</a:t>
            </a:r>
            <a:r>
              <a:rPr lang="de-DE" sz="1400" dirty="0">
                <a:latin typeface="CordiaUPC" panose="020B0304020202020204" pitchFamily="34" charset="-34"/>
                <a:cs typeface="CordiaUPC" panose="020B0304020202020204" pitchFamily="34" charset="-34"/>
              </a:rPr>
              <a:t>-separator='.' /&gt; </a:t>
            </a:r>
            <a:br>
              <a:rPr lang="de-DE" sz="1400" dirty="0">
                <a:latin typeface="CordiaUPC" panose="020B0304020202020204" pitchFamily="34" charset="-34"/>
                <a:cs typeface="CordiaUPC" panose="020B0304020202020204" pitchFamily="34" charset="-34"/>
              </a:rPr>
            </a:br>
            <a:r>
              <a:rPr lang="en-US" sz="1400" dirty="0">
                <a:latin typeface="CordiaUPC" panose="020B0304020202020204" pitchFamily="34" charset="-34"/>
                <a:cs typeface="CordiaUPC" panose="020B0304020202020204" pitchFamily="34" charset="-34"/>
              </a:rPr>
              <a:t>&lt;</a:t>
            </a:r>
            <a:r>
              <a:rPr lang="en-US" sz="1400" dirty="0" err="1">
                <a:latin typeface="CordiaUPC" panose="020B0304020202020204" pitchFamily="34" charset="-34"/>
                <a:cs typeface="CordiaUPC" panose="020B0304020202020204" pitchFamily="34" charset="-34"/>
              </a:rPr>
              <a:t>xsl:value-of</a:t>
            </a:r>
            <a:r>
              <a:rPr lang="en-US" sz="1400" dirty="0">
                <a:latin typeface="CordiaUPC" panose="020B0304020202020204" pitchFamily="34" charset="-34"/>
                <a:cs typeface="CordiaUPC" panose="020B0304020202020204" pitchFamily="34" charset="-34"/>
              </a:rPr>
              <a:t> select="format-number(26825.8,'###.###,00;(###.###,00)', '</a:t>
            </a:r>
            <a:r>
              <a:rPr lang="en-US" sz="1400" dirty="0" err="1">
                <a:latin typeface="CordiaUPC" panose="020B0304020202020204" pitchFamily="34" charset="-34"/>
                <a:cs typeface="CordiaUPC" panose="020B0304020202020204" pitchFamily="34" charset="-34"/>
              </a:rPr>
              <a:t>european</a:t>
            </a:r>
            <a:r>
              <a:rPr lang="en-US" sz="1400" dirty="0">
                <a:latin typeface="CordiaUPC" panose="020B0304020202020204" pitchFamily="34" charset="-34"/>
                <a:cs typeface="CordiaUPC" panose="020B0304020202020204" pitchFamily="34" charset="-34"/>
              </a:rPr>
              <a:t>')"/&gt; </a:t>
            </a:r>
            <a:r>
              <a:rPr lang="en-US"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a:t>26</a:t>
            </a:r>
            <a:r>
              <a:rPr lang="de-DE" sz="1400" dirty="0">
                <a:solidFill>
                  <a:srgbClr val="FF0000"/>
                </a:solidFill>
              </a:rPr>
              <a:t>.</a:t>
            </a:r>
            <a:r>
              <a:rPr lang="de-DE" sz="1400" dirty="0"/>
              <a:t>825</a:t>
            </a:r>
            <a:r>
              <a:rPr lang="de-DE" sz="1400" dirty="0">
                <a:solidFill>
                  <a:srgbClr val="FF0000"/>
                </a:solidFill>
              </a:rPr>
              <a:t>,</a:t>
            </a:r>
            <a:r>
              <a:rPr lang="de-DE" sz="1400" dirty="0"/>
              <a:t>80</a:t>
            </a:r>
            <a:endParaRPr lang="de-DE" sz="1400"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Loop</a:t>
            </a:r>
            <a:endParaRPr lang="de-DE" dirty="0">
              <a:latin typeface="CordiaUPC" panose="020B0304020202020204" pitchFamily="34" charset="-34"/>
              <a:cs typeface="CordiaUPC" panose="020B0304020202020204" pitchFamily="34" charset="-34"/>
            </a:endParaRPr>
          </a:p>
          <a:p>
            <a:pPr marL="471805" lvl="1" indent="-285750"/>
            <a:r>
              <a:rPr lang="de-DE" sz="2400" b="1" dirty="0" err="1">
                <a:latin typeface="CordiaUPC" panose="020B0304020202020204" pitchFamily="34" charset="-34"/>
                <a:cs typeface="CordiaUPC" panose="020B0304020202020204" pitchFamily="34" charset="-34"/>
              </a:rPr>
              <a:t>xsl:for-each</a:t>
            </a:r>
            <a:endParaRPr lang="de-DE" sz="2400" b="1" dirty="0">
              <a:latin typeface="CordiaUPC" panose="020B0304020202020204" pitchFamily="34" charset="-34"/>
              <a:cs typeface="CordiaUPC" panose="020B0304020202020204" pitchFamily="34" charset="-34"/>
            </a:endParaRPr>
          </a:p>
          <a:p>
            <a:pPr marL="830580" lvl="3" indent="-285750"/>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 “&gt;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xsl:value-of</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concat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 “, ./</a:t>
            </a:r>
            <a:r>
              <a:rPr lang="de-DE" dirty="0" err="1">
                <a:latin typeface="CordiaUPC" panose="020B0304020202020204" pitchFamily="34" charset="-34"/>
                <a:cs typeface="CordiaUPC" panose="020B0304020202020204" pitchFamily="34" charset="-34"/>
              </a:rPr>
              <a:t>surname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marL="830580" lvl="3" indent="-285750"/>
            <a:r>
              <a:rPr lang="de-DE" dirty="0">
                <a:latin typeface="CordiaUPC" panose="020B0304020202020204" pitchFamily="34" charset="-34"/>
                <a:cs typeface="CordiaUPC" panose="020B0304020202020204" pitchFamily="34" charset="-34"/>
              </a:rPr>
              <a:t>Source:</a:t>
            </a:r>
            <a:endParaRPr lang="de-DE" dirty="0">
              <a:latin typeface="CordiaUPC" panose="020B0304020202020204" pitchFamily="34" charset="-34"/>
              <a:cs typeface="CordiaUPC" panose="020B0304020202020204" pitchFamily="34" charset="-34"/>
            </a:endParaRPr>
          </a:p>
          <a:p>
            <a:endParaRPr lang="de-DE" dirty="0">
              <a:latin typeface="CordiaUPC" panose="020B0304020202020204" pitchFamily="34" charset="-34"/>
              <a:cs typeface="CordiaUPC" panose="020B0304020202020204" pitchFamily="34" charset="-34"/>
            </a:endParaRPr>
          </a:p>
          <a:p>
            <a:pPr marL="471805" lvl="1" indent="-285750"/>
            <a:endParaRPr lang="de-DE" sz="2400" b="1" dirty="0">
              <a:latin typeface="CordiaUPC" panose="020B0304020202020204" pitchFamily="34" charset="-34"/>
              <a:cs typeface="CordiaUPC" panose="020B0304020202020204" pitchFamily="34" charset="-34"/>
            </a:endParaRPr>
          </a:p>
          <a:p>
            <a:pPr marL="471805" lvl="1" indent="-285750"/>
            <a:endParaRPr lang="de-DE" sz="2400" b="1" dirty="0">
              <a:latin typeface="CordiaUPC" panose="020B0304020202020204" pitchFamily="34" charset="-34"/>
              <a:cs typeface="CordiaUPC" panose="020B0304020202020204" pitchFamily="34" charset="-34"/>
            </a:endParaRPr>
          </a:p>
          <a:p>
            <a:pPr marL="471805" lvl="1" indent="-285750"/>
            <a:endParaRPr lang="de-DE" sz="2400" b="1" dirty="0">
              <a:latin typeface="CordiaUPC" panose="020B0304020202020204" pitchFamily="34" charset="-34"/>
              <a:cs typeface="CordiaUPC" panose="020B0304020202020204" pitchFamily="34" charset="-34"/>
            </a:endParaRPr>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
        <p:nvSpPr>
          <p:cNvPr id="6" name="Textplatzhalter 15"/>
          <p:cNvSpPr txBox="1"/>
          <p:nvPr/>
        </p:nvSpPr>
        <p:spPr bwMode="auto">
          <a:xfrm>
            <a:off x="920552" y="3284985"/>
            <a:ext cx="3960440"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&lt;person gender="male" age="28"&gt;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&lt;name&gt;Leo&lt;/name&gt;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&lt;surname&gt;Lurch&lt;/surname&gt;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 gender="female" age="32"&gt;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&lt;name&gt;Rosa&lt;/name&gt;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&lt;surname&gt;Sack&lt;/surname&gt;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 gender="male" age="45"&gt;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&lt;name&gt;Peter&lt;/name&gt;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&lt;surname&gt;</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&lt;/surname&gt;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&lt;/person&gt;</a:t>
            </a:r>
            <a:endParaRPr lang="de-DE" kern="0" dirty="0"/>
          </a:p>
        </p:txBody>
      </p:sp>
      <p:sp>
        <p:nvSpPr>
          <p:cNvPr id="7" name="Textplatzhalter 15"/>
          <p:cNvSpPr txBox="1"/>
          <p:nvPr/>
        </p:nvSpPr>
        <p:spPr bwMode="auto">
          <a:xfrm>
            <a:off x="5031879" y="4255953"/>
            <a:ext cx="3960440" cy="108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&lt;name&gt;Leo Lurch&lt;/name&gt;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&lt;name&gt;Rosa Sack&lt;/name&gt;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&lt;name&gt;Peter </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&lt;/name&gt;</a:t>
            </a:r>
            <a:endParaRPr lang="en-US" kern="0" dirty="0">
              <a:latin typeface="CordiaUPC" panose="020B0304020202020204" pitchFamily="34" charset="-34"/>
              <a:cs typeface="CordiaUPC" panose="020B0304020202020204" pitchFamily="34" charset="-34"/>
            </a:endParaRPr>
          </a:p>
        </p:txBody>
      </p:sp>
      <p:sp>
        <p:nvSpPr>
          <p:cNvPr id="2" name="Geschweifte Klammer rechts 1"/>
          <p:cNvSpPr/>
          <p:nvPr/>
        </p:nvSpPr>
        <p:spPr bwMode="auto">
          <a:xfrm>
            <a:off x="3728864" y="3284984"/>
            <a:ext cx="1303015" cy="2664295"/>
          </a:xfrm>
          <a:prstGeom prst="rightBrac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en-US" sz="1600" b="1" i="0" u="none" strike="noStrike" normalizeH="0" baseline="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DB Office"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Loop</a:t>
            </a:r>
            <a:endParaRPr lang="de-DE" dirty="0">
              <a:latin typeface="CordiaUPC" panose="020B0304020202020204" pitchFamily="34" charset="-34"/>
              <a:cs typeface="CordiaUPC" panose="020B0304020202020204" pitchFamily="34" charset="-34"/>
            </a:endParaRPr>
          </a:p>
          <a:p>
            <a:pPr marL="471805" lvl="1" indent="-285750"/>
            <a:r>
              <a:rPr lang="de-DE" sz="2400" b="1" dirty="0" err="1">
                <a:latin typeface="CordiaUPC" panose="020B0304020202020204" pitchFamily="34" charset="-34"/>
                <a:cs typeface="CordiaUPC" panose="020B0304020202020204" pitchFamily="34" charset="-34"/>
              </a:rPr>
              <a:t>xsl:sort</a:t>
            </a:r>
            <a:endParaRPr lang="de-DE" sz="2400" b="1" dirty="0">
              <a:latin typeface="CordiaUPC" panose="020B0304020202020204" pitchFamily="34" charset="-34"/>
              <a:cs typeface="CordiaUPC" panose="020B0304020202020204" pitchFamily="34" charset="-34"/>
            </a:endParaRPr>
          </a:p>
          <a:p>
            <a:pPr marL="830580" lvl="3" indent="-285750"/>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 “&gt;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xsl:sort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surname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xsl:value-of</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concat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 “, ./</a:t>
            </a:r>
            <a:r>
              <a:rPr lang="de-DE" dirty="0" err="1">
                <a:latin typeface="CordiaUPC" panose="020B0304020202020204" pitchFamily="34" charset="-34"/>
                <a:cs typeface="CordiaUPC" panose="020B0304020202020204" pitchFamily="34" charset="-34"/>
              </a:rPr>
              <a:t>surname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marL="830580" lvl="3" indent="-285750"/>
            <a:r>
              <a:rPr lang="de-DE" dirty="0">
                <a:latin typeface="CordiaUPC" panose="020B0304020202020204" pitchFamily="34" charset="-34"/>
                <a:cs typeface="CordiaUPC" panose="020B0304020202020204" pitchFamily="34" charset="-34"/>
              </a:rPr>
              <a:t>Source:</a:t>
            </a:r>
            <a:endParaRPr lang="de-DE" dirty="0">
              <a:latin typeface="CordiaUPC" panose="020B0304020202020204" pitchFamily="34" charset="-34"/>
              <a:cs typeface="CordiaUPC" panose="020B0304020202020204" pitchFamily="34" charset="-34"/>
            </a:endParaRPr>
          </a:p>
          <a:p>
            <a:endParaRPr lang="de-DE" dirty="0">
              <a:latin typeface="CordiaUPC" panose="020B0304020202020204" pitchFamily="34" charset="-34"/>
              <a:cs typeface="CordiaUPC" panose="020B0304020202020204" pitchFamily="34" charset="-34"/>
            </a:endParaRPr>
          </a:p>
          <a:p>
            <a:pPr marL="471805" lvl="1" indent="-285750"/>
            <a:endParaRPr lang="de-DE" sz="2400" b="1" dirty="0">
              <a:latin typeface="CordiaUPC" panose="020B0304020202020204" pitchFamily="34" charset="-34"/>
              <a:cs typeface="CordiaUPC" panose="020B0304020202020204" pitchFamily="34" charset="-34"/>
            </a:endParaRPr>
          </a:p>
          <a:p>
            <a:pPr marL="471805" lvl="1" indent="-285750"/>
            <a:endParaRPr lang="de-DE" sz="2400" b="1" dirty="0">
              <a:latin typeface="CordiaUPC" panose="020B0304020202020204" pitchFamily="34" charset="-34"/>
              <a:cs typeface="CordiaUPC" panose="020B0304020202020204" pitchFamily="34" charset="-34"/>
            </a:endParaRPr>
          </a:p>
          <a:p>
            <a:pPr marL="471805" lvl="1" indent="-285750"/>
            <a:endParaRPr lang="de-DE" sz="2400" b="1" dirty="0">
              <a:latin typeface="CordiaUPC" panose="020B0304020202020204" pitchFamily="34" charset="-34"/>
              <a:cs typeface="CordiaUPC" panose="020B0304020202020204" pitchFamily="34" charset="-34"/>
            </a:endParaRPr>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
        <p:nvSpPr>
          <p:cNvPr id="6" name="Textplatzhalter 15"/>
          <p:cNvSpPr txBox="1"/>
          <p:nvPr/>
        </p:nvSpPr>
        <p:spPr bwMode="auto">
          <a:xfrm>
            <a:off x="920552" y="3429000"/>
            <a:ext cx="3960440"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&lt;person gender="male" age="28"&gt;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&lt;name&gt;Leo&lt;/name&gt;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&lt;surname&gt;Lurch&lt;/surname&gt;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 gender="female" age="32"&gt;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&lt;name&gt;Rosa&lt;/name&gt;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&lt;surname&gt;Sack&lt;/surname&gt;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 gender="male" age="45"&gt;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&lt;name&gt;Peter&lt;/name&gt;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    &lt;surname&gt;</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&lt;/surname&gt;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&lt;/person&gt;</a:t>
            </a:r>
            <a:endParaRPr lang="de-DE" kern="0" dirty="0"/>
          </a:p>
        </p:txBody>
      </p:sp>
      <p:sp>
        <p:nvSpPr>
          <p:cNvPr id="7" name="Textplatzhalter 15"/>
          <p:cNvSpPr txBox="1"/>
          <p:nvPr/>
        </p:nvSpPr>
        <p:spPr bwMode="auto">
          <a:xfrm>
            <a:off x="5031879" y="4362824"/>
            <a:ext cx="3960440" cy="108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l" rtl="0" eaLnBrk="0" fontAlgn="base" hangingPunct="0">
              <a:spcBef>
                <a:spcPct val="0"/>
              </a:spcBef>
              <a:spcAft>
                <a:spcPct val="0"/>
              </a:spcAft>
              <a:defRPr sz="1600">
                <a:solidFill>
                  <a:schemeClr val="tx1"/>
                </a:solidFill>
                <a:latin typeface="+mn-lt"/>
                <a:ea typeface="+mn-ea"/>
                <a:cs typeface="+mn-cs"/>
              </a:defRPr>
            </a:lvl1pPr>
            <a:lvl2pPr marL="186055"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830" indent="-184150" algn="l" rtl="0" eaLnBrk="0" fontAlgn="base" hangingPunct="0">
              <a:spcBef>
                <a:spcPct val="0"/>
              </a:spcBef>
              <a:spcAft>
                <a:spcPct val="0"/>
              </a:spcAft>
              <a:buClr>
                <a:srgbClr val="FF0000"/>
              </a:buClr>
              <a:buFont typeface="Wingdings" panose="05000000000000000000" pitchFamily="2" charset="2"/>
              <a:buChar char="§"/>
              <a:defRPr sz="1600">
                <a:solidFill>
                  <a:schemeClr val="tx1"/>
                </a:solidFill>
                <a:latin typeface="+mn-lt"/>
              </a:defRPr>
            </a:lvl4pPr>
            <a:lvl5pPr marL="728980" indent="-182880" algn="l" rtl="0" eaLnBrk="0" fontAlgn="base" hangingPunct="0">
              <a:spcBef>
                <a:spcPct val="0"/>
              </a:spcBef>
              <a:spcAft>
                <a:spcPct val="0"/>
              </a:spcAft>
              <a:buClr>
                <a:srgbClr val="FF0000"/>
              </a:buClr>
              <a:buChar char="–"/>
              <a:defRPr sz="1600">
                <a:solidFill>
                  <a:schemeClr val="tx1"/>
                </a:solidFill>
                <a:latin typeface="+mn-lt"/>
              </a:defRPr>
            </a:lvl5pPr>
            <a:lvl6pPr marL="1186180" indent="-182880" algn="l" rtl="0" eaLnBrk="0" fontAlgn="base" hangingPunct="0">
              <a:spcBef>
                <a:spcPct val="0"/>
              </a:spcBef>
              <a:spcAft>
                <a:spcPct val="0"/>
              </a:spcAft>
              <a:buClr>
                <a:srgbClr val="FF0000"/>
              </a:buClr>
              <a:buChar char="–"/>
              <a:defRPr sz="1600">
                <a:solidFill>
                  <a:schemeClr val="tx1"/>
                </a:solidFill>
                <a:latin typeface="+mn-lt"/>
              </a:defRPr>
            </a:lvl6pPr>
            <a:lvl7pPr marL="1643380" indent="-182880" algn="l" rtl="0" eaLnBrk="0" fontAlgn="base" hangingPunct="0">
              <a:spcBef>
                <a:spcPct val="0"/>
              </a:spcBef>
              <a:spcAft>
                <a:spcPct val="0"/>
              </a:spcAft>
              <a:buClr>
                <a:srgbClr val="FF0000"/>
              </a:buClr>
              <a:buChar char="–"/>
              <a:defRPr sz="1600">
                <a:solidFill>
                  <a:schemeClr val="tx1"/>
                </a:solidFill>
                <a:latin typeface="+mn-lt"/>
              </a:defRPr>
            </a:lvl7pPr>
            <a:lvl8pPr marL="2100580" indent="-182880" algn="l" rtl="0" eaLnBrk="0" fontAlgn="base" hangingPunct="0">
              <a:spcBef>
                <a:spcPct val="0"/>
              </a:spcBef>
              <a:spcAft>
                <a:spcPct val="0"/>
              </a:spcAft>
              <a:buClr>
                <a:srgbClr val="FF0000"/>
              </a:buClr>
              <a:buChar char="–"/>
              <a:defRPr sz="1600">
                <a:solidFill>
                  <a:schemeClr val="tx1"/>
                </a:solidFill>
                <a:latin typeface="+mn-lt"/>
              </a:defRPr>
            </a:lvl8pPr>
            <a:lvl9pPr marL="2557780" indent="-182880"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&lt;name&gt;Leo Lurch&lt;/name&gt;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&lt;name&gt;Peter </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&lt;/name&gt;</a:t>
            </a:r>
            <a:endParaRPr lang="en-US" kern="0" dirty="0">
              <a:latin typeface="CordiaUPC" panose="020B0304020202020204" pitchFamily="34" charset="-34"/>
              <a:cs typeface="CordiaUPC" panose="020B0304020202020204" pitchFamily="34" charset="-34"/>
            </a:endParaRPr>
          </a:p>
          <a:p>
            <a:r>
              <a:rPr lang="en-US" kern="0" dirty="0">
                <a:latin typeface="CordiaUPC" panose="020B0304020202020204" pitchFamily="34" charset="-34"/>
                <a:cs typeface="CordiaUPC" panose="020B0304020202020204" pitchFamily="34" charset="-34"/>
              </a:rPr>
              <a:t>&lt;name&gt;Rosa Sack&lt;/name&gt;</a:t>
            </a:r>
            <a:endParaRPr lang="en-US" kern="0" dirty="0">
              <a:latin typeface="CordiaUPC" panose="020B0304020202020204" pitchFamily="34" charset="-34"/>
              <a:cs typeface="CordiaUPC" panose="020B0304020202020204" pitchFamily="34" charset="-34"/>
            </a:endParaRPr>
          </a:p>
        </p:txBody>
      </p:sp>
      <p:sp>
        <p:nvSpPr>
          <p:cNvPr id="2" name="Geschweifte Klammer rechts 1"/>
          <p:cNvSpPr/>
          <p:nvPr/>
        </p:nvSpPr>
        <p:spPr bwMode="auto">
          <a:xfrm>
            <a:off x="3728865" y="3429001"/>
            <a:ext cx="984542" cy="2664295"/>
          </a:xfrm>
          <a:prstGeom prst="rightBrac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en-US" sz="1600" b="1" i="0" u="none" strike="noStrike" normalizeH="0" baseline="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DB Office" pitchFamily="34" charset="0"/>
            </a:endParaRPr>
          </a:p>
        </p:txBody>
      </p:sp>
      <p:sp>
        <p:nvSpPr>
          <p:cNvPr id="10" name="Nach links gekrümmter Pfeil 9"/>
          <p:cNvSpPr/>
          <p:nvPr/>
        </p:nvSpPr>
        <p:spPr bwMode="auto">
          <a:xfrm rot="10993581">
            <a:off x="4725058" y="4581920"/>
            <a:ext cx="311867" cy="422815"/>
          </a:xfrm>
          <a:prstGeom prst="curvedLef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DB Office" pitchFamily="34" charset="0"/>
            </a:endParaRPr>
          </a:p>
        </p:txBody>
      </p:sp>
      <p:sp>
        <p:nvSpPr>
          <p:cNvPr id="12" name="Nach links gekrümmter Pfeil 11"/>
          <p:cNvSpPr/>
          <p:nvPr/>
        </p:nvSpPr>
        <p:spPr bwMode="auto">
          <a:xfrm>
            <a:off x="6801373" y="4581128"/>
            <a:ext cx="311867" cy="422815"/>
          </a:xfrm>
          <a:prstGeom prst="curvedLef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spAutoFit/>
          </a:bodyPr>
          <a:lstStyle/>
          <a:p>
            <a:pPr marL="0" marR="0" indent="0" algn="ctr"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DB Office"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Branching</a:t>
            </a:r>
            <a:endParaRPr lang="en-US" sz="1800" b="1" dirty="0"/>
          </a:p>
          <a:p>
            <a:pPr marL="471805" lvl="1" indent="-285750"/>
            <a:r>
              <a:rPr lang="de-DE" sz="2400" b="1" dirty="0" err="1">
                <a:latin typeface="CordiaUPC" panose="020B0304020202020204" pitchFamily="34" charset="-34"/>
                <a:cs typeface="CordiaUPC" panose="020B0304020202020204" pitchFamily="34" charset="-34"/>
              </a:rPr>
              <a:t>xsl:if</a:t>
            </a:r>
            <a:endParaRPr lang="de-DE" sz="2400" b="1" dirty="0">
              <a:latin typeface="CordiaUPC" panose="020B0304020202020204" pitchFamily="34" charset="-34"/>
              <a:cs typeface="CordiaUPC" panose="020B0304020202020204" pitchFamily="34" charset="-34"/>
            </a:endParaRPr>
          </a:p>
          <a:p>
            <a:pPr lvl="3"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xsl:if</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test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[1]=‚Schmidt‘“&gt;do </a:t>
            </a:r>
            <a:r>
              <a:rPr lang="de-DE" dirty="0" err="1">
                <a:latin typeface="CordiaUPC" panose="020B0304020202020204" pitchFamily="34" charset="-34"/>
                <a:cs typeface="CordiaUPC" panose="020B0304020202020204" pitchFamily="34" charset="-34"/>
              </a:rPr>
              <a:t>something</a:t>
            </a: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xsl:if</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marL="471805" lvl="1" indent="-285750"/>
            <a:r>
              <a:rPr lang="de-DE" sz="2400" b="1" dirty="0" err="1">
                <a:latin typeface="CordiaUPC" panose="020B0304020202020204" pitchFamily="34" charset="-34"/>
                <a:cs typeface="CordiaUPC" panose="020B0304020202020204" pitchFamily="34" charset="-34"/>
              </a:rPr>
              <a:t>xsl:choose</a:t>
            </a:r>
            <a:endParaRPr lang="de-DE" sz="2400" b="1" dirty="0">
              <a:latin typeface="CordiaUPC" panose="020B0304020202020204" pitchFamily="34" charset="-34"/>
              <a:cs typeface="CordiaUPC" panose="020B0304020202020204" pitchFamily="34" charset="-34"/>
            </a:endParaRPr>
          </a:p>
          <a:p>
            <a:pPr lvl="3"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xsl:choose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test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[1]=‚Schmidt‘“&gt;do </a:t>
            </a:r>
            <a:r>
              <a:rPr lang="de-DE" dirty="0" err="1">
                <a:latin typeface="CordiaUPC" panose="020B0304020202020204" pitchFamily="34" charset="-34"/>
                <a:cs typeface="CordiaUPC" panose="020B0304020202020204" pitchFamily="34" charset="-34"/>
              </a:rPr>
              <a:t>something</a:t>
            </a: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test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[1]=‚Meier‘“&gt;do </a:t>
            </a:r>
            <a:r>
              <a:rPr lang="de-DE" dirty="0" err="1">
                <a:latin typeface="CordiaUPC" panose="020B0304020202020204" pitchFamily="34" charset="-34"/>
                <a:cs typeface="CordiaUPC" panose="020B0304020202020204" pitchFamily="34" charset="-34"/>
              </a:rPr>
              <a:t>something</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other</a:t>
            </a: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&gt; </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xsl:otherwise</a:t>
            </a:r>
            <a:r>
              <a:rPr lang="de-DE" dirty="0">
                <a:latin typeface="CordiaUPC" panose="020B0304020202020204" pitchFamily="34" charset="-34"/>
                <a:cs typeface="CordiaUPC" panose="020B0304020202020204" pitchFamily="34" charset="-34"/>
              </a:rPr>
              <a:t>&gt;do </a:t>
            </a:r>
            <a:r>
              <a:rPr lang="de-DE" dirty="0" err="1">
                <a:latin typeface="CordiaUPC" panose="020B0304020202020204" pitchFamily="34" charset="-34"/>
                <a:cs typeface="CordiaUPC" panose="020B0304020202020204" pitchFamily="34" charset="-34"/>
              </a:rPr>
              <a:t>the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rest</a:t>
            </a: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xsl:otherwise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xsl:choose</a:t>
            </a:r>
            <a:r>
              <a:rPr lang="de-DE" dirty="0">
                <a:latin typeface="CordiaUPC" panose="020B0304020202020204" pitchFamily="34" charset="-34"/>
                <a:cs typeface="CordiaUPC" panose="020B0304020202020204" pitchFamily="34" charset="-34"/>
              </a:rPr>
              <a:t>&gt;</a:t>
            </a:r>
            <a:endParaRPr lang="de-DE" dirty="0">
              <a:latin typeface="CordiaUPC" panose="020B0304020202020204" pitchFamily="34" charset="-34"/>
              <a:cs typeface="CordiaUPC" panose="020B0304020202020204" pitchFamily="34" charset="-34"/>
            </a:endParaRPr>
          </a:p>
          <a:p>
            <a:pPr lvl="1" indent="0">
              <a:buNone/>
            </a:pPr>
            <a:endParaRPr lang="de-DE" dirty="0">
              <a:latin typeface="CordiaUPC" panose="020B0304020202020204" pitchFamily="34" charset="-34"/>
              <a:cs typeface="CordiaUPC" panose="020B0304020202020204" pitchFamily="34" charset="-34"/>
            </a:endParaRPr>
          </a:p>
          <a:p>
            <a:pPr lvl="1" indent="0">
              <a:buNone/>
            </a:pPr>
            <a:endParaRPr lang="de-DE" dirty="0">
              <a:latin typeface="CordiaUPC" panose="020B0304020202020204" pitchFamily="34" charset="-34"/>
              <a:cs typeface="CordiaUPC" panose="020B0304020202020204" pitchFamily="34" charset="-34"/>
            </a:endParaRPr>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Import</a:t>
            </a:r>
            <a:endParaRPr lang="en-US" sz="1800" b="1" dirty="0"/>
          </a:p>
          <a:p>
            <a:pPr marL="471805" lvl="1" indent="-285750"/>
            <a:r>
              <a:rPr lang="de-DE" sz="2400" b="1" dirty="0" err="1">
                <a:latin typeface="CordiaUPC" panose="020B0304020202020204" pitchFamily="34" charset="-34"/>
                <a:cs typeface="CordiaUPC" panose="020B0304020202020204" pitchFamily="34" charset="-34"/>
              </a:rPr>
              <a:t>xsl:import</a:t>
            </a:r>
            <a:br>
              <a:rPr lang="de-DE" dirty="0">
                <a:latin typeface="CordiaUPC" panose="020B0304020202020204" pitchFamily="34" charset="-34"/>
                <a:cs typeface="CordiaUPC" panose="020B0304020202020204" pitchFamily="34" charset="-34"/>
              </a:rPr>
            </a:br>
            <a:r>
              <a:rPr lang="en-US" sz="1200" dirty="0"/>
              <a:t>An imported style sheet has </a:t>
            </a:r>
            <a:r>
              <a:rPr lang="en-US" sz="1200" b="1" dirty="0"/>
              <a:t>lower </a:t>
            </a:r>
            <a:r>
              <a:rPr lang="en-US" sz="1200" dirty="0"/>
              <a:t>precedence than the importing style sheet.</a:t>
            </a:r>
            <a:br>
              <a:rPr lang="en-US" sz="1200" dirty="0"/>
            </a:br>
            <a:endParaRPr lang="de-DE" dirty="0">
              <a:latin typeface="CordiaUPC" panose="020B0304020202020204" pitchFamily="34" charset="-34"/>
              <a:cs typeface="CordiaUPC" panose="020B0304020202020204" pitchFamily="34" charset="-34"/>
            </a:endParaRPr>
          </a:p>
          <a:p>
            <a:pPr marL="471805" lvl="1" indent="-285750"/>
            <a:r>
              <a:rPr lang="de-DE" sz="2400" b="1" dirty="0" err="1">
                <a:latin typeface="CordiaUPC" panose="020B0304020202020204" pitchFamily="34" charset="-34"/>
                <a:cs typeface="CordiaUPC" panose="020B0304020202020204" pitchFamily="34" charset="-34"/>
              </a:rPr>
              <a:t>xsl:include</a:t>
            </a:r>
            <a:br>
              <a:rPr lang="de-DE" dirty="0">
                <a:latin typeface="CordiaUPC" panose="020B0304020202020204" pitchFamily="34" charset="-34"/>
                <a:cs typeface="CordiaUPC" panose="020B0304020202020204" pitchFamily="34" charset="-34"/>
              </a:rPr>
            </a:br>
            <a:r>
              <a:rPr lang="en-US" sz="1200" dirty="0"/>
              <a:t>An included style sheet has </a:t>
            </a:r>
            <a:r>
              <a:rPr lang="en-US" sz="1200" b="1" dirty="0"/>
              <a:t>the same </a:t>
            </a:r>
            <a:r>
              <a:rPr lang="en-US" sz="1200" dirty="0"/>
              <a:t>precedence as the including style sheet</a:t>
            </a:r>
            <a:br>
              <a:rPr lang="en-US" sz="1200" dirty="0"/>
            </a:br>
            <a:endParaRPr lang="en-US" sz="1200" dirty="0"/>
          </a:p>
          <a:p>
            <a:pPr marL="471805" lvl="1" indent="-285750"/>
            <a:r>
              <a:rPr lang="de-DE" sz="2400" b="1" dirty="0" err="1">
                <a:latin typeface="CordiaUPC" panose="020B0304020202020204" pitchFamily="34" charset="-34"/>
                <a:cs typeface="CordiaUPC" panose="020B0304020202020204" pitchFamily="34" charset="-34"/>
              </a:rPr>
              <a:t>Document</a:t>
            </a:r>
            <a:r>
              <a:rPr lang="de-DE" sz="2400" b="1" dirty="0">
                <a:latin typeface="CordiaUPC" panose="020B0304020202020204" pitchFamily="34" charset="-34"/>
                <a:cs typeface="CordiaUPC" panose="020B0304020202020204" pitchFamily="34" charset="-34"/>
              </a:rPr>
              <a:t>()</a:t>
            </a:r>
            <a:br>
              <a:rPr lang="de-DE" dirty="0">
                <a:latin typeface="CordiaUPC" panose="020B0304020202020204" pitchFamily="34" charset="-34"/>
                <a:cs typeface="CordiaUPC" panose="020B0304020202020204" pitchFamily="34" charset="-34"/>
              </a:rPr>
            </a:br>
            <a:r>
              <a:rPr lang="en-US" sz="1200" dirty="0"/>
              <a:t>&lt;</a:t>
            </a:r>
            <a:r>
              <a:rPr lang="en-US" sz="1200" dirty="0" err="1"/>
              <a:t>xsl:value-of</a:t>
            </a:r>
            <a:r>
              <a:rPr lang="en-US" sz="1200" dirty="0"/>
              <a:t> select="document('test.xml')/*"&gt;&lt;/</a:t>
            </a:r>
            <a:r>
              <a:rPr lang="en-US" sz="1200" dirty="0" err="1"/>
              <a:t>xsl:value-of</a:t>
            </a:r>
            <a:r>
              <a:rPr lang="en-US" sz="1200" dirty="0"/>
              <a:t>&gt;</a:t>
            </a:r>
            <a:endParaRPr lang="de-DE" sz="1200" dirty="0"/>
          </a:p>
          <a:p>
            <a:pPr marL="471805"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TWNOMINIMIZE" val="-1"/>
</p:tagLst>
</file>

<file path=ppt/tags/tag2.xml><?xml version="1.0" encoding="utf-8"?>
<p:tagLst xmlns:p="http://schemas.openxmlformats.org/presentationml/2006/main">
  <p:tag name="TWNOMINIMIZE" val="-1"/>
</p:tagLst>
</file>

<file path=ppt/tags/tag3.xml><?xml version="1.0" encoding="utf-8"?>
<p:tagLst xmlns:p="http://schemas.openxmlformats.org/presentationml/2006/main">
  <p:tag name="TWNOMINIMIZE" val="-1"/>
</p:tagLst>
</file>

<file path=ppt/tags/tag4.xml><?xml version="1.0" encoding="utf-8"?>
<p:tagLst xmlns:p="http://schemas.openxmlformats.org/presentationml/2006/main">
  <p:tag name="TWNOMINIMIZE" val="-1"/>
</p:tagLst>
</file>

<file path=ppt/tags/tag5.xml><?xml version="1.0" encoding="utf-8"?>
<p:tagLst xmlns:p="http://schemas.openxmlformats.org/presentationml/2006/main">
  <p:tag name="TWNOMINIMIZE" val="-1"/>
</p:tagLst>
</file>

<file path=ppt/tags/tag6.xml><?xml version="1.0" encoding="utf-8"?>
<p:tagLst xmlns:p="http://schemas.openxmlformats.org/presentationml/2006/main">
  <p:tag name="TWNOMINIMIZE" val="-1"/>
</p:tagLst>
</file>

<file path=ppt/tags/tag7.xml><?xml version="1.0" encoding="utf-8"?>
<p:tagLst xmlns:p="http://schemas.openxmlformats.org/presentationml/2006/main">
  <p:tag name="TWNOMINIMIZE" val="-1"/>
</p:tagLst>
</file>

<file path=ppt/tags/tag8.xml><?xml version="1.0" encoding="utf-8"?>
<p:tagLst xmlns:p="http://schemas.openxmlformats.org/presentationml/2006/main">
  <p:tag name="TWNOMINIMIZE" val="-1"/>
</p:tagLst>
</file>

<file path=ppt/tags/tag9.xml><?xml version="1.0" encoding="utf-8"?>
<p:tagLst xmlns:p="http://schemas.openxmlformats.org/presentationml/2006/main">
  <p:tag name="TWNOMINIMIZE" val="-1"/>
</p:tagLst>
</file>

<file path=ppt/tags/tag10.xml><?xml version="1.0" encoding="utf-8"?>
<p:tagLst xmlns:p="http://schemas.openxmlformats.org/presentationml/2006/main">
  <p:tag name="TWNOCDCHECK" val="-1"/>
</p:tagLst>
</file>

<file path=ppt/tags/tag11.xml><?xml version="1.0" encoding="utf-8"?>
<p:tagLst xmlns:p="http://schemas.openxmlformats.org/presentationml/2006/main">
  <p:tag name="TWNOCDCHECK" val="-1"/>
</p:tagLst>
</file>

<file path=ppt/tags/tag12.xml><?xml version="1.0" encoding="utf-8"?>
<p:tagLst xmlns:p="http://schemas.openxmlformats.org/presentationml/2006/main">
  <p:tag name="TWNOCDCHECK" val="-1"/>
</p:tagLst>
</file>

<file path=ppt/tags/tag13.xml><?xml version="1.0" encoding="utf-8"?>
<p:tagLst xmlns:p="http://schemas.openxmlformats.org/presentationml/2006/main">
  <p:tag name="TWNOCDCHECK" val="-1"/>
</p:tagLst>
</file>

<file path=ppt/tags/tag14.xml><?xml version="1.0" encoding="utf-8"?>
<p:tagLst xmlns:p="http://schemas.openxmlformats.org/presentationml/2006/main">
  <p:tag name="TWNOCDCHECK" val="-1"/>
</p:tagLst>
</file>

<file path=ppt/tags/tag15.xml><?xml version="1.0" encoding="utf-8"?>
<p:tagLst xmlns:p="http://schemas.openxmlformats.org/presentationml/2006/main">
  <p:tag name="TWNOCDCHECK" val="-1"/>
</p:tagLst>
</file>

<file path=ppt/tags/tag16.xml><?xml version="1.0" encoding="utf-8"?>
<p:tagLst xmlns:p="http://schemas.openxmlformats.org/presentationml/2006/main">
  <p:tag name="TWNOCDCHECK" val="-1"/>
</p:tagLst>
</file>

<file path=ppt/tags/tag17.xml><?xml version="1.0" encoding="utf-8"?>
<p:tagLst xmlns:p="http://schemas.openxmlformats.org/presentationml/2006/main">
  <p:tag name="TWNOCDCHECK" val="-1"/>
</p:tagLst>
</file>

<file path=ppt/tags/tag18.xml><?xml version="1.0" encoding="utf-8"?>
<p:tagLst xmlns:p="http://schemas.openxmlformats.org/presentationml/2006/main">
  <p:tag name="TRANS_1" val="ppEffectCoverLeftDown"/>
  <p:tag name="TRANS_0" val="ppEffectNone"/>
  <p:tag name="TRANS_COUNT" val="2"/>
  <p:tag name="OPTIONS_SOUND" val="Falsch"/>
  <p:tag name="OPTIONS_VIDEO" val="Falsch"/>
  <p:tag name="OPTIONS_OBJECTANIMATION" val="Falsch"/>
  <p:tag name="OPTIONS_TEXTANIMATION" val="Falsch"/>
  <p:tag name="PAGESETUP_O" val="1"/>
  <p:tag name="PAGESETUP_H" val="540"/>
  <p:tag name="PAGESETUP_W" val="780"/>
  <p:tag name="SC_8" val="16777215"/>
  <p:tag name="SC_7" val="15395562"/>
  <p:tag name="SC_6" val="15854824"/>
  <p:tag name="SC_5" val="12165005"/>
  <p:tag name="SC_4" val="6684672"/>
  <p:tag name="SC_3" val="39423"/>
  <p:tag name="SC_2" val="3507008"/>
  <p:tag name="SC_1" val="255"/>
  <p:tag name="THC_1" val="255"/>
  <p:tag name="PC_8" val="15196894"/>
  <p:tag name="PC_7" val="12165005"/>
  <p:tag name="PC_6" val="6684672"/>
  <p:tag name="PC_5" val="12632256"/>
  <p:tag name="PC_4" val="0"/>
  <p:tag name="PC_3" val="9868950"/>
  <p:tag name="PC_2" val="0"/>
  <p:tag name="PC_1" val="16777215"/>
  <p:tag name="NM_PAGEN_FONT_C" val="0"/>
  <p:tag name="NM_PAGEN_FONT_S" val="12"/>
  <p:tag name="NM_PAGEN_FONT" val="Arial"/>
  <p:tag name="NM_PAGEN_H" val="39"/>
  <p:tag name="NM_PAGEN_W" val="234,875"/>
  <p:tag name="NM_PAGEN_L" val="307,125"/>
  <p:tag name="NM_PAGEN_T" val="741"/>
  <p:tag name="NM_NOTES_FONT_C" val="0"/>
  <p:tag name="NM_NOTES_FONT_S" val="12"/>
  <p:tag name="NM_NOTES_FONT" val="Arial"/>
  <p:tag name="NM_NOTES_H" val="351"/>
  <p:tag name="NM_NOTES_W" val="397,5"/>
  <p:tag name="NM_NOTES_L" val="72,25"/>
  <p:tag name="NM_NOTES_T" val="370,5"/>
  <p:tag name="NM_DATE_FONT_C" val="0"/>
  <p:tag name="NM_DATE_FONT_S" val="12"/>
  <p:tag name="NM_DATE_FONT" val="Arial"/>
  <p:tag name="NM_DATE_H" val="39"/>
  <p:tag name="NM_DATE_W" val="234,875"/>
  <p:tag name="NM_DATE_L" val="307,125"/>
  <p:tag name="NM_DATE_T" val="0"/>
  <p:tag name="NM_FOOTER_FONT_C" val="0"/>
  <p:tag name="NM_FOOTER_FONT_S" val="12"/>
  <p:tag name="NM_FOOTER_FONT" val="Arial"/>
  <p:tag name="NM_FOOTER_H" val="39"/>
  <p:tag name="NM_FOOTER_W" val="234,875"/>
  <p:tag name="NM_FOOTER_L" val="0"/>
  <p:tag name="NM_FOOTER_T" val="741"/>
  <p:tag name="NM_PREVIEW_FONT_C" val="16777215"/>
  <p:tag name="NM_PREVIEW_FONT_S" val=""/>
  <p:tag name="NM_PREVIEW_H" val="292,5"/>
  <p:tag name="NM_PREVIEW_W" val="422,5"/>
  <p:tag name="NM_PREVIEW_L" val="59,75"/>
  <p:tag name="NM_PREVIEW_T" val="58,5"/>
  <p:tag name="NM_HEADER_FONT_C" val="0"/>
  <p:tag name="NM_HEADER_FONT_S" val="12"/>
  <p:tag name="NM_HEADER_FONT" val="Arial"/>
  <p:tag name="NM_HEADER_H" val="39"/>
  <p:tag name="NM_HEADER_W" val="234,875"/>
  <p:tag name="NM_HEADER_L" val="0"/>
  <p:tag name="NM_HEADER_T" val="0"/>
  <p:tag name="HM_PAGEN_FONT_C" val="0"/>
  <p:tag name="HM_PAGEN_FONT_S" val="12"/>
  <p:tag name="HM_PAGEN_FONT" val="Arial"/>
  <p:tag name="HM_PAGEN_H" val="35,875"/>
  <p:tag name="HM_PAGEN_W" val="230,875"/>
  <p:tag name="HM_PAGEN_L" val="309,875"/>
  <p:tag name="HM_PAGEN_T" val="742,5"/>
  <p:tag name="HM_DATE_FONT_C" val="0"/>
  <p:tag name="HM_DATE_FONT_S" val="12"/>
  <p:tag name="HM_DATE_FONT" val="Arial"/>
  <p:tag name="HM_DATE_H" val="41,875"/>
  <p:tag name="HM_DATE_W" val="230,875"/>
  <p:tag name="HM_DATE_L" val="309,875"/>
  <p:tag name="HM_DATE_T" val="0"/>
  <p:tag name="HM_FOOTER_FONT_C" val="0"/>
  <p:tag name="HM_FOOTER_FONT_S" val="12"/>
  <p:tag name="HM_FOOTER_FONT" val="Arial"/>
  <p:tag name="HM_FOOTER_H" val="35,875"/>
  <p:tag name="HM_FOOTER_W" val="237"/>
  <p:tag name="HM_FOOTER_L" val="0"/>
  <p:tag name="HM_FOOTER_T" val="742,5"/>
  <p:tag name="HM_HEADER_FONT_C" val="0"/>
  <p:tag name="HM_HEADER_FONT_S" val="12"/>
  <p:tag name="HM_HEADER_FONT" val="Arial"/>
  <p:tag name="HM_HEADER_H" val="41,875"/>
  <p:tag name="HM_HEADER_W" val="237"/>
  <p:tag name="HM_HEADER_L" val="0"/>
  <p:tag name="HM_HEADER_T" val="0"/>
  <p:tag name="TM_STITLE_FONT_C" val="0"/>
  <p:tag name="TM_STITLE_FONT_S" val="28"/>
  <p:tag name="TM_STITLE_FONT" val="Arial"/>
  <p:tag name="TM_STITLE_H" val="68"/>
  <p:tag name="TM_STITLE_W" val="748,5"/>
  <p:tag name="TM_STITLE_L" val="15,75"/>
  <p:tag name="TM_STITLE_T" val="355,125"/>
  <p:tag name="TM_TITLE_FONT_C" val="0"/>
  <p:tag name="TM_TITLE_FONT_S" val="28"/>
  <p:tag name="TM_TITLE_FONT" val="Arial"/>
  <p:tag name="TM_TITLE_H" val="68"/>
  <p:tag name="TM_TITLE_W" val="748,5"/>
  <p:tag name="TM_TITLE_L" val="15,75"/>
  <p:tag name="TM_TITLE_T" val="281,375"/>
  <p:tag name="SM_PAGEN_FONT_C" val="16777215"/>
  <p:tag name="SM_PAGEN_FONT_S" val=""/>
  <p:tag name="SM_PAGEN_FONT" val=""/>
  <p:tag name="SM_PAGEN_H" val=""/>
  <p:tag name="SM_PAGEN_W" val=""/>
  <p:tag name="SM_PAGEN_L" val=""/>
  <p:tag name="SM_PAGEN_T" val=""/>
  <p:tag name="SM_FOOTER_FONT_C" val="16777215"/>
  <p:tag name="SM_FOOTER_FONT_S" val=""/>
  <p:tag name="SM_FOOTER_FONT" val=""/>
  <p:tag name="SM_FOOTER_H" val=""/>
  <p:tag name="SM_FOOTER_W" val=""/>
  <p:tag name="SM_FOOTER_L" val=""/>
  <p:tag name="SM_FOOTER_T" val=""/>
  <p:tag name="SM_DATE_FONT_C" val="0"/>
  <p:tag name="SM_DATE_FONT_S" val="9"/>
  <p:tag name="SM_DATE_FONT" val="Arial"/>
  <p:tag name="SM_DATE_H" val="7,375"/>
  <p:tag name="SM_DATE_W" val="150"/>
  <p:tag name="SM_DATE_L" val="315"/>
  <p:tag name="SM_DATE_T" val="527"/>
  <p:tag name="SM_AUTOLAYOUT_FONT_C" val="0"/>
  <p:tag name="SM_AUTOLAYOUT_FONT_S" val="18"/>
  <p:tag name="SM_AUTOLAYOUT_FONT" val="Arial"/>
  <p:tag name="SM_AUTOLAYOUT_H" val="385,625"/>
  <p:tag name="SM_AUTOLAYOUT_W" val="748,5"/>
  <p:tag name="SM_AUTOLAYOUT_L" val="15,75"/>
  <p:tag name="SM_AUTOLAYOUT_T" val="122,625"/>
  <p:tag name="SM_TITLE_FONT_C" val="0"/>
  <p:tag name="SM_TITLE_FONT_S" val="20"/>
  <p:tag name="SM_TITLE_FONT" val="Arial"/>
  <p:tag name="SM_TITLE_H" val="51"/>
  <p:tag name="SM_TITLE_W" val="601"/>
  <p:tag name="SM_TITLE_L" val="15,75"/>
  <p:tag name="SM_TITLE_T" val="31,875"/>
  <p:tag name="MASTERISTAGED" val="YES"/>
  <p:tag name="KSO_WPP_MARK_KEY" val="4328e1cf-35fa-41dc-b8a6-44ca92ef83be"/>
  <p:tag name="COMMONDATA" val="eyJoZGlkIjoiNGE2ZDEyOWJhOTU4ZDVkNjU0ZTAyZTdjNmYzZDVkYjYifQ=="/>
</p:tagLst>
</file>

<file path=ppt/theme/theme1.xml><?xml version="1.0" encoding="utf-8"?>
<a:theme xmlns:a="http://schemas.openxmlformats.org/drawingml/2006/main" name="Die Bahn_2003">
  <a:themeElements>
    <a:clrScheme name="Die Bahn_2003 1">
      <a:dk1>
        <a:srgbClr val="000000"/>
      </a:dk1>
      <a:lt1>
        <a:srgbClr val="FFFFFF"/>
      </a:lt1>
      <a:dk2>
        <a:srgbClr val="000000"/>
      </a:dk2>
      <a:lt2>
        <a:srgbClr val="878C96"/>
      </a:lt2>
      <a:accent1>
        <a:srgbClr val="C8C8CD"/>
      </a:accent1>
      <a:accent2>
        <a:srgbClr val="000066"/>
      </a:accent2>
      <a:accent3>
        <a:srgbClr val="FFFFFF"/>
      </a:accent3>
      <a:accent4>
        <a:srgbClr val="000000"/>
      </a:accent4>
      <a:accent5>
        <a:srgbClr val="E0E0E3"/>
      </a:accent5>
      <a:accent6>
        <a:srgbClr val="00005C"/>
      </a:accent6>
      <a:hlink>
        <a:srgbClr val="004BB4"/>
      </a:hlink>
      <a:folHlink>
        <a:srgbClr val="D7DEE2"/>
      </a:folHlink>
    </a:clrScheme>
    <a:fontScheme name="Die Bahn_2003">
      <a:majorFont>
        <a:latin typeface="DB Office"/>
        <a:ea typeface=""/>
        <a:cs typeface=""/>
      </a:majorFont>
      <a:minorFont>
        <a:latin typeface="DB Office"/>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0" fontAlgn="base" latinLnBrk="0" hangingPunct="0">
          <a:lnSpc>
            <a:spcPct val="100000"/>
          </a:lnSpc>
          <a:spcBef>
            <a:spcPct val="0"/>
          </a:spcBef>
          <a:spcAft>
            <a:spcPct val="0"/>
          </a:spcAft>
          <a:buClrTx/>
          <a:buSzTx/>
          <a:buFontTx/>
          <a:buNone/>
          <a:defRPr kumimoji="0" lang="de-DE" sz="1600" b="0" i="0" u="none" strike="noStrike" cap="none" normalizeH="0" baseline="0" smtClean="0">
            <a:ln>
              <a:noFill/>
            </a:ln>
            <a:solidFill>
              <a:schemeClr val="tx1"/>
            </a:solidFill>
            <a:effectLst/>
            <a:latin typeface="DB Office"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0" fontAlgn="base" latinLnBrk="0" hangingPunct="0">
          <a:lnSpc>
            <a:spcPct val="100000"/>
          </a:lnSpc>
          <a:spcBef>
            <a:spcPct val="0"/>
          </a:spcBef>
          <a:spcAft>
            <a:spcPct val="0"/>
          </a:spcAft>
          <a:buClrTx/>
          <a:buSzTx/>
          <a:buFontTx/>
          <a:buNone/>
          <a:defRPr kumimoji="0" lang="de-DE" sz="1600" b="0" i="0" u="none" strike="noStrike" cap="none" normalizeH="0" baseline="0" smtClean="0">
            <a:ln>
              <a:noFill/>
            </a:ln>
            <a:solidFill>
              <a:schemeClr val="tx1"/>
            </a:solidFill>
            <a:effectLst/>
            <a:latin typeface="DB Office" pitchFamily="34" charset="0"/>
          </a:defRPr>
        </a:defPPr>
      </a:lstStyle>
    </a:lnDef>
  </a:objectDefaults>
  <a:extraClrSchemeLst>
    <a:extraClrScheme>
      <a:clrScheme name="Die Bahn_2003 1">
        <a:dk1>
          <a:srgbClr val="000000"/>
        </a:dk1>
        <a:lt1>
          <a:srgbClr val="FFFFFF"/>
        </a:lt1>
        <a:dk2>
          <a:srgbClr val="000000"/>
        </a:dk2>
        <a:lt2>
          <a:srgbClr val="878C96"/>
        </a:lt2>
        <a:accent1>
          <a:srgbClr val="C8C8CD"/>
        </a:accent1>
        <a:accent2>
          <a:srgbClr val="000066"/>
        </a:accent2>
        <a:accent3>
          <a:srgbClr val="FFFFFF"/>
        </a:accent3>
        <a:accent4>
          <a:srgbClr val="000000"/>
        </a:accent4>
        <a:accent5>
          <a:srgbClr val="E0E0E3"/>
        </a:accent5>
        <a:accent6>
          <a:srgbClr val="00005C"/>
        </a:accent6>
        <a:hlink>
          <a:srgbClr val="004BB4"/>
        </a:hlink>
        <a:folHlink>
          <a:srgbClr val="D7DEE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7284</Words>
  <Application>WPS 演示</Application>
  <PresentationFormat>A4 Paper (210x297 mm)</PresentationFormat>
  <Paragraphs>361</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宋体</vt:lpstr>
      <vt:lpstr>Wingdings</vt:lpstr>
      <vt:lpstr>DB Office</vt:lpstr>
      <vt:lpstr>Segoe Print</vt:lpstr>
      <vt:lpstr>DB Office</vt:lpstr>
      <vt:lpstr>CordiaUPC</vt:lpstr>
      <vt:lpstr>Microsoft Sans Serif</vt:lpstr>
      <vt:lpstr>Wingdings</vt:lpstr>
      <vt:lpstr>微软雅黑</vt:lpstr>
      <vt:lpstr>Arial Unicode MS</vt:lpstr>
      <vt:lpstr>Die Bahn_2003</vt:lpstr>
      <vt:lpstr>PowerPoint 演示文稿</vt:lpstr>
      <vt:lpstr>XSLT-Basic knowledge </vt:lpstr>
      <vt:lpstr>What is XSL	 </vt:lpstr>
      <vt:lpstr>Structure </vt:lpstr>
      <vt:lpstr>Structure </vt:lpstr>
      <vt:lpstr>What is XSL	 </vt:lpstr>
      <vt:lpstr>Structure </vt:lpstr>
      <vt:lpstr>Structure </vt:lpstr>
      <vt:lpstr>Structure </vt:lpstr>
      <vt:lpstr>Structure </vt:lpstr>
      <vt:lpstr>Structure </vt:lpstr>
      <vt:lpstr>Vocabulary of a xsl  </vt:lpstr>
      <vt:lpstr>Vocabulary of a xsl  </vt:lpstr>
      <vt:lpstr>Vocabulary of a xsl  </vt:lpstr>
      <vt:lpstr>Vocabulary of a xsl  </vt:lpstr>
      <vt:lpstr>Vocabulary of a xsl  </vt:lpstr>
      <vt:lpstr>Vocabulary of a xsl  </vt:lpstr>
      <vt:lpstr>Vocabulary of a xsl  </vt:lpstr>
      <vt:lpstr>PowerPoint 演示文稿</vt:lpstr>
    </vt:vector>
  </TitlesOfParts>
  <Company>DB Schenker Deutschland AG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Zentrale Innovation Vision, Leitbild, Strategische Ausrichtung</dc:title>
  <dc:creator>Administrator</dc:creator>
  <cp:lastModifiedBy>，，</cp:lastModifiedBy>
  <cp:revision>605</cp:revision>
  <cp:lastPrinted>2012-11-23T10:04:00Z</cp:lastPrinted>
  <dcterms:created xsi:type="dcterms:W3CDTF">2012-01-09T10:50:00Z</dcterms:created>
  <dcterms:modified xsi:type="dcterms:W3CDTF">2023-01-15T03:41:06Z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0x0101009C226AA39FA88A44AFA62822AA17F4C7</vt:lpwstr>
  </property>
  <property fmtid="{D5CDD505-2E9C-101B-9397-08002B2CF9AE}" pid="3" name="MSIP_Label_705c9e18-d393-4470-8b67-9616c62ec31f_Enabled">
    <vt:lpwstr>True</vt:lpwstr>
  </property>
  <property fmtid="{D5CDD505-2E9C-101B-9397-08002B2CF9AE}" pid="4" name="MSIP_Label_705c9e18-d393-4470-8b67-9616c62ec31f_SiteId">
    <vt:lpwstr>c5d1e823-e2b8-46bf-92ff-84f54313e0a5</vt:lpwstr>
  </property>
  <property fmtid="{D5CDD505-2E9C-101B-9397-08002B2CF9AE}" pid="5" name="MSIP_Label_705c9e18-d393-4470-8b67-9616c62ec31f_Owner">
    <vt:lpwstr>lu.han@dbschenker.com</vt:lpwstr>
  </property>
  <property fmtid="{D5CDD505-2E9C-101B-9397-08002B2CF9AE}" pid="6" name="MSIP_Label_705c9e18-d393-4470-8b67-9616c62ec31f_SetDate">
    <vt:lpwstr>2019-06-27T07:46:57.9646381Z</vt:lpwstr>
  </property>
  <property fmtid="{D5CDD505-2E9C-101B-9397-08002B2CF9AE}" pid="7" name="MSIP_Label_705c9e18-d393-4470-8b67-9616c62ec31f_Name">
    <vt:lpwstr>Internal</vt:lpwstr>
  </property>
  <property fmtid="{D5CDD505-2E9C-101B-9397-08002B2CF9AE}" pid="8" name="MSIP_Label_705c9e18-d393-4470-8b67-9616c62ec31f_Application">
    <vt:lpwstr>Microsoft Azure Information Protection</vt:lpwstr>
  </property>
  <property fmtid="{D5CDD505-2E9C-101B-9397-08002B2CF9AE}" pid="9" name="MSIP_Label_705c9e18-d393-4470-8b67-9616c62ec31f_ActionId">
    <vt:lpwstr>bd432622-5145-48c2-bbc8-c3b270b06f59</vt:lpwstr>
  </property>
  <property fmtid="{D5CDD505-2E9C-101B-9397-08002B2CF9AE}" pid="10" name="MSIP_Label_705c9e18-d393-4470-8b67-9616c62ec31f_Extended_MSFT_Method">
    <vt:lpwstr>Automatic</vt:lpwstr>
  </property>
  <property fmtid="{D5CDD505-2E9C-101B-9397-08002B2CF9AE}" pid="11" name="Sensitivity">
    <vt:lpwstr>Internal</vt:lpwstr>
  </property>
  <property fmtid="{D5CDD505-2E9C-101B-9397-08002B2CF9AE}" pid="12" name="MediaServiceImageTags">
    <vt:lpwstr/>
  </property>
  <property fmtid="{D5CDD505-2E9C-101B-9397-08002B2CF9AE}" pid="13" name="ICV">
    <vt:lpwstr>DEF6633BB9414D219CFD8BCEB0EACBC5</vt:lpwstr>
  </property>
  <property fmtid="{D5CDD505-2E9C-101B-9397-08002B2CF9AE}" pid="14" name="KSOProductBuildVer">
    <vt:lpwstr>2052-11.1.0.12980</vt:lpwstr>
  </property>
</Properties>
</file>