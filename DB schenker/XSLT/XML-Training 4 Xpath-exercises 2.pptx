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52" r:id="rId3"/>
    <p:sldId id="444" r:id="rId4"/>
    <p:sldId id="454" r:id="rId5"/>
    <p:sldId id="439" r:id="rId6"/>
    <p:sldId id="445" r:id="rId7"/>
    <p:sldId id="455" r:id="rId8"/>
    <p:sldId id="450" r:id="rId9"/>
    <p:sldId id="452" r:id="rId10"/>
    <p:sldId id="453" r:id="rId11"/>
    <p:sldId id="437" r:id="rId12"/>
    <p:sldId id="446" r:id="rId13"/>
    <p:sldId id="440" r:id="rId14"/>
    <p:sldId id="447" r:id="rId15"/>
    <p:sldId id="379" r:id="rId16"/>
  </p:sldIdLst>
  <p:sldSz cx="9906000" cy="6858000" type="A4"/>
  <p:notesSz cx="6797675" cy="9874250"/>
  <p:custDataLst>
    <p:tags r:id="rId22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570" userDrawn="1">
          <p15:clr>
            <a:srgbClr val="A4A3A4"/>
          </p15:clr>
        </p15:guide>
        <p15:guide id="3" orient="horz" pos="3566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2931" userDrawn="1">
          <p15:clr>
            <a:srgbClr val="A4A3A4"/>
          </p15:clr>
        </p15:guide>
        <p15:guide id="6" orient="horz" pos="3521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8" orient="horz" pos="3339" userDrawn="1">
          <p15:clr>
            <a:srgbClr val="A4A3A4"/>
          </p15:clr>
        </p15:guide>
        <p15:guide id="9" orient="horz" pos="3067" userDrawn="1">
          <p15:clr>
            <a:srgbClr val="A4A3A4"/>
          </p15:clr>
        </p15:guide>
        <p15:guide id="10" orient="horz" pos="1389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pos="1532" userDrawn="1">
          <p15:clr>
            <a:srgbClr val="A4A3A4"/>
          </p15:clr>
        </p15:guide>
        <p15:guide id="13" pos="6114" userDrawn="1">
          <p15:clr>
            <a:srgbClr val="A4A3A4"/>
          </p15:clr>
        </p15:guide>
        <p15:guide id="14" pos="3120" userDrawn="1">
          <p15:clr>
            <a:srgbClr val="A4A3A4"/>
          </p15:clr>
        </p15:guide>
        <p15:guide id="15" pos="23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5" autoAdjust="0"/>
    <p:restoredTop sz="94645" autoAdjust="0"/>
  </p:normalViewPr>
  <p:slideViewPr>
    <p:cSldViewPr showGuides="1">
      <p:cViewPr varScale="1">
        <p:scale>
          <a:sx n="108" d="100"/>
          <a:sy n="108" d="100"/>
        </p:scale>
        <p:origin x="1506" y="108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8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de-DE" noProof="0"/>
              <a:t>Klicken Sie, um die Formate des Vorlagentextes zu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/>
              <a:t>Topic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Richard Schulz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Customer Service - Implementation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Differentiating IT (L.LCF)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SWORD Customer Service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8781-4940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Richard.Schulz@dbschenker.com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Jürgen van Eik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Service Manager SWORD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8781-8868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9748 1026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juergen.van-eik@dbschenker.com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Herber Mayer-Rückleben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Global 24/7 Support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8781-8195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+49 170 782 3258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herbert.mayer-rueckleben@dbschenker.com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Gabriele Klar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Customer Service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+49 160 899 0219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gabriele.klar@dbschenker.com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SWORD Engineering Competence Center 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8781-8218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+49 175 182 2287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michael.scherner@dbschenker.com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Birgit Bogumil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Special Projects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8781-8568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+49 170 922 6014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birgit.bogumil@dbschenker.com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Project Manager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8781-8107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+49 151 651 66627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markus.melms.extern@dbschenker.com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 1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7" Type="http://schemas.openxmlformats.org/officeDocument/2006/relationships/theme" Target="../theme/theme1.xml"/><Relationship Id="rId46" Type="http://schemas.openxmlformats.org/officeDocument/2006/relationships/image" Target="../media/image8.png"/><Relationship Id="rId45" Type="http://schemas.openxmlformats.org/officeDocument/2006/relationships/image" Target="../media/image1.png"/><Relationship Id="rId44" Type="http://schemas.openxmlformats.org/officeDocument/2006/relationships/tags" Target="../tags/tag9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de-DE" dirty="0"/>
              <a:t>Klicken Sie, um die Formate des Vorlagentextes zu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/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/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4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de-DE" sz="900" b="0" i="0" dirty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>
                <a:solidFill>
                  <a:srgbClr val="000000"/>
                </a:solidFill>
                <a:latin typeface="+mn-lt"/>
              </a:rPr>
              <a:t>l 01 - 2015| Basic XML-Knowledge</a:t>
            </a:r>
            <a:endParaRPr lang="de-DE" sz="900" b="0" i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6055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830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9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61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3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5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7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210450" y="4081463"/>
            <a:ext cx="9648000" cy="576000"/>
          </a:xfrm>
        </p:spPr>
        <p:txBody>
          <a:bodyPr/>
          <a:lstStyle/>
          <a:p>
            <a:r>
              <a:rPr lang="en-US" dirty="0"/>
              <a:t>XML-Basic knowledge</a:t>
            </a:r>
            <a:endParaRPr lang="en-US" noProof="0" dirty="0">
              <a:latin typeface="+mj-lt"/>
            </a:endParaRPr>
          </a:p>
        </p:txBody>
      </p:sp>
      <p:sp>
        <p:nvSpPr>
          <p:cNvPr id="3" name="FirmaBox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37325" y="5589588"/>
            <a:ext cx="33686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Name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Referent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4" name="Referentbox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37325" y="5876925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Title/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537325" y="5561013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537325" y="5849938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537325" y="6137275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537325" y="6426200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9" name="Referentbox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37220" y="616551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Corporate Customer &amp; Enterprise Integration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Referentbox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537220" y="645355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Date 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9. Initials of all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employees</a:t>
            </a:r>
            <a:b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9. Initials of all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employees</a:t>
            </a:r>
            <a:b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//person[../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()=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"employees"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]/</a:t>
            </a:r>
            <a:r>
              <a:rPr lang="en-US" sz="2400" dirty="0" err="1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concat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(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substring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(name,1,1),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".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,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substring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(surname,1,1),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"."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)</a:t>
            </a:r>
            <a:b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</a:b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or</a:t>
            </a:r>
            <a:b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</a:b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//person[ancestor::employees] /</a:t>
            </a:r>
            <a:r>
              <a:rPr lang="en-US" sz="2400" dirty="0" err="1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concat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(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substring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(name,1,1),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". </a:t>
            </a:r>
            <a:r>
              <a:rPr lang="de-DE" sz="2400" dirty="0">
                <a:solidFill>
                  <a:srgbClr val="CC66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"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,</a:t>
            </a:r>
            <a:r>
              <a:rPr lang="de-DE" sz="2400" dirty="0" err="1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substring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(surname,1,1),</a:t>
            </a:r>
            <a:r>
              <a:rPr lang="de-DE" sz="2400" dirty="0">
                <a:solidFill>
                  <a:srgbClr val="CC66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"."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)</a:t>
            </a:r>
            <a:endParaRPr lang="de-DE" sz="2400" dirty="0">
              <a:highlight>
                <a:srgbClr val="FFFFFF"/>
              </a:highlight>
              <a:latin typeface="Calibri" panose="020F0502020204030204"/>
              <a:ea typeface="Calibri" panose="020F0502020204030204"/>
              <a:cs typeface="Times New Roman" panose="02020603050405020304"/>
            </a:endParaRPr>
          </a:p>
          <a:p>
            <a:endParaRPr lang="de-DE" sz="2800" dirty="0"/>
          </a:p>
          <a:p>
            <a:endParaRPr lang="en-US" sz="2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752" y="4149080"/>
            <a:ext cx="3682110" cy="871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10. Which group has the oldest person?</a:t>
            </a:r>
            <a:b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endParaRPr lang="de-DE" sz="2800" dirty="0"/>
          </a:p>
          <a:p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10. Which group has the oldest person?</a:t>
            </a:r>
            <a:b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//persons/*[person[@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age=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max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(//@age)]]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800" dirty="0"/>
          </a:p>
          <a:p>
            <a:endParaRPr lang="en-US" sz="2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792" y="2941513"/>
            <a:ext cx="3823334" cy="613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11. Select all “Tweens”</a:t>
            </a:r>
            <a:endParaRPr lang="de-DE" sz="2800" dirty="0"/>
          </a:p>
          <a:p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11. Select all “Tweens”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/>
              <a:t>//person[@age&gt;19 and @age&lt;30]</a:t>
            </a:r>
            <a:endParaRPr lang="en-US" sz="240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/>
              <a:t>//person[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substring</a:t>
            </a:r>
            <a:r>
              <a:rPr lang="en-US" sz="2400" dirty="0"/>
              <a:t>(@age,1,1)="2"]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b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/>
              <a:t>//person[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substring</a:t>
            </a:r>
            <a:r>
              <a:rPr lang="en-US" sz="2400" dirty="0"/>
              <a:t>(@age,1,1)="2" and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string-length</a:t>
            </a:r>
            <a:r>
              <a:rPr lang="en-US" sz="2400" dirty="0"/>
              <a:t>(@age)=2] 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endParaRPr lang="de-DE" sz="2800" dirty="0"/>
          </a:p>
          <a:p>
            <a:endParaRPr lang="en-US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384" y="4797152"/>
            <a:ext cx="5556771" cy="102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12. Are there more female or male persons?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r>
              <a:rPr lang="de-DE" sz="2800" dirty="0"/>
              <a:t>//*[count(person[@gender="female"]) = max(//*/count(person[@gender="female"]))]</a:t>
            </a:r>
            <a:endParaRPr lang="de-DE" sz="2800" dirty="0"/>
          </a:p>
          <a:p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12. Are there more female or male persons?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if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count</a:t>
            </a:r>
            <a:r>
              <a:rPr lang="en-US" sz="2400" dirty="0"/>
              <a:t>(//person[@gender="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male</a:t>
            </a:r>
            <a:r>
              <a:rPr lang="en-US" sz="2400" dirty="0"/>
              <a:t>"])&gt;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count</a:t>
            </a:r>
            <a:r>
              <a:rPr lang="en-US" sz="2400" dirty="0"/>
              <a:t>(//person[@gender="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female</a:t>
            </a:r>
            <a:r>
              <a:rPr lang="en-US" sz="2400" dirty="0"/>
              <a:t>"]))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then</a:t>
            </a:r>
            <a:r>
              <a:rPr lang="en-US" sz="2400" dirty="0"/>
              <a:t> "male"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else</a:t>
            </a:r>
            <a:r>
              <a:rPr lang="en-US" sz="2400" dirty="0"/>
              <a:t> "female“</a:t>
            </a:r>
            <a:endParaRPr lang="en-US" sz="240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if</a:t>
            </a:r>
            <a:r>
              <a:rPr lang="en-US" sz="1400" dirty="0"/>
              <a:t> ((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if</a:t>
            </a:r>
            <a:r>
              <a:rPr lang="en-US" sz="1400" dirty="0"/>
              <a:t> (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count</a:t>
            </a:r>
            <a:r>
              <a:rPr lang="en-US" sz="1400" dirty="0"/>
              <a:t>(//person[@gender="</a:t>
            </a:r>
            <a:r>
              <a:rPr lang="en-US" sz="1400" dirty="0">
                <a:solidFill>
                  <a:srgbClr val="CC6600"/>
                </a:solidFill>
                <a:latin typeface="Arial" panose="020B0604020202020204"/>
                <a:ea typeface="Calibri" panose="020F0502020204030204"/>
                <a:cs typeface="Times New Roman" panose="02020603050405020304"/>
              </a:rPr>
              <a:t>male</a:t>
            </a:r>
            <a:r>
              <a:rPr lang="en-US" sz="1400" dirty="0"/>
              <a:t>"])=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count</a:t>
            </a:r>
            <a:r>
              <a:rPr lang="en-US" sz="1400" dirty="0"/>
              <a:t>(//person[@gender="</a:t>
            </a:r>
            <a:r>
              <a:rPr lang="en-US" sz="1400" dirty="0">
                <a:solidFill>
                  <a:srgbClr val="CC6600"/>
                </a:solidFill>
                <a:latin typeface="Arial" panose="020B0604020202020204"/>
                <a:ea typeface="Calibri" panose="020F0502020204030204"/>
                <a:cs typeface="Times New Roman" panose="02020603050405020304"/>
              </a:rPr>
              <a:t>female</a:t>
            </a:r>
            <a:r>
              <a:rPr lang="en-US" sz="1400" dirty="0"/>
              <a:t>"])) 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then</a:t>
            </a:r>
            <a:r>
              <a:rPr lang="en-US" sz="1400" dirty="0"/>
              <a:t> 1 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else</a:t>
            </a:r>
            <a:r>
              <a:rPr lang="en-US" sz="1400" dirty="0"/>
              <a:t> 2)=1)</a:t>
            </a:r>
            <a:endParaRPr lang="en-US" sz="1400" dirty="0"/>
          </a:p>
          <a:p>
            <a:r>
              <a:rPr lang="en-US" sz="1400" dirty="0"/>
              <a:t> 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then</a:t>
            </a:r>
            <a:r>
              <a:rPr lang="en-US" sz="1400" dirty="0"/>
              <a:t> "</a:t>
            </a:r>
            <a:r>
              <a:rPr lang="en-US" sz="1400" dirty="0" err="1">
                <a:solidFill>
                  <a:srgbClr val="CC6600"/>
                </a:solidFill>
                <a:latin typeface="Arial" panose="020B0604020202020204"/>
                <a:ea typeface="Calibri" panose="020F0502020204030204"/>
                <a:cs typeface="Times New Roman" panose="02020603050405020304"/>
              </a:rPr>
              <a:t>gleich</a:t>
            </a:r>
            <a:r>
              <a:rPr lang="en-US" sz="1400" dirty="0"/>
              <a:t>" 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else</a:t>
            </a:r>
            <a:r>
              <a:rPr lang="en-US" sz="1400" dirty="0"/>
              <a:t> (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if</a:t>
            </a:r>
            <a:r>
              <a:rPr lang="en-US" sz="1400" dirty="0"/>
              <a:t> (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count</a:t>
            </a:r>
            <a:r>
              <a:rPr lang="en-US" sz="1400" dirty="0"/>
              <a:t>(//person[@gender="</a:t>
            </a:r>
            <a:r>
              <a:rPr lang="en-US" sz="1400" dirty="0">
                <a:solidFill>
                  <a:srgbClr val="CC6600"/>
                </a:solidFill>
                <a:latin typeface="Arial" panose="020B0604020202020204"/>
                <a:ea typeface="Calibri" panose="020F0502020204030204"/>
                <a:cs typeface="Times New Roman" panose="02020603050405020304"/>
              </a:rPr>
              <a:t>male</a:t>
            </a:r>
            <a:r>
              <a:rPr lang="en-US" sz="1400" dirty="0"/>
              <a:t>"])&gt;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count</a:t>
            </a:r>
            <a:r>
              <a:rPr lang="en-US" sz="1400" dirty="0"/>
              <a:t>(//person[@gender="</a:t>
            </a:r>
            <a:r>
              <a:rPr lang="en-US" sz="1400" dirty="0">
                <a:solidFill>
                  <a:srgbClr val="CC6600"/>
                </a:solidFill>
                <a:latin typeface="Arial" panose="020B0604020202020204"/>
                <a:ea typeface="Calibri" panose="020F0502020204030204"/>
                <a:cs typeface="Times New Roman" panose="02020603050405020304"/>
              </a:rPr>
              <a:t>female</a:t>
            </a:r>
            <a:r>
              <a:rPr lang="en-US" sz="1400" dirty="0"/>
              <a:t>"])) 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then</a:t>
            </a:r>
            <a:r>
              <a:rPr lang="en-US" sz="1400" dirty="0"/>
              <a:t> "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male</a:t>
            </a:r>
            <a:r>
              <a:rPr lang="en-US" sz="1400" dirty="0"/>
              <a:t>" </a:t>
            </a:r>
            <a:r>
              <a:rPr lang="en-US" sz="1400" dirty="0">
                <a:solidFill>
                  <a:srgbClr val="00808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else</a:t>
            </a:r>
            <a:r>
              <a:rPr lang="en-US" sz="1400" dirty="0"/>
              <a:t> "</a:t>
            </a:r>
            <a:r>
              <a:rPr lang="en-US" sz="1400" dirty="0">
                <a:solidFill>
                  <a:srgbClr val="CC6600"/>
                </a:solidFill>
                <a:latin typeface="Arial" panose="020B0604020202020204"/>
                <a:ea typeface="Calibri" panose="020F0502020204030204"/>
                <a:cs typeface="Times New Roman" panose="02020603050405020304"/>
              </a:rPr>
              <a:t>female</a:t>
            </a:r>
            <a:r>
              <a:rPr lang="en-US" sz="1400" dirty="0"/>
              <a:t>")</a:t>
            </a:r>
            <a:endParaRPr lang="en-US" sz="140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800" dirty="0"/>
          </a:p>
          <a:p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784" y="3309938"/>
            <a:ext cx="3810400" cy="407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13.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Which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is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highest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count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attributes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?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13.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Which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is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highest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count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de-DE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attributes</a:t>
            </a:r>
            <a:r>
              <a:rPr lang="de-DE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?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max</a:t>
            </a:r>
            <a:r>
              <a:rPr lang="en-US" sz="2400" dirty="0"/>
              <a:t>(//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count</a:t>
            </a:r>
            <a:r>
              <a:rPr lang="en-US" sz="2400" dirty="0"/>
              <a:t>(@*))</a:t>
            </a:r>
            <a:endParaRPr lang="en-US" sz="24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2978442"/>
            <a:ext cx="4120282" cy="57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14. Which is the max level of elements?</a:t>
            </a:r>
            <a:br>
              <a:rPr lang="en-US" sz="2400" dirty="0"/>
            </a:b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14. Which is the max level of elements?</a:t>
            </a:r>
            <a:br>
              <a:rPr lang="en-US" sz="2400" dirty="0"/>
            </a:b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max</a:t>
            </a:r>
            <a:r>
              <a:rPr lang="en-US" sz="2400" dirty="0"/>
              <a:t>(//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/>
                <a:ea typeface="Calibri" panose="020F0502020204030204"/>
                <a:cs typeface="Times New Roman" panose="02020603050405020304"/>
              </a:rPr>
              <a:t>count</a:t>
            </a:r>
            <a:r>
              <a:rPr lang="en-US" sz="2400" dirty="0"/>
              <a:t>(ancestor-or-self::*))</a:t>
            </a:r>
            <a:endParaRPr lang="en-US" sz="240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/>
              <a:t>//*[count(ancestor-or-self::*)=max(//*/count(ancestor-or-self::*))]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744" y="2852936"/>
            <a:ext cx="3570697" cy="50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WNOMINIMIZE" val="-1"/>
</p:tagLst>
</file>

<file path=ppt/tags/tag2.xml><?xml version="1.0" encoding="utf-8"?>
<p:tagLst xmlns:p="http://schemas.openxmlformats.org/presentationml/2006/main">
  <p:tag name="TWNOMINIMIZE" val="-1"/>
</p:tagLst>
</file>

<file path=ppt/tags/tag3.xml><?xml version="1.0" encoding="utf-8"?>
<p:tagLst xmlns:p="http://schemas.openxmlformats.org/presentationml/2006/main">
  <p:tag name="TWNOMINIMIZE" val="-1"/>
</p:tagLst>
</file>

<file path=ppt/tags/tag4.xml><?xml version="1.0" encoding="utf-8"?>
<p:tagLst xmlns:p="http://schemas.openxmlformats.org/presentationml/2006/main">
  <p:tag name="TWNOMINIMIZE" val="-1"/>
</p:tagLst>
</file>

<file path=ppt/tags/tag5.xml><?xml version="1.0" encoding="utf-8"?>
<p:tagLst xmlns:p="http://schemas.openxmlformats.org/presentationml/2006/main">
  <p:tag name="TWNOMINIMIZE" val="-1"/>
</p:tagLst>
</file>

<file path=ppt/tags/tag6.xml><?xml version="1.0" encoding="utf-8"?>
<p:tagLst xmlns:p="http://schemas.openxmlformats.org/presentationml/2006/main">
  <p:tag name="TWNOMINIMIZE" val="-1"/>
</p:tagLst>
</file>

<file path=ppt/tags/tag7.xml><?xml version="1.0" encoding="utf-8"?>
<p:tagLst xmlns:p="http://schemas.openxmlformats.org/presentationml/2006/main">
  <p:tag name="TWNOMINIMIZE" val="-1"/>
</p:tagLst>
</file>

<file path=ppt/tags/tag8.xml><?xml version="1.0" encoding="utf-8"?>
<p:tagLst xmlns:p="http://schemas.openxmlformats.org/presentationml/2006/main">
  <p:tag name="TWNOMINIMIZE" val="-1"/>
</p:tagLst>
</file>

<file path=ppt/tags/tag9.xml><?xml version="1.0" encoding="utf-8"?>
<p:tagLst xmlns:p="http://schemas.openxmlformats.org/presentationml/2006/main">
  <p:tag name="TWNOMINIMIZE" val="-1"/>
</p:tagLst>
</file>

<file path=ppt/tags/tag10.xml><?xml version="1.0" encoding="utf-8"?>
<p:tagLst xmlns:p="http://schemas.openxmlformats.org/presentationml/2006/main">
  <p:tag name="TWNOCDCHECK" val="-1"/>
</p:tagLst>
</file>

<file path=ppt/tags/tag11.xml><?xml version="1.0" encoding="utf-8"?>
<p:tagLst xmlns:p="http://schemas.openxmlformats.org/presentationml/2006/main">
  <p:tag name="TWNOCDCHECK" val="-1"/>
</p:tagLst>
</file>

<file path=ppt/tags/tag12.xml><?xml version="1.0" encoding="utf-8"?>
<p:tagLst xmlns:p="http://schemas.openxmlformats.org/presentationml/2006/main">
  <p:tag name="TWNOCDCHECK" val="-1"/>
</p:tagLst>
</file>

<file path=ppt/tags/tag13.xml><?xml version="1.0" encoding="utf-8"?>
<p:tagLst xmlns:p="http://schemas.openxmlformats.org/presentationml/2006/main">
  <p:tag name="TWNOCDCHECK" val="-1"/>
</p:tagLst>
</file>

<file path=ppt/tags/tag14.xml><?xml version="1.0" encoding="utf-8"?>
<p:tagLst xmlns:p="http://schemas.openxmlformats.org/presentationml/2006/main">
  <p:tag name="TWNOCDCHECK" val="-1"/>
</p:tagLst>
</file>

<file path=ppt/tags/tag15.xml><?xml version="1.0" encoding="utf-8"?>
<p:tagLst xmlns:p="http://schemas.openxmlformats.org/presentationml/2006/main">
  <p:tag name="TWNOCDCHECK" val="-1"/>
</p:tagLst>
</file>

<file path=ppt/tags/tag16.xml><?xml version="1.0" encoding="utf-8"?>
<p:tagLst xmlns:p="http://schemas.openxmlformats.org/presentationml/2006/main">
  <p:tag name="TWNOCDCHECK" val="-1"/>
</p:tagLst>
</file>

<file path=ppt/tags/tag17.xml><?xml version="1.0" encoding="utf-8"?>
<p:tagLst xmlns:p="http://schemas.openxmlformats.org/presentationml/2006/main">
  <p:tag name="TWNOCDCHECK" val="-1"/>
</p:tagLst>
</file>

<file path=ppt/tags/tag18.xml><?xml version="1.0" encoding="utf-8"?>
<p:tagLst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  <p:tag name="KSO_WPP_MARK_KEY" val="c137e02a-6834-4570-8ab7-d6edbe54368b"/>
  <p:tag name="COMMONDATA" val="eyJoZGlkIjoiNGE2ZDEyOWJhOTU4ZDVkNjU0ZTAyZTdjNmYzZDVkYjYifQ==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1508</Words>
  <Application>WPS 演示</Application>
  <PresentationFormat>A4-Papier (210 x 297 mm)</PresentationFormat>
  <Paragraphs>108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DB Office</vt:lpstr>
      <vt:lpstr>Segoe Print</vt:lpstr>
      <vt:lpstr>DB Office</vt:lpstr>
      <vt:lpstr>Times New Roman</vt:lpstr>
      <vt:lpstr>Arial</vt:lpstr>
      <vt:lpstr>Calibri</vt:lpstr>
      <vt:lpstr>微软雅黑</vt:lpstr>
      <vt:lpstr>Arial Unicode MS</vt:lpstr>
      <vt:lpstr>Die Bahn_2003</vt:lpstr>
      <vt:lpstr>PowerPoint 演示文稿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PowerPoint 演示文稿</vt:lpstr>
    </vt:vector>
  </TitlesOfParts>
  <Company>DB Schenker Deutschland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，，</cp:lastModifiedBy>
  <cp:revision>625</cp:revision>
  <cp:lastPrinted>2012-11-23T10:04:00Z</cp:lastPrinted>
  <dcterms:created xsi:type="dcterms:W3CDTF">2012-01-09T10:50:00Z</dcterms:created>
  <dcterms:modified xsi:type="dcterms:W3CDTF">2023-01-14T11:32:31Z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ICV">
    <vt:lpwstr>33ADAF96C8D544E9B385DC1A402CF702</vt:lpwstr>
  </property>
  <property fmtid="{D5CDD505-2E9C-101B-9397-08002B2CF9AE}" pid="4" name="KSOProductBuildVer">
    <vt:lpwstr>2052-11.1.0.12980</vt:lpwstr>
  </property>
</Properties>
</file>