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11"/>
  </p:notesMasterIdLst>
  <p:handoutMasterIdLst>
    <p:handoutMasterId r:id="rId14"/>
  </p:handoutMasterIdLst>
  <p:sldIdLst>
    <p:sldId id="352" r:id="rId3"/>
    <p:sldId id="333" r:id="rId4"/>
    <p:sldId id="396" r:id="rId5"/>
    <p:sldId id="397" r:id="rId6"/>
    <p:sldId id="398" r:id="rId7"/>
    <p:sldId id="399" r:id="rId8"/>
    <p:sldId id="400" r:id="rId9"/>
    <p:sldId id="401" r:id="rId10"/>
    <p:sldId id="402" r:id="rId12"/>
    <p:sldId id="379" r:id="rId13"/>
  </p:sldIdLst>
  <p:sldSz cx="9906000" cy="6858000" type="A4"/>
  <p:notesSz cx="6797675" cy="9874250"/>
  <p:custDataLst>
    <p:tags r:id="rId18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570" userDrawn="1">
          <p15:clr>
            <a:srgbClr val="A4A3A4"/>
          </p15:clr>
        </p15:guide>
        <p15:guide id="3" orient="horz" pos="356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2931" userDrawn="1">
          <p15:clr>
            <a:srgbClr val="A4A3A4"/>
          </p15:clr>
        </p15:guide>
        <p15:guide id="6" orient="horz" pos="3521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339" userDrawn="1">
          <p15:clr>
            <a:srgbClr val="A4A3A4"/>
          </p15:clr>
        </p15:guide>
        <p15:guide id="9" orient="horz" pos="3067" userDrawn="1">
          <p15:clr>
            <a:srgbClr val="A4A3A4"/>
          </p15:clr>
        </p15:guide>
        <p15:guide id="10" orient="horz" pos="1389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pos="1532" userDrawn="1">
          <p15:clr>
            <a:srgbClr val="A4A3A4"/>
          </p15:clr>
        </p15:guide>
        <p15:guide id="13" pos="6114" userDrawn="1">
          <p15:clr>
            <a:srgbClr val="A4A3A4"/>
          </p15:clr>
        </p15:guide>
        <p15:guide id="14" pos="3120" userDrawn="1">
          <p15:clr>
            <a:srgbClr val="A4A3A4"/>
          </p15:clr>
        </p15:guide>
        <p15:guide id="15" pos="23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4632" autoAdjust="0"/>
    <p:restoredTop sz="94588" autoAdjust="0"/>
  </p:normalViewPr>
  <p:slideViewPr>
    <p:cSldViewPr showGuides="1">
      <p:cViewPr varScale="1">
        <p:scale>
          <a:sx n="66" d="100"/>
          <a:sy n="66" d="100"/>
        </p:scale>
        <p:origin x="328" y="32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noProof="0"/>
              <a:t>Klicken Sie, um die Formate des Vorlagentextes zu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88786-1D63-4D5D-B015-692FC08AD38F}" type="slidenum">
              <a:rPr lang="de-DE" smtClean="0"/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image" Target="../media/image8.png"/><Relationship Id="rId45" Type="http://schemas.openxmlformats.org/officeDocument/2006/relationships/image" Target="../media/image1.png"/><Relationship Id="rId44" Type="http://schemas.openxmlformats.org/officeDocument/2006/relationships/tags" Target="../tags/tag9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/>
              <a:t>Klicken Sie, um die Formate des Vorlagentextes zu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/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/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  <a:endParaRPr lang="de-DE" sz="900" b="0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6055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830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9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61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3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5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7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hyperlink" Target="http://en.wikipedia.org/wiki/XHTML" TargetMode="External"/><Relationship Id="rId3" Type="http://schemas.openxmlformats.org/officeDocument/2006/relationships/hyperlink" Target="http://en.wikipedia.org/wiki/SOAP" TargetMode="External"/><Relationship Id="rId2" Type="http://schemas.openxmlformats.org/officeDocument/2006/relationships/hyperlink" Target="http://en.wikipedia.org/wiki/Atom_(standard)" TargetMode="External"/><Relationship Id="rId1" Type="http://schemas.openxmlformats.org/officeDocument/2006/relationships/hyperlink" Target="http://en.wikipedia.org/wiki/RS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hyperlink" Target="http://de.wikipedia.org/wiki/CDATA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://de.wikipedia.org/wiki/XML_Schema" TargetMode="External"/><Relationship Id="rId8" Type="http://schemas.openxmlformats.org/officeDocument/2006/relationships/hyperlink" Target="http://de.wikipedia.org/wiki/XQuery" TargetMode="External"/><Relationship Id="rId7" Type="http://schemas.openxmlformats.org/officeDocument/2006/relationships/hyperlink" Target="http://de.wikipedia.org/wiki/XInclude" TargetMode="External"/><Relationship Id="rId6" Type="http://schemas.openxmlformats.org/officeDocument/2006/relationships/hyperlink" Target="http://de.wikipedia.org/wiki/XLink_(Syntax)" TargetMode="External"/><Relationship Id="rId5" Type="http://schemas.openxmlformats.org/officeDocument/2006/relationships/hyperlink" Target="http://de.wikipedia.org/wiki/XPointer" TargetMode="External"/><Relationship Id="rId4" Type="http://schemas.openxmlformats.org/officeDocument/2006/relationships/hyperlink" Target="http://de.wikipedia.org/wiki/XPath" TargetMode="External"/><Relationship Id="rId3" Type="http://schemas.openxmlformats.org/officeDocument/2006/relationships/hyperlink" Target="http://de.wikipedia.org/wiki/Streaming_Transformations_for_XML" TargetMode="External"/><Relationship Id="rId2" Type="http://schemas.openxmlformats.org/officeDocument/2006/relationships/hyperlink" Target="http://de.wikipedia.org/wiki/XSL_Transformation" TargetMode="External"/><Relationship Id="rId13" Type="http://schemas.openxmlformats.org/officeDocument/2006/relationships/slideLayout" Target="../slideLayouts/slideLayout9.xml"/><Relationship Id="rId12" Type="http://schemas.openxmlformats.org/officeDocument/2006/relationships/hyperlink" Target="http://de.wikipedia.org/wiki/XSL-FO" TargetMode="External"/><Relationship Id="rId11" Type="http://schemas.openxmlformats.org/officeDocument/2006/relationships/hyperlink" Target="http://de.wikipedia.org/wiki/RELAX_NG" TargetMode="External"/><Relationship Id="rId10" Type="http://schemas.openxmlformats.org/officeDocument/2006/relationships/hyperlink" Target="http://de.wikipedia.org/wiki/Dokumenttypdefinition" TargetMode="External"/><Relationship Id="rId1" Type="http://schemas.openxmlformats.org/officeDocument/2006/relationships/hyperlink" Target="http://de.wikipedia.org/wiki/World_Wide_Web_Consortiu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/>
              <a:t>XML-Basic knowledge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XML-Basic knowledge</a:t>
            </a:r>
            <a:endParaRPr lang="en-US" noProof="0" dirty="0"/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Structure</a:t>
            </a:r>
            <a:endParaRPr lang="en-US" noProof="0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What is XML </a:t>
            </a:r>
            <a:endParaRPr lang="en-US" noProof="0" dirty="0"/>
          </a:p>
        </p:txBody>
      </p:sp>
      <p:sp>
        <p:nvSpPr>
          <p:cNvPr id="30" name="Textplatzhalter 2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Processing </a:t>
            </a:r>
            <a:r>
              <a:rPr lang="de-DE" dirty="0" err="1"/>
              <a:t>of</a:t>
            </a:r>
            <a:r>
              <a:rPr lang="de-DE" dirty="0"/>
              <a:t> XML</a:t>
            </a:r>
            <a:endParaRPr lang="de-DE" dirty="0"/>
          </a:p>
        </p:txBody>
      </p:sp>
      <p:sp>
        <p:nvSpPr>
          <p:cNvPr id="32" name="Textplatzhalter 3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Schemas</a:t>
            </a:r>
            <a:endParaRPr lang="de-DE" dirty="0"/>
          </a:p>
        </p:txBody>
      </p:sp>
      <p:sp>
        <p:nvSpPr>
          <p:cNvPr id="9" name="Textplatzhalter 31"/>
          <p:cNvSpPr>
            <a:spLocks noGrp="1"/>
          </p:cNvSpPr>
          <p:nvPr>
            <p:ph type="body" sz="quarter" idx="24"/>
          </p:nvPr>
        </p:nvSpPr>
        <p:spPr>
          <a:xfrm>
            <a:off x="820400" y="5013176"/>
            <a:ext cx="5932800" cy="576000"/>
          </a:xfrm>
        </p:spPr>
        <p:txBody>
          <a:bodyPr/>
          <a:lstStyle/>
          <a:p>
            <a:r>
              <a:rPr lang="de-DE" dirty="0"/>
              <a:t>Infrastructure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Motivation &amp; History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>
                <a:highlight>
                  <a:srgbClr val="FFFF00"/>
                </a:highlight>
              </a:rPr>
              <a:t>Splitting </a:t>
            </a:r>
            <a:r>
              <a:rPr lang="de-DE" dirty="0" err="1">
                <a:highlight>
                  <a:srgbClr val="FFFF00"/>
                </a:highlight>
              </a:rPr>
              <a:t>content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structure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and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layout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of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data</a:t>
            </a:r>
            <a:endParaRPr lang="de-DE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1996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introduced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1998 </a:t>
            </a:r>
            <a:r>
              <a:rPr lang="de-DE" dirty="0" err="1"/>
              <a:t>Recommendation</a:t>
            </a:r>
            <a:r>
              <a:rPr lang="de-DE" dirty="0"/>
              <a:t> / XML-</a:t>
            </a:r>
            <a:r>
              <a:rPr lang="de-DE" dirty="0" err="1"/>
              <a:t>specification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W3C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human-</a:t>
            </a:r>
            <a:r>
              <a:rPr lang="de-DE" dirty="0" err="1"/>
              <a:t>readable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Successor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SGML:</a:t>
            </a:r>
            <a:endParaRPr lang="de-DE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dirty="0"/>
              <a:t>Standard </a:t>
            </a:r>
            <a:r>
              <a:rPr lang="de-DE" dirty="0" err="1"/>
              <a:t>Generalized</a:t>
            </a:r>
            <a:r>
              <a:rPr lang="de-DE" dirty="0"/>
              <a:t> Markup Language (SGML). European Standard (Norm) EN 28879:1990 </a:t>
            </a:r>
            <a:r>
              <a:rPr lang="de-DE" dirty="0" err="1"/>
              <a:t>and</a:t>
            </a:r>
            <a:r>
              <a:rPr lang="de-DE" dirty="0"/>
              <a:t> DIN EN 28879:1991.</a:t>
            </a:r>
            <a:endParaRPr lang="de-DE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Retired</a:t>
            </a:r>
            <a:r>
              <a:rPr lang="de-DE" dirty="0"/>
              <a:t> 2012</a:t>
            </a:r>
            <a:endParaRPr lang="de-DE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dirty="0"/>
              <a:t>Trivia: </a:t>
            </a:r>
            <a:r>
              <a:rPr lang="de-DE" dirty="0" err="1"/>
              <a:t>definition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SGML  500pages &lt;-&gt;</a:t>
            </a:r>
            <a:r>
              <a:rPr lang="de-DE" dirty="0" err="1"/>
              <a:t>definition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XML nur 26.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ways</a:t>
            </a:r>
            <a:r>
              <a:rPr lang="de-DE" dirty="0"/>
              <a:t>: </a:t>
            </a:r>
            <a:r>
              <a:rPr lang="en-US" dirty="0">
                <a:hlinkClick r:id="rId1" tooltip="RSS"/>
              </a:rPr>
              <a:t>RSS</a:t>
            </a:r>
            <a:r>
              <a:rPr lang="en-US" dirty="0"/>
              <a:t>, </a:t>
            </a:r>
            <a:r>
              <a:rPr lang="en-US" dirty="0">
                <a:hlinkClick r:id="rId2" tooltip="Atom (standard)"/>
              </a:rPr>
              <a:t>Atom</a:t>
            </a:r>
            <a:r>
              <a:rPr lang="en-US" dirty="0"/>
              <a:t>, </a:t>
            </a:r>
            <a:r>
              <a:rPr lang="en-US" dirty="0">
                <a:hlinkClick r:id="rId3" tooltip="SOAP"/>
              </a:rPr>
              <a:t>SOAP</a:t>
            </a:r>
            <a:r>
              <a:rPr lang="en-US" dirty="0"/>
              <a:t>, </a:t>
            </a:r>
            <a:r>
              <a:rPr lang="en-US" dirty="0">
                <a:hlinkClick r:id="rId4" tooltip="XHTML"/>
              </a:rPr>
              <a:t>XHTML</a:t>
            </a:r>
            <a:r>
              <a:rPr lang="en-US" dirty="0"/>
              <a:t>… 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XML	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Physical</a:t>
            </a: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dirty="0"/>
              <a:t>Entities are used for assembling an XML-document: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Handled via includes of resources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One main entity which can referencing multiple resources</a:t>
            </a:r>
            <a:endParaRPr lang="en-US" dirty="0"/>
          </a:p>
          <a:p>
            <a:br>
              <a:rPr lang="en-US" sz="1800" b="1" dirty="0"/>
            </a:br>
            <a:r>
              <a:rPr lang="en-US" sz="1800" b="1" dirty="0"/>
              <a:t>Logical</a:t>
            </a:r>
            <a:endParaRPr lang="en-US" sz="1800" b="1" dirty="0"/>
          </a:p>
          <a:p>
            <a:r>
              <a:rPr lang="en-US" dirty="0"/>
              <a:t>XML is organized as </a:t>
            </a:r>
            <a:r>
              <a:rPr lang="en-US" dirty="0">
                <a:highlight>
                  <a:srgbClr val="FFFF00"/>
                </a:highlight>
              </a:rPr>
              <a:t>tree structure</a:t>
            </a:r>
            <a:r>
              <a:rPr lang="en-US" dirty="0"/>
              <a:t>. It can include data for structure, content and layout.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</a:rPr>
              <a:t>A valid XML-document is well formed and contains: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Instance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DTD or schema-definition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The instance itself can be validated through the schema definition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Structure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a XML-</a:t>
            </a:r>
            <a:r>
              <a:rPr lang="de-DE" sz="1800" b="1" dirty="0" err="1"/>
              <a:t>Document</a:t>
            </a:r>
            <a:endParaRPr lang="de-DE" sz="1800" b="1" dirty="0"/>
          </a:p>
          <a:p>
            <a:pPr marL="285750" indent="-285750">
              <a:buFontTx/>
              <a:buChar char="-"/>
            </a:pPr>
            <a:r>
              <a:rPr lang="de-DE" dirty="0"/>
              <a:t>&lt;?</a:t>
            </a:r>
            <a:r>
              <a:rPr lang="de-DE" i="1" dirty="0"/>
              <a:t>Processing </a:t>
            </a:r>
            <a:r>
              <a:rPr lang="de-DE" i="1" dirty="0" err="1"/>
              <a:t>instructions</a:t>
            </a:r>
            <a:r>
              <a:rPr lang="de-DE" dirty="0"/>
              <a:t> ?&gt;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i="1" dirty="0"/>
              <a:t>&lt;?</a:t>
            </a:r>
            <a:r>
              <a:rPr lang="de-DE" i="1" dirty="0" err="1"/>
              <a:t>php</a:t>
            </a:r>
            <a:r>
              <a:rPr lang="de-DE" i="1" dirty="0"/>
              <a:t>…?&gt;</a:t>
            </a:r>
            <a:br>
              <a:rPr lang="de-DE" i="1" dirty="0"/>
            </a:br>
            <a:endParaRPr lang="de-DE" i="1" dirty="0"/>
          </a:p>
          <a:p>
            <a:pPr marL="285750" indent="-285750">
              <a:buFontTx/>
              <a:buChar char="-"/>
            </a:pPr>
            <a:r>
              <a:rPr lang="de-DE" i="1" dirty="0"/>
              <a:t>Elements </a:t>
            </a:r>
            <a:r>
              <a:rPr lang="en-US" i="1" dirty="0"/>
              <a:t>surrounded</a:t>
            </a:r>
            <a:r>
              <a:rPr lang="de-DE" i="1" dirty="0"/>
              <a:t> </a:t>
            </a:r>
            <a:r>
              <a:rPr lang="de-DE" i="1" dirty="0" err="1"/>
              <a:t>with</a:t>
            </a:r>
            <a:r>
              <a:rPr lang="de-DE" i="1" dirty="0"/>
              <a:t> &lt;&gt; </a:t>
            </a:r>
            <a:r>
              <a:rPr lang="de-DE" i="1" dirty="0" err="1"/>
              <a:t>and</a:t>
            </a:r>
            <a:r>
              <a:rPr lang="de-DE" i="1" dirty="0"/>
              <a:t> </a:t>
            </a:r>
            <a:r>
              <a:rPr lang="de-DE" i="1" dirty="0" err="1"/>
              <a:t>closing</a:t>
            </a:r>
            <a:r>
              <a:rPr lang="de-DE" i="1" dirty="0"/>
              <a:t> end-tag</a:t>
            </a:r>
            <a:endParaRPr lang="de-DE" i="1" dirty="0"/>
          </a:p>
          <a:p>
            <a:pPr marL="471805" lvl="1" indent="-285750">
              <a:buFontTx/>
              <a:buChar char="-"/>
            </a:pPr>
            <a:r>
              <a:rPr lang="de-DE" i="1" dirty="0"/>
              <a:t>&lt;element1&gt;&lt;/element1&gt;</a:t>
            </a:r>
            <a:endParaRPr lang="de-DE" i="1" dirty="0"/>
          </a:p>
          <a:p>
            <a:pPr marL="471805" lvl="1" indent="-285750">
              <a:buFontTx/>
              <a:buChar char="-"/>
            </a:pPr>
            <a:r>
              <a:rPr lang="de-DE" i="1" dirty="0"/>
              <a:t>&lt;element1/&gt; (valid </a:t>
            </a:r>
            <a:r>
              <a:rPr lang="de-DE" i="1" dirty="0" err="1"/>
              <a:t>if</a:t>
            </a:r>
            <a:r>
              <a:rPr lang="de-DE" i="1" dirty="0"/>
              <a:t> </a:t>
            </a:r>
            <a:r>
              <a:rPr lang="de-DE" i="1" dirty="0" err="1"/>
              <a:t>element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contentless</a:t>
            </a:r>
            <a:r>
              <a:rPr lang="de-DE" i="1" dirty="0"/>
              <a:t>)</a:t>
            </a:r>
            <a:br>
              <a:rPr lang="de-DE" i="1" dirty="0"/>
            </a:br>
            <a:endParaRPr lang="de-DE" i="1" dirty="0"/>
          </a:p>
          <a:p>
            <a:pPr marL="285750" indent="-285750">
              <a:buFontTx/>
              <a:buChar char="-"/>
            </a:pPr>
            <a:r>
              <a:rPr lang="de-DE" i="1" dirty="0"/>
              <a:t>Valid </a:t>
            </a:r>
            <a:r>
              <a:rPr lang="de-DE" i="1" dirty="0" err="1"/>
              <a:t>element</a:t>
            </a:r>
            <a:r>
              <a:rPr lang="de-DE" i="1" dirty="0"/>
              <a:t> </a:t>
            </a:r>
            <a:r>
              <a:rPr lang="de-DE" i="1" dirty="0" err="1"/>
              <a:t>names</a:t>
            </a:r>
            <a:r>
              <a:rPr lang="de-DE" i="1" dirty="0"/>
              <a:t>: </a:t>
            </a:r>
            <a:endParaRPr lang="de-DE" i="1" dirty="0"/>
          </a:p>
          <a:p>
            <a:pPr marL="471805" lvl="1" indent="-285750">
              <a:buFontTx/>
              <a:buChar char="-"/>
            </a:pPr>
            <a:r>
              <a:rPr lang="en-US" dirty="0"/>
              <a:t>can contain letters, numbers, and other characters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cannot start with a number or punctuation character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cannot start with the letters xml (or XML, or Xml,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cannot contain spaces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No words reserved (except xml…)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Elements can contain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Content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Attributes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other elements</a:t>
            </a:r>
            <a:endParaRPr lang="en-US" dirty="0"/>
          </a:p>
          <a:p>
            <a:pPr marL="471805" lvl="1" indent="-285750">
              <a:buFontTx/>
              <a:buChar char="-"/>
            </a:pPr>
            <a:endParaRPr lang="de-DE" i="1" dirty="0"/>
          </a:p>
          <a:p>
            <a:pPr marL="471805" lvl="1" indent="-285750">
              <a:buFontTx/>
              <a:buChar char="-"/>
            </a:pPr>
            <a:endParaRPr lang="de-DE" i="1" dirty="0"/>
          </a:p>
          <a:p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Mixed content is allowed</a:t>
            </a:r>
            <a:endParaRPr lang="en-US" dirty="0"/>
          </a:p>
          <a:p>
            <a:pPr marL="644525" lvl="2" indent="-285750">
              <a:buFontTx/>
              <a:buChar char="-"/>
            </a:pPr>
            <a:r>
              <a:rPr lang="en-US" dirty="0"/>
              <a:t>&lt;element1&gt;myContent1</a:t>
            </a:r>
            <a:br>
              <a:rPr lang="en-US" dirty="0"/>
            </a:br>
            <a:r>
              <a:rPr lang="en-US" dirty="0"/>
              <a:t>    &lt;elem2&gt;myContent2&lt;/elem2&gt;</a:t>
            </a:r>
            <a:br>
              <a:rPr lang="en-US" dirty="0"/>
            </a:br>
            <a:r>
              <a:rPr lang="en-US" dirty="0"/>
              <a:t>&lt;/element1&gt;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Namespaces defines the “vocabulary” 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In Html &lt;p/&gt; is defined as paragraph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In another meaning &lt;p/&gt; could have the meaning for person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Comments are marked by </a:t>
            </a:r>
            <a:r>
              <a:rPr lang="en-US" dirty="0">
                <a:highlight>
                  <a:srgbClr val="FFFF00"/>
                </a:highlight>
              </a:rPr>
              <a:t>&lt;!-- Your comment here --&gt;</a:t>
            </a:r>
            <a:endParaRPr lang="en-US" dirty="0">
              <a:highlight>
                <a:srgbClr val="FFFF00"/>
              </a:highlight>
            </a:endParaRPr>
          </a:p>
          <a:p>
            <a:pPr marL="471805" lvl="1" indent="-285750">
              <a:buFontTx/>
              <a:buChar char="-"/>
            </a:pPr>
            <a:r>
              <a:rPr lang="en-US" dirty="0"/>
              <a:t>Can wrap multiple lines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Comment in comment is not allowed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Reserved characters like &lt;,&amp;,&gt; has to be masked (“escaping”)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&amp;amp; =&gt; &amp;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&amp;</a:t>
            </a:r>
            <a:r>
              <a:rPr lang="en-US" dirty="0" err="1"/>
              <a:t>gt</a:t>
            </a:r>
            <a:r>
              <a:rPr lang="en-US" dirty="0"/>
              <a:t>; =&gt; &gt;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&amp;</a:t>
            </a:r>
            <a:r>
              <a:rPr lang="en-US" dirty="0" err="1"/>
              <a:t>lt</a:t>
            </a:r>
            <a:r>
              <a:rPr lang="en-US" dirty="0"/>
              <a:t>; =&gt; &lt;</a:t>
            </a:r>
            <a:endParaRPr lang="en-US" dirty="0"/>
          </a:p>
          <a:p>
            <a:pPr marL="471805" lvl="1" indent="-285750">
              <a:buFontTx/>
              <a:buChar char="-"/>
            </a:pPr>
            <a:r>
              <a:rPr lang="en-US" dirty="0"/>
              <a:t>…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de-DE" u="sng" dirty="0">
                <a:hlinkClick r:id="rId1" tooltip="CDATA"/>
              </a:rPr>
              <a:t>CDATA</a:t>
            </a:r>
            <a:r>
              <a:rPr lang="de-DE" u="sng" dirty="0"/>
              <a:t>-elements </a:t>
            </a:r>
            <a:r>
              <a:rPr lang="de-DE" u="sng" dirty="0" err="1"/>
              <a:t>can</a:t>
            </a:r>
            <a:r>
              <a:rPr lang="de-DE" u="sng" dirty="0"/>
              <a:t> </a:t>
            </a:r>
            <a:r>
              <a:rPr lang="de-DE" u="sng" dirty="0" err="1">
                <a:highlight>
                  <a:srgbClr val="FFFF00"/>
                </a:highlight>
              </a:rPr>
              <a:t>include</a:t>
            </a:r>
            <a:r>
              <a:rPr lang="de-DE" u="sng" dirty="0">
                <a:highlight>
                  <a:srgbClr val="FFFF00"/>
                </a:highlight>
              </a:rPr>
              <a:t> all </a:t>
            </a:r>
            <a:r>
              <a:rPr lang="de-DE" u="sng" dirty="0" err="1">
                <a:highlight>
                  <a:srgbClr val="FFFF00"/>
                </a:highlight>
              </a:rPr>
              <a:t>kind</a:t>
            </a:r>
            <a:r>
              <a:rPr lang="de-DE" u="sng" dirty="0">
                <a:highlight>
                  <a:srgbClr val="FFFF00"/>
                </a:highlight>
              </a:rPr>
              <a:t> </a:t>
            </a:r>
            <a:r>
              <a:rPr lang="de-DE" u="sng" dirty="0" err="1">
                <a:highlight>
                  <a:srgbClr val="FFFF00"/>
                </a:highlight>
              </a:rPr>
              <a:t>of</a:t>
            </a:r>
            <a:r>
              <a:rPr lang="de-DE" u="sng" dirty="0">
                <a:highlight>
                  <a:srgbClr val="FFFF00"/>
                </a:highlight>
              </a:rPr>
              <a:t> </a:t>
            </a:r>
            <a:r>
              <a:rPr lang="de-DE" u="sng" dirty="0" err="1">
                <a:highlight>
                  <a:srgbClr val="FFFF00"/>
                </a:highlight>
              </a:rPr>
              <a:t>text</a:t>
            </a:r>
            <a:r>
              <a:rPr lang="de-DE" u="sng" dirty="0">
                <a:highlight>
                  <a:srgbClr val="FFFF00"/>
                </a:highlight>
              </a:rPr>
              <a:t>, </a:t>
            </a:r>
            <a:r>
              <a:rPr lang="de-DE" u="sng" dirty="0" err="1">
                <a:highlight>
                  <a:srgbClr val="FFFF00"/>
                </a:highlight>
              </a:rPr>
              <a:t>including</a:t>
            </a:r>
            <a:r>
              <a:rPr lang="de-DE" u="sng" dirty="0">
                <a:highlight>
                  <a:srgbClr val="FFFF00"/>
                </a:highlight>
              </a:rPr>
              <a:t> &lt;,&amp;,&gt; … </a:t>
            </a:r>
            <a:r>
              <a:rPr lang="de-DE" dirty="0">
                <a:highlight>
                  <a:srgbClr val="FFFF00"/>
                </a:highlight>
              </a:rPr>
              <a:t>Text</a:t>
            </a:r>
            <a:r>
              <a:rPr lang="de-DE" dirty="0"/>
              <a:t>, der (&lt;![CDATA[ </a:t>
            </a:r>
            <a:r>
              <a:rPr lang="de-DE" i="1" dirty="0"/>
              <a:t>beliebiger Text</a:t>
            </a:r>
            <a:r>
              <a:rPr lang="de-DE" dirty="0"/>
              <a:t>]]&gt;). 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code</a:t>
            </a:r>
            <a:r>
              <a:rPr lang="de-DE" dirty="0"/>
              <a:t> in XML</a:t>
            </a: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471805" lvl="1" indent="-285750">
              <a:buFontTx/>
              <a:buChar char="-"/>
            </a:pPr>
            <a:endParaRPr lang="en-US" dirty="0"/>
          </a:p>
          <a:p>
            <a:pPr marL="471805" lvl="1" indent="-285750">
              <a:buFontTx/>
              <a:buChar char="-"/>
            </a:pPr>
            <a:endParaRPr lang="de-DE" i="1" dirty="0"/>
          </a:p>
          <a:p>
            <a:pPr marL="471805" lvl="1" indent="-285750">
              <a:buFontTx/>
              <a:buChar char="-"/>
            </a:pPr>
            <a:endParaRPr lang="de-DE" i="1" dirty="0"/>
          </a:p>
          <a:p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1" dirty="0"/>
              <a:t>XML-Processing</a:t>
            </a:r>
            <a:br>
              <a:rPr lang="de-DE" b="1" dirty="0"/>
            </a:br>
            <a:endParaRPr lang="de-DE" b="1" dirty="0"/>
          </a:p>
          <a:p>
            <a:pPr marL="285750" indent="-285750">
              <a:buFontTx/>
              <a:buChar char="-"/>
            </a:pPr>
            <a:r>
              <a:rPr lang="de-DE" dirty="0"/>
              <a:t>DOM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Represents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tree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seeking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manipulating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 intensiv</a:t>
            </a:r>
            <a:br>
              <a:rPr lang="de-DE" dirty="0"/>
            </a:b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Pushparser</a:t>
            </a:r>
            <a:r>
              <a:rPr lang="de-DE" dirty="0"/>
              <a:t>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Reads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sequential</a:t>
            </a:r>
            <a:r>
              <a:rPr lang="de-DE" dirty="0"/>
              <a:t> </a:t>
            </a:r>
            <a:r>
              <a:rPr lang="de-DE" dirty="0" err="1"/>
              <a:t>stream</a:t>
            </a:r>
            <a:r>
              <a:rPr lang="de-DE" dirty="0"/>
              <a:t>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Parser </a:t>
            </a:r>
            <a:r>
              <a:rPr lang="de-DE" dirty="0" err="1"/>
              <a:t>triggers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callbacks</a:t>
            </a:r>
            <a:br>
              <a:rPr lang="de-DE" dirty="0"/>
            </a:b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Pullparser</a:t>
            </a:r>
            <a:endParaRPr lang="de-DE" dirty="0"/>
          </a:p>
          <a:p>
            <a:pPr marL="458470" lvl="2" indent="-285750">
              <a:buClrTx/>
              <a:buFontTx/>
              <a:buChar char="-"/>
            </a:pPr>
            <a:r>
              <a:rPr lang="de-DE" dirty="0"/>
              <a:t>Reads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sequential</a:t>
            </a:r>
            <a:r>
              <a:rPr lang="de-DE" dirty="0"/>
              <a:t> </a:t>
            </a:r>
            <a:r>
              <a:rPr lang="de-DE" dirty="0" err="1"/>
              <a:t>stream</a:t>
            </a:r>
            <a:r>
              <a:rPr lang="de-DE" dirty="0"/>
              <a:t>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triggerd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pull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br>
              <a:rPr lang="de-DE" dirty="0"/>
            </a:b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Data Binding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XML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converted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.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Processing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1" dirty="0"/>
              <a:t>Schemas</a:t>
            </a:r>
            <a:endParaRPr lang="de-DE" sz="1800" b="1" dirty="0"/>
          </a:p>
          <a:p>
            <a:pPr marL="285750" indent="-285750">
              <a:buFontTx/>
              <a:buChar char="-"/>
            </a:pPr>
            <a:r>
              <a:rPr lang="de-DE" dirty="0" err="1"/>
              <a:t>Defines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XML-</a:t>
            </a:r>
            <a:r>
              <a:rPr lang="de-DE" dirty="0" err="1"/>
              <a:t>documents</a:t>
            </a:r>
            <a:br>
              <a:rPr lang="de-DE" dirty="0"/>
            </a:b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DTD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Original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XML-</a:t>
            </a:r>
            <a:r>
              <a:rPr lang="de-DE" dirty="0" err="1"/>
              <a:t>specification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Suitable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„narrative </a:t>
            </a:r>
            <a:r>
              <a:rPr lang="de-DE" dirty="0" err="1"/>
              <a:t>documents</a:t>
            </a:r>
            <a:r>
              <a:rPr lang="de-DE" dirty="0"/>
              <a:t>“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distinguish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characters</a:t>
            </a:r>
            <a:r>
              <a:rPr lang="de-DE" dirty="0"/>
              <a:t>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DTD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defined</a:t>
            </a:r>
            <a:r>
              <a:rPr lang="de-DE" dirty="0"/>
              <a:t> in XML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Doesn‘t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namespaces</a:t>
            </a:r>
            <a:br>
              <a:rPr lang="de-DE" dirty="0"/>
            </a:b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XML Schema/XSD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describe</a:t>
            </a:r>
            <a:r>
              <a:rPr lang="de-DE" dirty="0"/>
              <a:t> XML-</a:t>
            </a:r>
            <a:r>
              <a:rPr lang="de-DE" dirty="0" err="1"/>
              <a:t>documents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Describes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document‘s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 err="1"/>
              <a:t>Describes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limits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  <a:p>
            <a:pPr marL="471805" lvl="1" indent="-285750">
              <a:buFontTx/>
              <a:buChar char="-"/>
            </a:pPr>
            <a:r>
              <a:rPr lang="de-DE" dirty="0"/>
              <a:t>A XML-Schema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valid XML-</a:t>
            </a:r>
            <a:r>
              <a:rPr lang="de-DE" dirty="0" err="1"/>
              <a:t>document</a:t>
            </a:r>
            <a:endParaRPr lang="de-DE" dirty="0"/>
          </a:p>
          <a:p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Schemas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1" dirty="0"/>
              <a:t>Infrastructure</a:t>
            </a:r>
            <a:br>
              <a:rPr lang="de-DE" b="1" dirty="0"/>
            </a:br>
            <a:endParaRPr lang="de-DE" b="1" dirty="0"/>
          </a:p>
          <a:p>
            <a:r>
              <a:rPr lang="de-DE" dirty="0">
                <a:hlinkClick r:id="rId1" tooltip="World Wide Web Consortium"/>
              </a:rPr>
              <a:t>W3C </a:t>
            </a:r>
            <a:r>
              <a:rPr lang="de-DE" dirty="0" err="1"/>
              <a:t>defined</a:t>
            </a:r>
            <a:r>
              <a:rPr lang="de-DE" dirty="0"/>
              <a:t> a </a:t>
            </a:r>
            <a:r>
              <a:rPr lang="de-DE" dirty="0" err="1"/>
              <a:t>bunch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languages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offers</a:t>
            </a:r>
            <a:r>
              <a:rPr lang="de-DE" dirty="0"/>
              <a:t> </a:t>
            </a:r>
            <a:r>
              <a:rPr lang="de-DE" dirty="0" err="1"/>
              <a:t>expressions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.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languages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basics</a:t>
            </a:r>
            <a:r>
              <a:rPr lang="de-DE" dirty="0"/>
              <a:t>: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u="sng" dirty="0">
                <a:hlinkClick r:id="rId2" tooltip="XSL Transformation"/>
              </a:rPr>
              <a:t>XSLT</a:t>
            </a:r>
            <a:r>
              <a:rPr lang="de-DE" dirty="0"/>
              <a:t>, </a:t>
            </a:r>
            <a:r>
              <a:rPr lang="de-DE" u="sng" dirty="0">
                <a:hlinkClick r:id="rId3" tooltip="Streaming Transformations for XML"/>
              </a:rPr>
              <a:t>STX</a:t>
            </a:r>
            <a:r>
              <a:rPr lang="de-DE" u="sng" dirty="0"/>
              <a:t>: </a:t>
            </a:r>
            <a:r>
              <a:rPr lang="de-DE" dirty="0"/>
              <a:t>Transformation </a:t>
            </a:r>
            <a:r>
              <a:rPr lang="de-DE" dirty="0" err="1"/>
              <a:t>of</a:t>
            </a:r>
            <a:r>
              <a:rPr lang="de-DE" dirty="0"/>
              <a:t> XML-</a:t>
            </a:r>
            <a:r>
              <a:rPr lang="de-DE" dirty="0" err="1"/>
              <a:t>documents</a:t>
            </a:r>
            <a:r>
              <a:rPr lang="de-DE" dirty="0"/>
              <a:t> </a:t>
            </a:r>
            <a:endParaRPr lang="de-DE" u="sng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u="sng" dirty="0" err="1">
                <a:hlinkClick r:id="rId4" tooltip="XPath"/>
              </a:rPr>
              <a:t>Xpath</a:t>
            </a:r>
            <a:r>
              <a:rPr lang="de-DE" u="sng" dirty="0"/>
              <a:t>: </a:t>
            </a:r>
            <a:r>
              <a:rPr lang="de-DE" dirty="0" err="1"/>
              <a:t>Adressing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XML-</a:t>
            </a:r>
            <a:r>
              <a:rPr lang="de-DE" dirty="0" err="1"/>
              <a:t>tree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u="sng" dirty="0" err="1">
                <a:hlinkClick r:id="rId5" tooltip="XPointer"/>
              </a:rPr>
              <a:t>XPointer</a:t>
            </a:r>
            <a:r>
              <a:rPr lang="de-DE" dirty="0"/>
              <a:t>, </a:t>
            </a:r>
            <a:r>
              <a:rPr lang="de-DE" u="sng" dirty="0" err="1">
                <a:hlinkClick r:id="rId6" tooltip="XLink (Syntax)"/>
              </a:rPr>
              <a:t>XLink</a:t>
            </a:r>
            <a:r>
              <a:rPr lang="de-DE" dirty="0"/>
              <a:t> , </a:t>
            </a:r>
            <a:r>
              <a:rPr lang="de-DE" u="sng" dirty="0" err="1">
                <a:hlinkClick r:id="rId7" tooltip="XInclude"/>
              </a:rPr>
              <a:t>Xinclude</a:t>
            </a:r>
            <a:r>
              <a:rPr lang="de-DE" u="sng" dirty="0"/>
              <a:t>: </a:t>
            </a:r>
            <a:r>
              <a:rPr lang="de-DE" dirty="0" err="1"/>
              <a:t>including</a:t>
            </a:r>
            <a:r>
              <a:rPr lang="de-DE" dirty="0"/>
              <a:t> XML-</a:t>
            </a:r>
            <a:r>
              <a:rPr lang="de-DE" dirty="0" err="1"/>
              <a:t>Ressources</a:t>
            </a:r>
            <a:r>
              <a:rPr lang="de-DE" dirty="0"/>
              <a:t> 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u="sng" dirty="0" err="1">
                <a:hlinkClick r:id="rId8" tooltip="XQuery"/>
              </a:rPr>
              <a:t>Xquery</a:t>
            </a:r>
            <a:r>
              <a:rPr lang="de-DE" u="sng" dirty="0"/>
              <a:t>:  </a:t>
            </a:r>
            <a:r>
              <a:rPr lang="de-DE" dirty="0" err="1"/>
              <a:t>Dataselection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XML-Data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u="sng" dirty="0">
                <a:hlinkClick r:id="rId9" tooltip="XML Schema"/>
              </a:rPr>
              <a:t>XML Schema</a:t>
            </a:r>
            <a:r>
              <a:rPr lang="de-DE" dirty="0"/>
              <a:t> ,</a:t>
            </a:r>
            <a:r>
              <a:rPr lang="de-DE" u="sng" dirty="0">
                <a:hlinkClick r:id="rId10" tooltip="Dokumenttypdefinition"/>
              </a:rPr>
              <a:t>DTD</a:t>
            </a:r>
            <a:r>
              <a:rPr lang="de-DE" dirty="0"/>
              <a:t>, </a:t>
            </a:r>
            <a:r>
              <a:rPr lang="de-DE" u="sng" dirty="0">
                <a:hlinkClick r:id="rId11" tooltip="RELAX NG"/>
              </a:rPr>
              <a:t>RELAX NG</a:t>
            </a:r>
            <a:r>
              <a:rPr lang="de-DE" dirty="0"/>
              <a:t> Definition </a:t>
            </a:r>
            <a:r>
              <a:rPr lang="de-DE" dirty="0" err="1"/>
              <a:t>of</a:t>
            </a:r>
            <a:r>
              <a:rPr lang="de-DE" dirty="0"/>
              <a:t> XML-</a:t>
            </a:r>
            <a:r>
              <a:rPr lang="de-DE" dirty="0" err="1"/>
              <a:t>Sructures</a:t>
            </a:r>
            <a:r>
              <a:rPr lang="de-DE" dirty="0"/>
              <a:t> 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u="sng" dirty="0">
                <a:hlinkClick r:id="rId12" tooltip="XSL-FO"/>
              </a:rPr>
              <a:t>XSL-FO</a:t>
            </a:r>
            <a:r>
              <a:rPr lang="de-DE" dirty="0"/>
              <a:t>: </a:t>
            </a:r>
            <a:r>
              <a:rPr lang="de-DE" dirty="0" err="1"/>
              <a:t>Formatting</a:t>
            </a:r>
            <a:r>
              <a:rPr lang="de-DE" dirty="0"/>
              <a:t> XML-Data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layouting</a:t>
            </a:r>
            <a:r>
              <a:rPr lang="de-DE" dirty="0"/>
              <a:t> </a:t>
            </a:r>
            <a:r>
              <a:rPr lang="de-DE" dirty="0" err="1"/>
              <a:t>purpose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....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Infrastructure</a:t>
            </a:r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WNOMINIMIZE" val="-1"/>
</p:tagLst>
</file>

<file path=ppt/tags/tag2.xml><?xml version="1.0" encoding="utf-8"?>
<p:tagLst xmlns:p="http://schemas.openxmlformats.org/presentationml/2006/main">
  <p:tag name="TWNOMINIMIZE" val="-1"/>
</p:tagLst>
</file>

<file path=ppt/tags/tag3.xml><?xml version="1.0" encoding="utf-8"?>
<p:tagLst xmlns:p="http://schemas.openxmlformats.org/presentationml/2006/main">
  <p:tag name="TWNOMINIMIZE" val="-1"/>
</p:tagLst>
</file>

<file path=ppt/tags/tag4.xml><?xml version="1.0" encoding="utf-8"?>
<p:tagLst xmlns:p="http://schemas.openxmlformats.org/presentationml/2006/main">
  <p:tag name="TWNOMINIMIZE" val="-1"/>
</p:tagLst>
</file>

<file path=ppt/tags/tag5.xml><?xml version="1.0" encoding="utf-8"?>
<p:tagLst xmlns:p="http://schemas.openxmlformats.org/presentationml/2006/main">
  <p:tag name="TWNOMINIMIZE" val="-1"/>
</p:tagLst>
</file>

<file path=ppt/tags/tag6.xml><?xml version="1.0" encoding="utf-8"?>
<p:tagLst xmlns:p="http://schemas.openxmlformats.org/presentationml/2006/main">
  <p:tag name="TWNOMINIMIZE" val="-1"/>
</p:tagLst>
</file>

<file path=ppt/tags/tag7.xml><?xml version="1.0" encoding="utf-8"?>
<p:tagLst xmlns:p="http://schemas.openxmlformats.org/presentationml/2006/main">
  <p:tag name="TWNOMINIMIZE" val="-1"/>
</p:tagLst>
</file>

<file path=ppt/tags/tag8.xml><?xml version="1.0" encoding="utf-8"?>
<p:tagLst xmlns:p="http://schemas.openxmlformats.org/presentationml/2006/main">
  <p:tag name="TWNOMINIMIZE" val="-1"/>
</p:tagLst>
</file>

<file path=ppt/tags/tag9.xml><?xml version="1.0" encoding="utf-8"?>
<p:tagLst xmlns:p="http://schemas.openxmlformats.org/presentationml/2006/main">
  <p:tag name="TWNOMINIMIZE" val="-1"/>
</p:tagLst>
</file>

<file path=ppt/tags/tag10.xml><?xml version="1.0" encoding="utf-8"?>
<p:tagLst xmlns:p="http://schemas.openxmlformats.org/presentationml/2006/main">
  <p:tag name="TWNOCDCHECK" val="-1"/>
</p:tagLst>
</file>

<file path=ppt/tags/tag11.xml><?xml version="1.0" encoding="utf-8"?>
<p:tagLst xmlns:p="http://schemas.openxmlformats.org/presentationml/2006/main">
  <p:tag name="TWNOCDCHECK" val="-1"/>
</p:tagLst>
</file>

<file path=ppt/tags/tag12.xml><?xml version="1.0" encoding="utf-8"?>
<p:tagLst xmlns:p="http://schemas.openxmlformats.org/presentationml/2006/main">
  <p:tag name="TWNOCDCHECK" val="-1"/>
</p:tagLst>
</file>

<file path=ppt/tags/tag13.xml><?xml version="1.0" encoding="utf-8"?>
<p:tagLst xmlns:p="http://schemas.openxmlformats.org/presentationml/2006/main">
  <p:tag name="TWNOCDCHECK" val="-1"/>
</p:tagLst>
</file>

<file path=ppt/tags/tag14.xml><?xml version="1.0" encoding="utf-8"?>
<p:tagLst xmlns:p="http://schemas.openxmlformats.org/presentationml/2006/main">
  <p:tag name="TWNOCDCHECK" val="-1"/>
</p:tagLst>
</file>

<file path=ppt/tags/tag15.xml><?xml version="1.0" encoding="utf-8"?>
<p:tagLst xmlns:p="http://schemas.openxmlformats.org/presentationml/2006/main">
  <p:tag name="TWNOCDCHECK" val="-1"/>
</p:tagLst>
</file>

<file path=ppt/tags/tag16.xml><?xml version="1.0" encoding="utf-8"?>
<p:tagLst xmlns:p="http://schemas.openxmlformats.org/presentationml/2006/main">
  <p:tag name="TWNOCDCHECK" val="-1"/>
</p:tagLst>
</file>

<file path=ppt/tags/tag17.xml><?xml version="1.0" encoding="utf-8"?>
<p:tagLst xmlns:p="http://schemas.openxmlformats.org/presentationml/2006/main">
  <p:tag name="TWNOCDCHECK" val="-1"/>
</p:tagLst>
</file>

<file path=ppt/tags/tag18.xml><?xml version="1.0" encoding="utf-8"?>
<p:tagLst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  <p:tag name="KSO_WPP_MARK_KEY" val="6d3fa8a8-19fc-4e4e-b2eb-6219a825e5bc"/>
  <p:tag name="COMMONDATA" val="eyJoZGlkIjoiNGE2ZDEyOWJhOTU4ZDVkNjU0ZTAyZTdjNmYzZDVkYjYifQ==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WPS 演示</Application>
  <PresentationFormat>A4 Paper (210x297 mm)</PresentationFormat>
  <Paragraphs>160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DB Office</vt:lpstr>
      <vt:lpstr>Segoe Print</vt:lpstr>
      <vt:lpstr>DB Office</vt:lpstr>
      <vt:lpstr>微软雅黑</vt:lpstr>
      <vt:lpstr>Arial Unicode MS</vt:lpstr>
      <vt:lpstr>Calibri</vt:lpstr>
      <vt:lpstr>Die Bahn_2003</vt:lpstr>
      <vt:lpstr>PowerPoint 演示文稿</vt:lpstr>
      <vt:lpstr>XML-Basic knowledge</vt:lpstr>
      <vt:lpstr>What is XML	 </vt:lpstr>
      <vt:lpstr>Structure </vt:lpstr>
      <vt:lpstr>Structure </vt:lpstr>
      <vt:lpstr>Structure </vt:lpstr>
      <vt:lpstr>Processing </vt:lpstr>
      <vt:lpstr>Schemas </vt:lpstr>
      <vt:lpstr>Infrastructure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，，</cp:lastModifiedBy>
  <cp:revision>560</cp:revision>
  <cp:lastPrinted>2012-11-23T10:04:00Z</cp:lastPrinted>
  <dcterms:created xsi:type="dcterms:W3CDTF">2012-01-09T10:50:00Z</dcterms:created>
  <dcterms:modified xsi:type="dcterms:W3CDTF">2023-01-15T16:42:05Z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iteId">
    <vt:lpwstr>c5d1e823-e2b8-46bf-92ff-84f54313e0a5</vt:lpwstr>
  </property>
  <property fmtid="{D5CDD505-2E9C-101B-9397-08002B2CF9AE}" pid="5" name="MSIP_Label_705c9e18-d393-4470-8b67-9616c62ec31f_Owner">
    <vt:lpwstr>lu.han@dbschenker.com</vt:lpwstr>
  </property>
  <property fmtid="{D5CDD505-2E9C-101B-9397-08002B2CF9AE}" pid="6" name="MSIP_Label_705c9e18-d393-4470-8b67-9616c62ec31f_SetDate">
    <vt:lpwstr>2019-06-27T06:59:17.5261568Z</vt:lpwstr>
  </property>
  <property fmtid="{D5CDD505-2E9C-101B-9397-08002B2CF9AE}" pid="7" name="MSIP_Label_705c9e18-d393-4470-8b67-9616c62ec31f_Name">
    <vt:lpwstr>Internal</vt:lpwstr>
  </property>
  <property fmtid="{D5CDD505-2E9C-101B-9397-08002B2CF9AE}" pid="8" name="MSIP_Label_705c9e18-d393-4470-8b67-9616c62ec31f_Application">
    <vt:lpwstr>Microsoft Azure Information Protection</vt:lpwstr>
  </property>
  <property fmtid="{D5CDD505-2E9C-101B-9397-08002B2CF9AE}" pid="9" name="MSIP_Label_705c9e18-d393-4470-8b67-9616c62ec31f_ActionId">
    <vt:lpwstr>9746116e-f58f-494a-85b2-8818284abf28</vt:lpwstr>
  </property>
  <property fmtid="{D5CDD505-2E9C-101B-9397-08002B2CF9AE}" pid="10" name="MSIP_Label_705c9e18-d393-4470-8b67-9616c62ec31f_Extended_MSFT_Method">
    <vt:lpwstr>Automatic</vt:lpwstr>
  </property>
  <property fmtid="{D5CDD505-2E9C-101B-9397-08002B2CF9AE}" pid="11" name="Sensitivity">
    <vt:lpwstr>Internal</vt:lpwstr>
  </property>
  <property fmtid="{D5CDD505-2E9C-101B-9397-08002B2CF9AE}" pid="12" name="MediaServiceImageTags">
    <vt:lpwstr/>
  </property>
  <property fmtid="{D5CDD505-2E9C-101B-9397-08002B2CF9AE}" pid="13" name="ICV">
    <vt:lpwstr>D772AE8D468E40519F218BE2BBE3E9CF</vt:lpwstr>
  </property>
  <property fmtid="{D5CDD505-2E9C-101B-9397-08002B2CF9AE}" pid="14" name="KSOProductBuildVer">
    <vt:lpwstr>2052-11.1.0.12980</vt:lpwstr>
  </property>
</Properties>
</file>