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ppt/tags/tag5.xml" ContentType="application/vnd.openxmlformats-officedocument.presentationml.tags+xml"/>
  <Override PartName="/ppt/tags/tag12.xml" ContentType="application/vnd.openxmlformats-officedocument.presentationml.tags+xml"/>
  <Override PartName="/ppt/tags/tag10.xml" ContentType="application/vnd.openxmlformats-officedocument.presentationml.tag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gs/tag1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9.xml" ContentType="application/vnd.openxmlformats-officedocument.presentationml.tags+xml"/>
  <Override PartName="/customXml/itemProps5.xml" ContentType="application/vnd.openxmlformats-officedocument.customXml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5" r:id="rId5"/>
  </p:sldMasterIdLst>
  <p:notesMasterIdLst>
    <p:notesMasterId r:id="rId25"/>
  </p:notesMasterIdLst>
  <p:handoutMasterIdLst>
    <p:handoutMasterId r:id="rId26"/>
  </p:handoutMasterIdLst>
  <p:sldIdLst>
    <p:sldId id="352" r:id="rId6"/>
    <p:sldId id="432" r:id="rId7"/>
    <p:sldId id="456" r:id="rId8"/>
    <p:sldId id="438" r:id="rId9"/>
    <p:sldId id="433" r:id="rId10"/>
    <p:sldId id="441" r:id="rId11"/>
    <p:sldId id="434" r:id="rId12"/>
    <p:sldId id="442" r:id="rId13"/>
    <p:sldId id="448" r:id="rId14"/>
    <p:sldId id="449" r:id="rId15"/>
    <p:sldId id="443" r:id="rId16"/>
    <p:sldId id="451" r:id="rId17"/>
    <p:sldId id="452" r:id="rId18"/>
    <p:sldId id="453" r:id="rId19"/>
    <p:sldId id="454" r:id="rId20"/>
    <p:sldId id="455" r:id="rId21"/>
    <p:sldId id="435" r:id="rId22"/>
    <p:sldId id="450" r:id="rId23"/>
    <p:sldId id="379" r:id="rId24"/>
  </p:sldIdLst>
  <p:sldSz cx="9906000" cy="6858000" type="A4"/>
  <p:notesSz cx="6797675" cy="9874250"/>
  <p:custDataLst>
    <p:tags r:id="rId27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570">
          <p15:clr>
            <a:srgbClr val="A4A3A4"/>
          </p15:clr>
        </p15:guide>
        <p15:guide id="3" orient="horz" pos="3566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3521">
          <p15:clr>
            <a:srgbClr val="A4A3A4"/>
          </p15:clr>
        </p15:guide>
        <p15:guide id="7" orient="horz" pos="981">
          <p15:clr>
            <a:srgbClr val="A4A3A4"/>
          </p15:clr>
        </p15:guide>
        <p15:guide id="8" orient="horz" pos="3339">
          <p15:clr>
            <a:srgbClr val="A4A3A4"/>
          </p15:clr>
        </p15:guide>
        <p15:guide id="9" orient="horz" pos="3067">
          <p15:clr>
            <a:srgbClr val="A4A3A4"/>
          </p15:clr>
        </p15:guide>
        <p15:guide id="10" orient="horz" pos="1389">
          <p15:clr>
            <a:srgbClr val="A4A3A4"/>
          </p15:clr>
        </p15:guide>
        <p15:guide id="11" orient="horz" pos="4156">
          <p15:clr>
            <a:srgbClr val="A4A3A4"/>
          </p15:clr>
        </p15:guide>
        <p15:guide id="12" pos="1532">
          <p15:clr>
            <a:srgbClr val="A4A3A4"/>
          </p15:clr>
        </p15:guide>
        <p15:guide id="13" pos="6114">
          <p15:clr>
            <a:srgbClr val="A4A3A4"/>
          </p15:clr>
        </p15:guide>
        <p15:guide id="14" pos="3120">
          <p15:clr>
            <a:srgbClr val="A4A3A4"/>
          </p15:clr>
        </p15:guide>
        <p15:guide id="15" pos="23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6" autoAdjust="0"/>
    <p:restoredTop sz="94645" autoAdjust="0"/>
  </p:normalViewPr>
  <p:slideViewPr>
    <p:cSldViewPr showGuides="1">
      <p:cViewPr varScale="1">
        <p:scale>
          <a:sx n="108" d="100"/>
          <a:sy n="108" d="100"/>
        </p:scale>
        <p:origin x="1506" y="108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30" Type="http://schemas.openxmlformats.org/officeDocument/2006/relationships/theme" Target="theme/theme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777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4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170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273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99696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85976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67143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95550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73575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8973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  <a:pPr/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</p:spTree>
    <p:extLst>
      <p:ext uri="{BB962C8B-B14F-4D97-AF65-F5344CB8AC3E}">
        <p14:creationId xmlns:p14="http://schemas.microsoft.com/office/powerpoint/2010/main" val="183782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1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174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82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63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75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99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953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10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0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605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71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560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578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53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93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794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97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4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7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96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207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765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1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35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36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286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2650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</a:p>
        </p:txBody>
      </p:sp>
    </p:spTree>
    <p:extLst>
      <p:ext uri="{BB962C8B-B14F-4D97-AF65-F5344CB8AC3E}">
        <p14:creationId xmlns:p14="http://schemas.microsoft.com/office/powerpoint/2010/main" val="306893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22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15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606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  <a:pPr/>
              <a:t>‹Nr.›</a:t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5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9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838" r:id="rId2"/>
    <p:sldLayoutId id="2147483839" r:id="rId3"/>
    <p:sldLayoutId id="2147483841" r:id="rId4"/>
    <p:sldLayoutId id="2147483842" r:id="rId5"/>
    <p:sldLayoutId id="2147483843" r:id="rId6"/>
    <p:sldLayoutId id="2147483840" r:id="rId7"/>
    <p:sldLayoutId id="2147483844" r:id="rId8"/>
    <p:sldLayoutId id="2147483687" r:id="rId9"/>
    <p:sldLayoutId id="214748378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3" r:id="rId21"/>
    <p:sldLayoutId id="2147483809" r:id="rId22"/>
    <p:sldLayoutId id="2147483810" r:id="rId23"/>
    <p:sldLayoutId id="2147483811" r:id="rId24"/>
    <p:sldLayoutId id="2147483822" r:id="rId25"/>
    <p:sldLayoutId id="2147483823" r:id="rId26"/>
    <p:sldLayoutId id="2147483824" r:id="rId27"/>
    <p:sldLayoutId id="2147483845" r:id="rId28"/>
    <p:sldLayoutId id="2147483846" r:id="rId29"/>
    <p:sldLayoutId id="2147483847" r:id="rId30"/>
    <p:sldLayoutId id="2147483848" r:id="rId31"/>
    <p:sldLayoutId id="2147483853" r:id="rId32"/>
    <p:sldLayoutId id="2147483854" r:id="rId33"/>
    <p:sldLayoutId id="2147483855" r:id="rId34"/>
    <p:sldLayoutId id="2147483849" r:id="rId35"/>
    <p:sldLayoutId id="2147483850" r:id="rId36"/>
    <p:sldLayoutId id="2147483851" r:id="rId37"/>
    <p:sldLayoutId id="2147483701" r:id="rId38"/>
    <p:sldLayoutId id="2147483815" r:id="rId39"/>
    <p:sldLayoutId id="2147483819" r:id="rId40"/>
    <p:sldLayoutId id="2147483820" r:id="rId41"/>
    <p:sldLayoutId id="2147483821" r:id="rId42"/>
    <p:sldLayoutId id="2147483800" r:id="rId4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5738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513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6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58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0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2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4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dirty="0"/>
              <a:t>XML-Basic knowledge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</a:p>
        </p:txBody>
      </p:sp>
    </p:spTree>
    <p:extLst>
      <p:ext uri="{BB962C8B-B14F-4D97-AF65-F5344CB8AC3E}">
        <p14:creationId xmlns:p14="http://schemas.microsoft.com/office/powerpoint/2010/main" val="420321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>
                <a:latin typeface="Calibri"/>
                <a:ea typeface="Calibri"/>
                <a:cs typeface="Times New Roman"/>
              </a:rPr>
              <a:t>Please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use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person.xml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for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this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examples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2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1. All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names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of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persons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257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1. All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names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of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persons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//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name</a:t>
            </a: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248" y="2862263"/>
            <a:ext cx="4962465" cy="186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309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2. All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person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-elements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from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Berlin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b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</a:b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699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2. All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persons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from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Berlin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//*[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city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=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"Berlin"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]</a:t>
            </a:r>
            <a:b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</a:b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84" y="3119438"/>
            <a:ext cx="4755130" cy="885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660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3. All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female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person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-elements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with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surname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„Sack“</a:t>
            </a:r>
            <a:b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</a:br>
            <a:endParaRPr lang="de-DE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699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3.All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female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persons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with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surname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„Sack“</a:t>
            </a:r>
            <a:b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</a:br>
            <a:r>
              <a:rPr lang="en-US" sz="2400" dirty="0"/>
              <a:t>//*[surname="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Sack</a:t>
            </a:r>
            <a:r>
              <a:rPr lang="en-US" sz="2400" dirty="0"/>
              <a:t>"][@gender="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female</a:t>
            </a:r>
            <a:r>
              <a:rPr lang="en-US" sz="2400" dirty="0"/>
              <a:t>"]</a:t>
            </a:r>
            <a:endParaRPr lang="de-DE" sz="2400" dirty="0">
              <a:highlight>
                <a:srgbClr val="FFFFFF"/>
              </a:highlight>
              <a:latin typeface="Calibri"/>
              <a:ea typeface="Calibri"/>
              <a:cs typeface="Times New Roman"/>
            </a:endParaRPr>
          </a:p>
          <a:p>
            <a:endParaRPr lang="de-DE" sz="2800" dirty="0"/>
          </a:p>
          <a:p>
            <a:endParaRPr 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3214688"/>
            <a:ext cx="33909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27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4.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How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many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employees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do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we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have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?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431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4.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How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many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employees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do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we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have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?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/>
              <a:t>count(//employees/person)</a:t>
            </a:r>
            <a:endParaRPr lang="de-DE" sz="2800" dirty="0"/>
          </a:p>
          <a:p>
            <a:endParaRPr lang="en-US" sz="2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784" y="3070670"/>
            <a:ext cx="3404165" cy="43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600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r>
              <a:rPr lang="de-DE" i="1" dirty="0"/>
              <a:t> </a:t>
            </a: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5.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How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many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male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customers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do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we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have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?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32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5.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How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many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male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customers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do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we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have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?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count</a:t>
            </a:r>
            <a:r>
              <a:rPr lang="en-US" sz="2400" dirty="0"/>
              <a:t>(//customers/person[@gender="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male </a:t>
            </a:r>
            <a:r>
              <a:rPr lang="en-US" sz="2400" dirty="0"/>
              <a:t>"])</a:t>
            </a:r>
            <a:endParaRPr lang="de-DE" sz="2800" dirty="0"/>
          </a:p>
          <a:p>
            <a:endParaRPr lang="en-US" sz="2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728" y="3309938"/>
            <a:ext cx="3476972" cy="40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710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6.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How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name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of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customer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with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id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2001?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1773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6.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How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name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of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customer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with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id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2001?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r>
              <a:rPr lang="en-US" sz="2000" dirty="0"/>
              <a:t>//customers/person[id="</a:t>
            </a:r>
            <a:r>
              <a:rPr lang="en-US" sz="18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2001</a:t>
            </a:r>
            <a:r>
              <a:rPr lang="en-US" sz="2000" dirty="0"/>
              <a:t>"]/name</a:t>
            </a:r>
            <a:endParaRPr lang="de-DE" sz="2000" dirty="0"/>
          </a:p>
          <a:p>
            <a:endParaRPr lang="en-US" sz="2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955" y="3252788"/>
            <a:ext cx="3927684" cy="536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776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7.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How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name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AND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surname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of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customer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with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id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2001?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endParaRPr lang="de-DE" sz="1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8529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7.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How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is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name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AND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surname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of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the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customer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with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id</a:t>
            </a:r>
            <a:r>
              <a:rPr lang="de-DE" sz="2400" dirty="0">
                <a:latin typeface="Calibri"/>
                <a:ea typeface="Calibri"/>
                <a:cs typeface="Times New Roman"/>
              </a:rPr>
              <a:t> 2001?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r>
              <a:rPr lang="en-US" sz="1800" dirty="0" err="1"/>
              <a:t>concat</a:t>
            </a:r>
            <a:r>
              <a:rPr lang="en-US" sz="1800" dirty="0"/>
              <a:t>(//</a:t>
            </a:r>
            <a:r>
              <a:rPr lang="en-US" sz="1200" dirty="0"/>
              <a:t>customers/person[id</a:t>
            </a:r>
            <a:r>
              <a:rPr lang="en-US" sz="1800" dirty="0"/>
              <a:t>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2001</a:t>
            </a:r>
            <a:r>
              <a:rPr lang="en-US" sz="1800" dirty="0"/>
              <a:t>"]/name," ",//customers/person[id="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2001</a:t>
            </a:r>
            <a:r>
              <a:rPr lang="en-US" sz="1800" dirty="0"/>
              <a:t>"]/surname)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/>
              <a:t>Or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/>
              <a:t>//customers/person[id="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2001</a:t>
            </a:r>
            <a:r>
              <a:rPr lang="en-US" sz="1800" dirty="0"/>
              <a:t>"]/</a:t>
            </a:r>
            <a:r>
              <a:rPr lang="en-US" sz="1800" dirty="0" err="1"/>
              <a:t>concat</a:t>
            </a:r>
            <a:r>
              <a:rPr lang="en-US" sz="1800" dirty="0"/>
              <a:t>(name," ",surname)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de-DE" sz="1800" dirty="0"/>
          </a:p>
          <a:p>
            <a:endParaRPr lang="en-US" sz="28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88" y="3824150"/>
            <a:ext cx="5001825" cy="47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905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8. Average male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age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endParaRPr lang="de-DE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699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Examples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>
                <a:latin typeface="Calibri"/>
                <a:ea typeface="Calibri"/>
                <a:cs typeface="Times New Roman"/>
              </a:rPr>
              <a:t>8. Average male </a:t>
            </a:r>
            <a:r>
              <a:rPr lang="de-DE" sz="2400" dirty="0" err="1">
                <a:latin typeface="Calibri"/>
                <a:ea typeface="Calibri"/>
                <a:cs typeface="Times New Roman"/>
              </a:rPr>
              <a:t>age</a:t>
            </a:r>
            <a:br>
              <a:rPr lang="de-DE" sz="2400" dirty="0">
                <a:latin typeface="Calibri"/>
                <a:ea typeface="Calibri"/>
                <a:cs typeface="Times New Roman"/>
              </a:rPr>
            </a:b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(</a:t>
            </a:r>
            <a:r>
              <a:rPr lang="de-DE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sum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(//*[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attribute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::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gender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=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"male"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]/@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age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) </a:t>
            </a:r>
            <a:r>
              <a:rPr lang="de-DE" sz="2400" dirty="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div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count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(//*[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attribute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::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gender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=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"male"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]))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or</a:t>
            </a:r>
            <a:br>
              <a:rPr lang="de-DE" sz="2400" dirty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</a:br>
            <a:r>
              <a:rPr lang="de-DE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sum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(//*[@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gender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=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"male"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]/@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age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) </a:t>
            </a:r>
            <a:r>
              <a:rPr lang="de-DE" sz="2400" dirty="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div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  <a:r>
              <a:rPr lang="de-DE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count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(//*[@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gender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=</a:t>
            </a:r>
            <a:r>
              <a:rPr lang="de-DE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"male"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]/@</a:t>
            </a: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age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Or</a:t>
            </a:r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err="1">
                <a:solidFill>
                  <a:srgbClr val="00808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avg</a:t>
            </a:r>
            <a:r>
              <a:rPr lang="en-US" sz="2400" dirty="0"/>
              <a:t>(//person[@gender="</a:t>
            </a:r>
            <a:r>
              <a:rPr lang="en-US" sz="2400" dirty="0">
                <a:solidFill>
                  <a:srgbClr val="CC6600"/>
                </a:solidFill>
                <a:highlight>
                  <a:srgbClr val="FFFFFF"/>
                </a:highlight>
                <a:latin typeface="Arial"/>
                <a:ea typeface="Calibri"/>
                <a:cs typeface="Times New Roman"/>
              </a:rPr>
              <a:t>male</a:t>
            </a:r>
            <a:r>
              <a:rPr lang="en-US" sz="2400" dirty="0"/>
              <a:t>"]/@age)</a:t>
            </a:r>
            <a:endParaRPr lang="de-DE"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Times New Roman"/>
            </a:endParaRPr>
          </a:p>
          <a:p>
            <a:endParaRPr lang="de-DE" sz="2800" dirty="0"/>
          </a:p>
          <a:p>
            <a:endParaRPr 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88" y="5445224"/>
            <a:ext cx="5080048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192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15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6e88c28-51f7-4cf2-bf07-d5dd31bd1c61" xsi:nil="true"/>
    <TaxCatchAll xmlns="ebd01039-58b0-4616-9cbc-df5c8ae803a8" xsi:nil="true"/>
    <lcf76f155ced4ddcb4097134ff3c332f xmlns="36e88c28-51f7-4cf2-bf07-d5dd31bd1c6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226AA39FA88A44AFA62822AA17F4C7" ma:contentTypeVersion="17" ma:contentTypeDescription="Create a new document." ma:contentTypeScope="" ma:versionID="c0535d27d85ef8e73c7490146f1a7776">
  <xsd:schema xmlns:xsd="http://www.w3.org/2001/XMLSchema" xmlns:xs="http://www.w3.org/2001/XMLSchema" xmlns:p="http://schemas.microsoft.com/office/2006/metadata/properties" xmlns:ns2="36e88c28-51f7-4cf2-bf07-d5dd31bd1c61" xmlns:ns3="ebd01039-58b0-4616-9cbc-df5c8ae803a8" targetNamespace="http://schemas.microsoft.com/office/2006/metadata/properties" ma:root="true" ma:fieldsID="d64e3a2961643c026222916d5e9ecfd7" ns2:_="" ns3:_="">
    <xsd:import namespace="36e88c28-51f7-4cf2-bf07-d5dd31bd1c61"/>
    <xsd:import namespace="ebd01039-58b0-4616-9cbc-df5c8ae80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_Flow_SignoffStatu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88c28-51f7-4cf2-bf07-d5dd31bd1c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6" nillable="true" ma:displayName="Sign-off status" ma:internalName="_x0024_Resources_x003a_core_x002c_Signoff_Status_x003b_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2fdd27-ee36-42ac-901d-ae0f66495c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01039-58b0-4616-9cbc-df5c8ae80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a76a38d-9741-4a60-801e-cd6cd965268c}" ma:internalName="TaxCatchAll" ma:showField="CatchAllData" ma:web="ebd01039-58b0-4616-9cbc-df5c8ae80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rca:RCAuthoringProperties xmlns:rca="urn:sharePointPublishingRcaProperties">
  <rca:Converter rca:guid="6dfdc5b4-2a28-4a06-b0c6-ad3901e3a807">
    <rca:property rca:type="InheritParentSettings">False</rca:property>
    <rca:property rca:type="SelectedPageLayout">23</rca:property>
    <rca:property rca:type="SelectedPageField">f55c4d88-1f2e-4ad9-aaa8-819af4ee7ee8</rca:property>
    <rca:property rca:type="SelectedStylesField">a932ec3f-94c1-48b1-b6dc-41aaa6eb7e54</rca:property>
    <rca:property rca:type="CreatePageWithSourceDocument">True</rca:property>
    <rca:property rca:type="AllowChangeLocationConfig">True</rca:property>
    <rca:property rca:type="ConfiguredPageLocation">http://pegasus</rca:property>
    <rca:property rca:type="CreateSynchronously">True</rca:property>
    <rca:property rca:type="AllowChangeProcessingConfig">True</rca:property>
    <rca:property rca:type="ConverterSpecificSettings"/>
  </rca:Converter>
</rca:RCAuthoringProperti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550159B654B3469BEC8F5FCB2D3E65" ma:contentTypeVersion="10" ma:contentTypeDescription="Create a new document." ma:contentTypeScope="" ma:versionID="c79d44ee12fb737209a0b9715c9c4a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FD6C9F-E815-411F-A073-4443EB58E7C3}"/>
</file>

<file path=customXml/itemProps2.xml><?xml version="1.0" encoding="utf-8"?>
<ds:datastoreItem xmlns:ds="http://schemas.openxmlformats.org/officeDocument/2006/customXml" ds:itemID="{E378E111-E56C-4F90-879B-FBA01762B9B7}"/>
</file>

<file path=customXml/itemProps3.xml><?xml version="1.0" encoding="utf-8"?>
<ds:datastoreItem xmlns:ds="http://schemas.openxmlformats.org/officeDocument/2006/customXml" ds:itemID="{4A1B2171-F4D5-4F49-B963-89300AED57C6}"/>
</file>

<file path=customXml/itemProps4.xml><?xml version="1.0" encoding="utf-8"?>
<ds:datastoreItem xmlns:ds="http://schemas.openxmlformats.org/officeDocument/2006/customXml" ds:itemID="{75D863BD-8EC7-4521-BAB7-7B05B6774F1A}"/>
</file>

<file path=customXml/itemProps5.xml><?xml version="1.0" encoding="utf-8"?>
<ds:datastoreItem xmlns:ds="http://schemas.openxmlformats.org/officeDocument/2006/customXml" ds:itemID="{14743F1D-1773-405F-BCC9-52BAC2F05B50}"/>
</file>

<file path=docMetadata/LabelInfo.xml><?xml version="1.0" encoding="utf-8"?>
<clbl:labelList xmlns:clbl="http://schemas.microsoft.com/office/2020/mipLabelMetadata">
  <clbl:label id="{705c9e18-d393-4470-8b67-9616c62ec31f}" enabled="1" method="Standard" siteId="{c5d1e823-e2b8-46bf-92ff-84f54313e0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210</Words>
  <Application>Microsoft Office PowerPoint</Application>
  <PresentationFormat>A4-Papier (210 x 297 mm)</PresentationFormat>
  <Paragraphs>62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5" baseType="lpstr">
      <vt:lpstr>Arial</vt:lpstr>
      <vt:lpstr>Calibri</vt:lpstr>
      <vt:lpstr>DB Office</vt:lpstr>
      <vt:lpstr>Times New Roman</vt:lpstr>
      <vt:lpstr>Wingdings</vt:lpstr>
      <vt:lpstr>Die Bahn_2003</vt:lpstr>
      <vt:lpstr>PowerPoint-Präsentation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Examples </vt:lpstr>
      <vt:lpstr>PowerPoint-Präsentation</vt:lpstr>
    </vt:vector>
  </TitlesOfParts>
  <Company>DB Schenker Deutschland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Schulz, Richard</cp:lastModifiedBy>
  <cp:revision>617</cp:revision>
  <cp:lastPrinted>2012-11-23T10:04:04Z</cp:lastPrinted>
  <dcterms:created xsi:type="dcterms:W3CDTF">2012-01-09T10:50:23Z</dcterms:created>
  <dcterms:modified xsi:type="dcterms:W3CDTF">2017-07-27T08:28:45Z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ediaServiceImageTags">
    <vt:lpwstr/>
  </property>
</Properties>
</file>