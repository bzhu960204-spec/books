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 showSpecialPlsOnTitleSld="0" strictFirstAndLastChar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52" r:id="rId3"/>
    <p:sldId id="420" r:id="rId4"/>
    <p:sldId id="432" r:id="rId5"/>
    <p:sldId id="434" r:id="rId6"/>
    <p:sldId id="442" r:id="rId7"/>
    <p:sldId id="452" r:id="rId8"/>
    <p:sldId id="433" r:id="rId9"/>
    <p:sldId id="443" r:id="rId10"/>
    <p:sldId id="444" r:id="rId11"/>
    <p:sldId id="445" r:id="rId12"/>
    <p:sldId id="446" r:id="rId13"/>
    <p:sldId id="447" r:id="rId14"/>
    <p:sldId id="448" r:id="rId15"/>
    <p:sldId id="450" r:id="rId16"/>
    <p:sldId id="451" r:id="rId17"/>
    <p:sldId id="424" r:id="rId18"/>
    <p:sldId id="379" r:id="rId19"/>
  </p:sldIdLst>
  <p:sldSz cx="9906000" cy="6858000" type="A4"/>
  <p:notesSz cx="6797675" cy="9874250"/>
  <p:custDataLst>
    <p:tags r:id="rId25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570" userDrawn="1">
          <p15:clr>
            <a:srgbClr val="A4A3A4"/>
          </p15:clr>
        </p15:guide>
        <p15:guide id="3" orient="horz" pos="356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2931" userDrawn="1">
          <p15:clr>
            <a:srgbClr val="A4A3A4"/>
          </p15:clr>
        </p15:guide>
        <p15:guide id="6" orient="horz" pos="3521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339" userDrawn="1">
          <p15:clr>
            <a:srgbClr val="A4A3A4"/>
          </p15:clr>
        </p15:guide>
        <p15:guide id="9" orient="horz" pos="3067" userDrawn="1">
          <p15:clr>
            <a:srgbClr val="A4A3A4"/>
          </p15:clr>
        </p15:guide>
        <p15:guide id="10" orient="horz" pos="1389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pos="1532" userDrawn="1">
          <p15:clr>
            <a:srgbClr val="A4A3A4"/>
          </p15:clr>
        </p15:guide>
        <p15:guide id="13" pos="6114" userDrawn="1">
          <p15:clr>
            <a:srgbClr val="A4A3A4"/>
          </p15:clr>
        </p15:guide>
        <p15:guide id="14" pos="3120" userDrawn="1">
          <p15:clr>
            <a:srgbClr val="A4A3A4"/>
          </p15:clr>
        </p15:guide>
        <p15:guide id="15" pos="23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632" autoAdjust="0"/>
    <p:restoredTop sz="94588" autoAdjust="0"/>
  </p:normalViewPr>
  <p:slideViewPr>
    <p:cSldViewPr showGuides="1">
      <p:cViewPr varScale="1">
        <p:scale>
          <a:sx n="113" d="100"/>
          <a:sy n="113" d="100"/>
        </p:scale>
        <p:origin x="792" y="102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noProof="0"/>
              <a:t>Klicken Sie, um die Formate des Vorlagentextes zu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  <a:endParaRPr lang="en-US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/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  <a:endParaRPr lang="de-DE" dirty="0">
              <a:solidFill>
                <a:srgbClr val="000000"/>
              </a:solidFill>
              <a:latin typeface="DB Office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  <a:endParaRPr lang="de-DE" sz="2800" b="1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  <a:endParaRPr lang="de-DE" sz="1200" dirty="0">
              <a:solidFill>
                <a:srgbClr val="000000"/>
              </a:solidFill>
              <a:latin typeface="DB Offi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  <a:endParaRPr lang="de-DE" dirty="0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/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79705">
              <a:defRPr b="1"/>
            </a:lvl1pPr>
          </a:lstStyle>
          <a:p>
            <a:pPr lvl="0"/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image" Target="../media/image8.png"/><Relationship Id="rId45" Type="http://schemas.openxmlformats.org/officeDocument/2006/relationships/image" Target="../media/image1.png"/><Relationship Id="rId44" Type="http://schemas.openxmlformats.org/officeDocument/2006/relationships/tags" Target="../tags/tag9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/>
              <a:t>Klicken Sie, um die Formate des Vorlagentextes zu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de-DE" dirty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/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/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  <a:endParaRPr lang="de-DE" sz="900" b="0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  <a:endParaRPr lang="de-DE" sz="1600" b="1" dirty="0">
              <a:solidFill>
                <a:srgbClr val="878C96"/>
              </a:solidFill>
              <a:latin typeface="DB Office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/>
          <a:lstStyle/>
          <a:p>
            <a:pPr lvl="0"/>
            <a:r>
              <a:rPr lang="de-DE" dirty="0"/>
              <a:t>Klicken Sie, um das Titelformat zu bearbeiten</a:t>
            </a:r>
            <a:endParaRPr lang="de-DE" dirty="0"/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6055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830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9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61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3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5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780" indent="-18288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noProof="0" dirty="0">
                <a:latin typeface="+mj-lt"/>
              </a:rPr>
              <a:t>USE XSLT </a:t>
            </a:r>
            <a:r>
              <a:rPr lang="en-US" dirty="0">
                <a:latin typeface="+mj-lt"/>
              </a:rPr>
              <a:t>WITH </a:t>
            </a:r>
            <a:r>
              <a:rPr lang="en-US" noProof="0" dirty="0">
                <a:latin typeface="+mj-lt"/>
              </a:rPr>
              <a:t>SWORD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  <a:endParaRPr lang="en-US" sz="12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2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8504" y="1772816"/>
          <a:ext cx="6531992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57399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Conventions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 of file system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Restrictions</a:t>
                      </a:r>
                      <a:endParaRPr lang="en-US" dirty="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Configuring the Process steps</a:t>
                      </a:r>
                      <a:endParaRPr lang="en-US" dirty="0"/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Configuring the MBC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 tables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references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Please use names like for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Datamapper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mappings: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“_” to separate the parts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E_XSLT_DURAE2MMSG.xslt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Please do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 the extension “*.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”!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Conventions</a:t>
            </a: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0472" y="2132856"/>
          <a:ext cx="7201248" cy="362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912"/>
                <a:gridCol w="997481"/>
                <a:gridCol w="3545903"/>
                <a:gridCol w="1464952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Part1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Part2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Part3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Part4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Region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Fix “XSLT”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Name of the mapping (normally like process ID)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Extension “.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”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>
          <a:xfrm>
            <a:off x="200025" y="1555899"/>
            <a:ext cx="9505950" cy="4897437"/>
          </a:xfrm>
        </p:spPr>
        <p:txBody>
          <a:bodyPr/>
          <a:lstStyle/>
          <a:p>
            <a:pPr marL="0" lvl="2" indent="0">
              <a:lnSpc>
                <a:spcPct val="150000"/>
              </a:lnSpc>
              <a:buClrTx/>
              <a:buNone/>
            </a:pPr>
            <a:br>
              <a:rPr lang="de-DE" sz="1800" dirty="0"/>
            </a:br>
            <a:r>
              <a:rPr lang="de-DE" sz="1800" dirty="0"/>
              <a:t>		</a:t>
            </a:r>
            <a:endParaRPr lang="de-DE" sz="1800" dirty="0"/>
          </a:p>
          <a:p>
            <a:pPr lvl="3" indent="0">
              <a:lnSpc>
                <a:spcPct val="150000"/>
              </a:lnSpc>
              <a:buNone/>
            </a:pPr>
            <a:endParaRPr lang="de-DE" sz="1800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file system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0024" y="1700808"/>
          <a:ext cx="8497391" cy="15841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8701"/>
                <a:gridCol w="5128690"/>
              </a:tblGrid>
              <a:tr h="1930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Directory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Function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930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/app/sword/</a:t>
                      </a:r>
                      <a:r>
                        <a:rPr lang="en-US" sz="1100" dirty="0" err="1">
                          <a:effectLst/>
                        </a:rPr>
                        <a:t>schenker</a:t>
                      </a:r>
                      <a:r>
                        <a:rPr lang="en-US" sz="1100" dirty="0">
                          <a:effectLst/>
                        </a:rPr>
                        <a:t>/data/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/maps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Mapping depository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99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/app/sword/</a:t>
                      </a:r>
                      <a:r>
                        <a:rPr lang="en-US" sz="1100" dirty="0" err="1">
                          <a:effectLst/>
                        </a:rPr>
                        <a:t>schenker</a:t>
                      </a:r>
                      <a:r>
                        <a:rPr lang="en-US" sz="1100" dirty="0">
                          <a:effectLst/>
                        </a:rPr>
                        <a:t>/data/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/</a:t>
                      </a:r>
                      <a:r>
                        <a:rPr lang="en-US" sz="1100" dirty="0" err="1">
                          <a:effectLst/>
                        </a:rPr>
                        <a:t>dynamic_tables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Dynamic tables depository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99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/app/sword/</a:t>
                      </a:r>
                      <a:r>
                        <a:rPr lang="en-US" sz="1100" dirty="0" err="1">
                          <a:effectLst/>
                        </a:rPr>
                        <a:t>schenker</a:t>
                      </a:r>
                      <a:r>
                        <a:rPr lang="en-US" sz="1100" dirty="0">
                          <a:effectLst/>
                        </a:rPr>
                        <a:t>/data/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/</a:t>
                      </a:r>
                      <a:r>
                        <a:rPr lang="en-US" sz="1100" dirty="0" err="1">
                          <a:effectLst/>
                        </a:rPr>
                        <a:t>from_xib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Directory where xib hands over files to the xslt processor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99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/app/sword/</a:t>
                      </a:r>
                      <a:r>
                        <a:rPr lang="en-US" sz="1100" dirty="0" err="1">
                          <a:effectLst/>
                        </a:rPr>
                        <a:t>schenker</a:t>
                      </a:r>
                      <a:r>
                        <a:rPr lang="en-US" sz="1100" dirty="0">
                          <a:effectLst/>
                        </a:rPr>
                        <a:t>/data/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/</a:t>
                      </a:r>
                      <a:r>
                        <a:rPr lang="en-US" sz="1100" dirty="0" err="1">
                          <a:effectLst/>
                        </a:rPr>
                        <a:t>to_xib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Directory where the 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 processor hands over files to </a:t>
                      </a:r>
                      <a:r>
                        <a:rPr lang="en-US" sz="1100" dirty="0" err="1">
                          <a:effectLst/>
                        </a:rPr>
                        <a:t>xib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>
          <a:xfrm>
            <a:off x="200025" y="1555899"/>
            <a:ext cx="9505950" cy="4897437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mapping is always just one file. It is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allowed to include external templates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(because of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-concept and to keep it simple). The usage of external tables is of course possible.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incoming file has just one BDID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incoming file creates exactly one outgoing file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tables have to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addresses with a relative path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(like “../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dynamic_tables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/&lt;table&gt;”)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to be used in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parallel flows</a:t>
            </a:r>
            <a:endParaRPr lang="en-US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to be used in the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stage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Files should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be bigger than 10MB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buNone/>
            </a:pPr>
            <a:endParaRPr lang="de-DE" sz="1800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</a:t>
            </a:r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de-DE" sz="1800" dirty="0"/>
              <a:t>Type: select XSLT Map</a:t>
            </a:r>
            <a:endParaRPr lang="de-DE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de-DE" sz="1800" dirty="0"/>
              <a:t>MBC Name: same with XSLT mapping name without extension</a:t>
            </a:r>
            <a:endParaRPr lang="de-DE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de-DE" sz="1800" dirty="0"/>
              <a:t>Description: mapping description</a:t>
            </a:r>
            <a:endParaRPr lang="de-DE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de-DE" sz="1800" dirty="0"/>
              <a:t>Inbound/Outbound structure: select the file type for inbound/outbound</a:t>
            </a:r>
            <a:endParaRPr lang="de-DE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de-DE" sz="1800" dirty="0"/>
              <a:t>Debug: default No</a:t>
            </a:r>
            <a:endParaRPr lang="de-DE" sz="1800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Process Setups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3859834"/>
            <a:ext cx="6887536" cy="2591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name of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MBC is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MO_XSLTProcessor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You can define the following three categories: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de-DE" sz="1800" dirty="0"/>
          </a:p>
          <a:p>
            <a:pPr marL="471805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MBC</a:t>
            </a:r>
            <a:endParaRPr lang="en-US" dirty="0"/>
          </a:p>
        </p:txBody>
      </p:sp>
      <p:pic>
        <p:nvPicPr>
          <p:cNvPr id="6" name="Grafik 2"/>
          <p:cNvPicPr/>
          <p:nvPr/>
        </p:nvPicPr>
        <p:blipFill>
          <a:blip r:embed="rId1"/>
          <a:stretch>
            <a:fillRect/>
          </a:stretch>
        </p:blipFill>
        <p:spPr>
          <a:xfrm>
            <a:off x="203886" y="2060848"/>
            <a:ext cx="7269394" cy="2232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Dynamic tables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category is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Only if you want to use a dynamic table in your mapping, you have to define it here. It is a dropdown of the existing dynamic tables. So you have to create the tables in the configurator first. 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MBC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2" y="3068960"/>
            <a:ext cx="7068536" cy="2162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 Parameter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category is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mandatory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In this category you define the following parameters: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MBC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7381" y="4797152"/>
          <a:ext cx="7923972" cy="1304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6958"/>
                <a:gridCol w="4982523"/>
                <a:gridCol w="1204491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Parameter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Value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Mandatory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</a:rPr>
                        <a:t>StylesheetName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>
                          <a:effectLst/>
                        </a:rPr>
                        <a:t>The name of your 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 mapping in /app/sword/</a:t>
                      </a:r>
                      <a:r>
                        <a:rPr lang="en-US" sz="1100" dirty="0" err="1">
                          <a:effectLst/>
                        </a:rPr>
                        <a:t>schenker</a:t>
                      </a:r>
                      <a:r>
                        <a:rPr lang="en-US" sz="1100" dirty="0">
                          <a:effectLst/>
                        </a:rPr>
                        <a:t>/data/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/maps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</a:rPr>
                        <a:t>TimeOut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 in seconds to wait for the conversion before throwing an error. Default is 120. Shouldn´t be changed in most of the cases.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dirty="0">
                          <a:effectLst/>
                        </a:rPr>
                        <a:t>Note:</a:t>
                      </a:r>
                      <a:r>
                        <a:rPr lang="en-US" sz="1100" dirty="0">
                          <a:effectLst/>
                        </a:rPr>
                        <a:t> If the </a:t>
                      </a:r>
                      <a:r>
                        <a:rPr lang="en-US" sz="1100" dirty="0" err="1">
                          <a:effectLst/>
                        </a:rPr>
                        <a:t>xslt</a:t>
                      </a:r>
                      <a:r>
                        <a:rPr lang="en-US" sz="1100" dirty="0">
                          <a:effectLst/>
                        </a:rPr>
                        <a:t>-processor finishes the transformation after the timeout value was reached, SWING will show “success with error”.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OutputPath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Future enhancement. Please leave this value empty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2093410"/>
            <a:ext cx="7773485" cy="2572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 Reference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category is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If you want to use framework references inside your mapping, you have to select them here once (every reference individually).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MBC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2564904"/>
            <a:ext cx="6963747" cy="1552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Create tables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same with the tables use 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datamapper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keep the </a:t>
            </a:r>
            <a:r>
              <a:rPr lang="en-US" sz="1800" b="1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 as XML(PIXIE)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checkbox selected while creating tables in Configurator.</a:t>
            </a:r>
            <a:endParaRPr lang="en-US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Dynamic tables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6" y="2708920"/>
            <a:ext cx="5306165" cy="2333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 Usage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table dump has to be stored relatively to the mapping in "../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dynamic_tables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ways to address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tables in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(1)Reading the complete table into one Variable in the stylesheet:</a:t>
            </a:r>
            <a:endParaRPr lang="en-US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xsl:variable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name="vendor" select="document('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dynamic_tables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/DYN_AMATE2AEAN_VENDOR.xml)"/&gt;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you can access the content like: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xsl:value-of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select="$vendor/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table_dump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/row[AMAT=’6194’]/PROCARS"/&gt;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Should be used if there are multiple accesses to the table, because table is hold in ram.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Dynamic tables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 Usage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(2)Accessing the table directly:</a:t>
            </a:r>
            <a:endParaRPr lang="en-US" sz="1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xsl:value-of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select="document('/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dynamic_tables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/DYN_AMATE2AEAN_VENDOR.xml)/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table_dump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/row[AMAT=’6194’]/PROCARS"/&gt;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Dynamic tables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Use framework references in </a:t>
            </a:r>
            <a:r>
              <a:rPr lang="en-US" sz="1800" b="1" dirty="0" err="1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xslt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use the values of the references, that you have selected in the MBC configuration directly as variables. The notation for those variables is lower case and with “_” instead of “ “.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 if you have a reference in the framework, that is called “Document ID”, you can address it as follows: 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xsl:value-of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document_id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"/&gt;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u="sng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u="sng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BDID can be addressed in any case as $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bdid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xsl:value-of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 select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$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documentid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</a:rPr>
              <a:t>"/&gt;</a:t>
            </a:r>
            <a:r>
              <a:rPr lang="en-US" sz="18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Reference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0472" y="3861048"/>
          <a:ext cx="8064896" cy="10928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2058"/>
                <a:gridCol w="4542838"/>
              </a:tblGrid>
              <a:tr h="2511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Framework Reference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Code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763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Document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&lt;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xsl:value-of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 select="$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document_id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"/&gt;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763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DocumentID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&lt;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xsl:value-of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 select="$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documentid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"/&gt;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763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Awesome_Ref</a:t>
                      </a:r>
                      <a:r>
                        <a:rPr lang="en-US" sz="1600" dirty="0">
                          <a:effectLst/>
                        </a:rPr>
                        <a:t> 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&lt;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xsl:value-of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 select="$</a:t>
                      </a:r>
                      <a:r>
                        <a:rPr lang="en-US" sz="1600" dirty="0" err="1">
                          <a:effectLst/>
                          <a:highlight>
                            <a:srgbClr val="FFFFFF"/>
                          </a:highlight>
                        </a:rPr>
                        <a:t>awesome_ref_name</a:t>
                      </a:r>
                      <a:r>
                        <a:rPr lang="en-US" sz="1600" dirty="0">
                          <a:effectLst/>
                          <a:highlight>
                            <a:srgbClr val="FFFFFF"/>
                          </a:highlight>
                        </a:rPr>
                        <a:t>"/&gt;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 Create framework references in </a:t>
            </a:r>
            <a:r>
              <a:rPr lang="en-US" sz="1800" b="1" dirty="0" err="1">
                <a:solidFill>
                  <a:srgbClr val="4F81BD"/>
                </a:solidFill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xslt</a:t>
            </a:r>
            <a:endParaRPr lang="en-US" sz="1800" b="1" dirty="0">
              <a:solidFill>
                <a:srgbClr val="4F81BD"/>
              </a:solidFill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send references from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mapping back to the framework, you have to build the following code (recommended at the end of the main template):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xsl:result-document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href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metaout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references_out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&lt;reference name&gt;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sequence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&lt;reference number&gt;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180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structure_name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Dynamic_XSLT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&lt;value&gt;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references_out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</a:t>
            </a:r>
            <a:r>
              <a:rPr lang="en-US" sz="1800" dirty="0" err="1">
                <a:solidFill>
                  <a:srgbClr val="8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xsl:result-document</a:t>
            </a:r>
            <a:r>
              <a:rPr lang="en-US" sz="18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yellow marked text defines the reference name and number (it is always part1).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green marked text is the value of your reference.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u="sng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Reference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de-DE" sz="1400" dirty="0"/>
              <a:t>1. Always select sword development			4. click </a:t>
            </a:r>
            <a:r>
              <a:rPr lang="zh-CN" altLang="en-US" sz="1400" dirty="0"/>
              <a:t>‘浏览’ </a:t>
            </a:r>
            <a:r>
              <a:rPr lang="en-US" altLang="zh-CN" sz="1400" dirty="0"/>
              <a:t>button</a:t>
            </a: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de-DE" sz="1400" dirty="0"/>
          </a:p>
          <a:p>
            <a:pPr lvl="1" indent="0">
              <a:lnSpc>
                <a:spcPct val="150000"/>
              </a:lnSpc>
              <a:buNone/>
            </a:pPr>
            <a:r>
              <a:rPr lang="de-DE" sz="1400" dirty="0"/>
              <a:t>2. Developer account				5. select your xslt mapping and click Upload File</a:t>
            </a:r>
            <a:endParaRPr lang="de-DE" sz="1400" dirty="0"/>
          </a:p>
          <a:p>
            <a:pPr lvl="1" indent="0">
              <a:lnSpc>
                <a:spcPct val="150000"/>
              </a:lnSpc>
              <a:buNone/>
            </a:pP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r>
              <a:rPr lang="de-DE" sz="1400" dirty="0"/>
              <a:t>3. </a:t>
            </a:r>
            <a:r>
              <a:rPr lang="en-US" sz="1400" dirty="0"/>
              <a:t>Write the comments here</a:t>
            </a: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SVN Check In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496" y="1895995"/>
            <a:ext cx="3486637" cy="1057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89" y="3362993"/>
            <a:ext cx="3153215" cy="12288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9" y="4904120"/>
            <a:ext cx="3477110" cy="12384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064" y="1912538"/>
            <a:ext cx="4096322" cy="7621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080" y="3473216"/>
            <a:ext cx="4261911" cy="733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WNOMINIMIZE" val="-1"/>
</p:tagLst>
</file>

<file path=ppt/tags/tag2.xml><?xml version="1.0" encoding="utf-8"?>
<p:tagLst xmlns:p="http://schemas.openxmlformats.org/presentationml/2006/main">
  <p:tag name="TWNOMINIMIZE" val="-1"/>
</p:tagLst>
</file>

<file path=ppt/tags/tag3.xml><?xml version="1.0" encoding="utf-8"?>
<p:tagLst xmlns:p="http://schemas.openxmlformats.org/presentationml/2006/main">
  <p:tag name="TWNOMINIMIZE" val="-1"/>
</p:tagLst>
</file>

<file path=ppt/tags/tag4.xml><?xml version="1.0" encoding="utf-8"?>
<p:tagLst xmlns:p="http://schemas.openxmlformats.org/presentationml/2006/main">
  <p:tag name="TWNOMINIMIZE" val="-1"/>
</p:tagLst>
</file>

<file path=ppt/tags/tag5.xml><?xml version="1.0" encoding="utf-8"?>
<p:tagLst xmlns:p="http://schemas.openxmlformats.org/presentationml/2006/main">
  <p:tag name="TWNOMINIMIZE" val="-1"/>
</p:tagLst>
</file>

<file path=ppt/tags/tag6.xml><?xml version="1.0" encoding="utf-8"?>
<p:tagLst xmlns:p="http://schemas.openxmlformats.org/presentationml/2006/main">
  <p:tag name="TWNOMINIMIZE" val="-1"/>
</p:tagLst>
</file>

<file path=ppt/tags/tag7.xml><?xml version="1.0" encoding="utf-8"?>
<p:tagLst xmlns:p="http://schemas.openxmlformats.org/presentationml/2006/main">
  <p:tag name="TWNOMINIMIZE" val="-1"/>
</p:tagLst>
</file>

<file path=ppt/tags/tag8.xml><?xml version="1.0" encoding="utf-8"?>
<p:tagLst xmlns:p="http://schemas.openxmlformats.org/presentationml/2006/main">
  <p:tag name="TWNOMINIMIZE" val="-1"/>
</p:tagLst>
</file>

<file path=ppt/tags/tag9.xml><?xml version="1.0" encoding="utf-8"?>
<p:tagLst xmlns:p="http://schemas.openxmlformats.org/presentationml/2006/main">
  <p:tag name="TWNOMINIMIZE" val="-1"/>
</p:tagLst>
</file>

<file path=ppt/tags/tag10.xml><?xml version="1.0" encoding="utf-8"?>
<p:tagLst xmlns:p="http://schemas.openxmlformats.org/presentationml/2006/main">
  <p:tag name="TWNOCDCHECK" val="-1"/>
</p:tagLst>
</file>

<file path=ppt/tags/tag11.xml><?xml version="1.0" encoding="utf-8"?>
<p:tagLst xmlns:p="http://schemas.openxmlformats.org/presentationml/2006/main">
  <p:tag name="TWNOCDCHECK" val="-1"/>
</p:tagLst>
</file>

<file path=ppt/tags/tag12.xml><?xml version="1.0" encoding="utf-8"?>
<p:tagLst xmlns:p="http://schemas.openxmlformats.org/presentationml/2006/main">
  <p:tag name="TWNOCDCHECK" val="-1"/>
</p:tagLst>
</file>

<file path=ppt/tags/tag13.xml><?xml version="1.0" encoding="utf-8"?>
<p:tagLst xmlns:p="http://schemas.openxmlformats.org/presentationml/2006/main">
  <p:tag name="TWNOCDCHECK" val="-1"/>
</p:tagLst>
</file>

<file path=ppt/tags/tag14.xml><?xml version="1.0" encoding="utf-8"?>
<p:tagLst xmlns:p="http://schemas.openxmlformats.org/presentationml/2006/main">
  <p:tag name="TWNOCDCHECK" val="-1"/>
</p:tagLst>
</file>

<file path=ppt/tags/tag15.xml><?xml version="1.0" encoding="utf-8"?>
<p:tagLst xmlns:p="http://schemas.openxmlformats.org/presentationml/2006/main">
  <p:tag name="TWNOCDCHECK" val="-1"/>
</p:tagLst>
</file>

<file path=ppt/tags/tag16.xml><?xml version="1.0" encoding="utf-8"?>
<p:tagLst xmlns:p="http://schemas.openxmlformats.org/presentationml/2006/main">
  <p:tag name="TWNOCDCHECK" val="-1"/>
</p:tagLst>
</file>

<file path=ppt/tags/tag17.xml><?xml version="1.0" encoding="utf-8"?>
<p:tagLst xmlns:p="http://schemas.openxmlformats.org/presentationml/2006/main">
  <p:tag name="TWNOCDCHECK" val="-1"/>
</p:tagLst>
</file>

<file path=ppt/tags/tag18.xml><?xml version="1.0" encoding="utf-8"?>
<p:tagLst xmlns:p="http://schemas.openxmlformats.org/presentationml/2006/main">
  <p:tag name="KSO_WM_UNIT_TABLE_BEAUTIFY" val="smartTable{9d449403-3fec-4b0d-aa9b-bec22e45369d}"/>
</p:tagLst>
</file>

<file path=ppt/tags/tag19.xml><?xml version="1.0" encoding="utf-8"?>
<p:tagLst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  <p:tag name="KSO_WPP_MARK_KEY" val="aabb27aa-994a-42a3-9a26-0c7d82ee9922"/>
  <p:tag name="COMMONDATA" val="eyJoZGlkIjoiNGE2ZDEyOWJhOTU4ZDVkNjU0ZTAyZTdjNmYzZDVkYjYifQ==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4910</Words>
  <Application>WPS 演示</Application>
  <PresentationFormat>A4 Paper (210x297 mm)</PresentationFormat>
  <Paragraphs>292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DB Office</vt:lpstr>
      <vt:lpstr>Segoe Print</vt:lpstr>
      <vt:lpstr>DB Office</vt:lpstr>
      <vt:lpstr>Calibri</vt:lpstr>
      <vt:lpstr>Times New Roman</vt:lpstr>
      <vt:lpstr>Cambria</vt:lpstr>
      <vt:lpstr>微软雅黑</vt:lpstr>
      <vt:lpstr>Arial Unicode MS</vt:lpstr>
      <vt:lpstr>Die Bahn_2003</vt:lpstr>
      <vt:lpstr>PowerPoint 演示文稿</vt:lpstr>
      <vt:lpstr>	 </vt:lpstr>
      <vt:lpstr>Name Conventions	 </vt:lpstr>
      <vt:lpstr>Structure of file system</vt:lpstr>
      <vt:lpstr>Restrictions</vt:lpstr>
      <vt:lpstr>Configuring the Process Setups</vt:lpstr>
      <vt:lpstr>Configuring the MBC</vt:lpstr>
      <vt:lpstr>Configuring the MBC</vt:lpstr>
      <vt:lpstr>Configuring the MBC</vt:lpstr>
      <vt:lpstr>Configuring the MBC</vt:lpstr>
      <vt:lpstr>Dynamic tables</vt:lpstr>
      <vt:lpstr>Dynamic tables</vt:lpstr>
      <vt:lpstr>Dynamic tables</vt:lpstr>
      <vt:lpstr>Using Reference</vt:lpstr>
      <vt:lpstr>Using Reference</vt:lpstr>
      <vt:lpstr>SVN Check In	 </vt:lpstr>
      <vt:lpstr>PowerPoint 演示文稿</vt:lpstr>
    </vt:vector>
  </TitlesOfParts>
  <Company>DB Schenker Deutschland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，，</cp:lastModifiedBy>
  <cp:revision>640</cp:revision>
  <cp:lastPrinted>2012-11-23T10:04:00Z</cp:lastPrinted>
  <dcterms:created xsi:type="dcterms:W3CDTF">2012-01-09T10:50:00Z</dcterms:created>
  <dcterms:modified xsi:type="dcterms:W3CDTF">2023-01-15T05:09:25Z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2022-05-19T09:18:31Z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6c6d2cde-2730-4036-b8a5-4509633a8501</vt:lpwstr>
  </property>
  <property fmtid="{D5CDD505-2E9C-101B-9397-08002B2CF9AE}" pid="9" name="MSIP_Label_705c9e18-d393-4470-8b67-9616c62ec31f_ContentBits">
    <vt:lpwstr>0</vt:lpwstr>
  </property>
  <property fmtid="{D5CDD505-2E9C-101B-9397-08002B2CF9AE}" pid="10" name="ICV">
    <vt:lpwstr>034D58BD53DC4FB7BEA4CD83489DC7B5</vt:lpwstr>
  </property>
  <property fmtid="{D5CDD505-2E9C-101B-9397-08002B2CF9AE}" pid="11" name="KSOProductBuildVer">
    <vt:lpwstr>2052-11.1.0.12980</vt:lpwstr>
  </property>
</Properties>
</file>