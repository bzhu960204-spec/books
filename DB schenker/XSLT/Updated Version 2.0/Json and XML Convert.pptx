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bookmarkIdSeed="2">
  <p:sldMasterIdLst>
    <p:sldMasterId id="2147483685" r:id="rId6"/>
  </p:sldMasterIdLst>
  <p:notesMasterIdLst>
    <p:notesMasterId r:id="rId17"/>
  </p:notesMasterIdLst>
  <p:handoutMasterIdLst>
    <p:handoutMasterId r:id="rId18"/>
  </p:handoutMasterIdLst>
  <p:sldIdLst>
    <p:sldId id="352" r:id="rId7"/>
    <p:sldId id="420" r:id="rId8"/>
    <p:sldId id="453" r:id="rId9"/>
    <p:sldId id="454" r:id="rId10"/>
    <p:sldId id="455" r:id="rId11"/>
    <p:sldId id="458" r:id="rId12"/>
    <p:sldId id="432" r:id="rId13"/>
    <p:sldId id="456" r:id="rId14"/>
    <p:sldId id="457" r:id="rId15"/>
    <p:sldId id="379" r:id="rId16"/>
  </p:sldIdLst>
  <p:sldSz cx="9906000" cy="6858000" type="A4"/>
  <p:notesSz cx="6797675" cy="9874250"/>
  <p:custDataLst>
    <p:tags r:id="rId19"/>
  </p:custDataLst>
  <p:defaultTextStyle>
    <a:defPPr>
      <a:defRPr lang="de-DE"/>
    </a:defPPr>
    <a:lvl1pPr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570">
          <p15:clr>
            <a:srgbClr val="A4A3A4"/>
          </p15:clr>
        </p15:guide>
        <p15:guide id="3" orient="horz" pos="3566">
          <p15:clr>
            <a:srgbClr val="A4A3A4"/>
          </p15:clr>
        </p15:guide>
        <p15:guide id="4" orient="horz" pos="2160">
          <p15:clr>
            <a:srgbClr val="A4A3A4"/>
          </p15:clr>
        </p15:guide>
        <p15:guide id="5" orient="horz" pos="2931">
          <p15:clr>
            <a:srgbClr val="A4A3A4"/>
          </p15:clr>
        </p15:guide>
        <p15:guide id="6" orient="horz" pos="3521">
          <p15:clr>
            <a:srgbClr val="A4A3A4"/>
          </p15:clr>
        </p15:guide>
        <p15:guide id="7" orient="horz" pos="981">
          <p15:clr>
            <a:srgbClr val="A4A3A4"/>
          </p15:clr>
        </p15:guide>
        <p15:guide id="8" orient="horz" pos="3339">
          <p15:clr>
            <a:srgbClr val="A4A3A4"/>
          </p15:clr>
        </p15:guide>
        <p15:guide id="9" orient="horz" pos="3067">
          <p15:clr>
            <a:srgbClr val="A4A3A4"/>
          </p15:clr>
        </p15:guide>
        <p15:guide id="10" orient="horz" pos="1389">
          <p15:clr>
            <a:srgbClr val="A4A3A4"/>
          </p15:clr>
        </p15:guide>
        <p15:guide id="11" orient="horz" pos="4156">
          <p15:clr>
            <a:srgbClr val="A4A3A4"/>
          </p15:clr>
        </p15:guide>
        <p15:guide id="12" pos="1532">
          <p15:clr>
            <a:srgbClr val="A4A3A4"/>
          </p15:clr>
        </p15:guide>
        <p15:guide id="13" pos="6114">
          <p15:clr>
            <a:srgbClr val="A4A3A4"/>
          </p15:clr>
        </p15:guide>
        <p15:guide id="14" pos="3120">
          <p15:clr>
            <a:srgbClr val="A4A3A4"/>
          </p15:clr>
        </p15:guide>
        <p15:guide id="15" pos="239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FFFF"/>
    <a:srgbClr val="EAEAEA"/>
    <a:srgbClr val="E8ECF1"/>
    <a:srgbClr val="8D9FB9"/>
    <a:srgbClr val="000066"/>
    <a:srgbClr val="FF9900"/>
    <a:srgbClr val="4083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4633" autoAdjust="0"/>
    <p:restoredTop sz="94588" autoAdjust="0"/>
  </p:normalViewPr>
  <p:slideViewPr>
    <p:cSldViewPr showGuides="1">
      <p:cViewPr varScale="1">
        <p:scale>
          <a:sx n="113" d="100"/>
          <a:sy n="113" d="100"/>
        </p:scale>
        <p:origin x="792" y="102"/>
      </p:cViewPr>
      <p:guideLst>
        <p:guide orient="horz" pos="663"/>
        <p:guide orient="horz" pos="1570"/>
        <p:guide orient="horz" pos="3566"/>
        <p:guide orient="horz" pos="2160"/>
        <p:guide orient="horz" pos="2931"/>
        <p:guide orient="horz" pos="3521"/>
        <p:guide orient="horz" pos="981"/>
        <p:guide orient="horz" pos="3339"/>
        <p:guide orient="horz" pos="3067"/>
        <p:guide orient="horz" pos="1389"/>
        <p:guide orient="horz" pos="4156"/>
        <p:guide pos="1532"/>
        <p:guide pos="6114"/>
        <p:guide pos="3120"/>
        <p:guide pos="2394"/>
      </p:guideLst>
    </p:cSldViewPr>
  </p:slideViewPr>
  <p:outlineViewPr>
    <p:cViewPr>
      <p:scale>
        <a:sx n="33" d="100"/>
        <a:sy n="33" d="100"/>
      </p:scale>
      <p:origin x="0" y="103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3390" y="-9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3" Type="http://schemas.openxmlformats.org/officeDocument/2006/relationships/tableStyles" Target="tableStyles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tags" Target="tags/tag1.xml"/><Relationship Id="rId22" Type="http://schemas.openxmlformats.org/officeDocument/2006/relationships/theme" Target="theme/theme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415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401" y="1"/>
            <a:ext cx="2895596" cy="53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9528"/>
            <a:ext cx="2972415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401" y="9399528"/>
            <a:ext cx="2895596" cy="45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F07C2F6-B101-436D-AEDE-9B0585C1363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4777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912" y="1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3900" y="739775"/>
            <a:ext cx="534987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9" y="4690269"/>
            <a:ext cx="4985380" cy="44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380538"/>
            <a:ext cx="2945764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912" y="9380538"/>
            <a:ext cx="2945763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5088786-1D63-4D5D-B015-692FC08AD38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34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6" name="Textfeld 15"/>
          <p:cNvSpPr txBox="1"/>
          <p:nvPr userDrawn="1"/>
        </p:nvSpPr>
        <p:spPr>
          <a:xfrm>
            <a:off x="115485" y="3738536"/>
            <a:ext cx="4633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00925" y="4081463"/>
            <a:ext cx="9648000" cy="576000"/>
          </a:xfr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de-DE" dirty="0"/>
              <a:t>Topic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170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T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Richard Schulz </a:t>
            </a: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Customer Service - Implementation</a:t>
            </a: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Differentiating IT (L.LCF)</a:t>
            </a: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DB Office"/>
              </a:rPr>
              <a:t>SWORD Customer Service</a:t>
            </a:r>
          </a:p>
        </p:txBody>
      </p:sp>
      <p:sp>
        <p:nvSpPr>
          <p:cNvPr id="21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8781-4940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Richard.Schulz@dbschenker.com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42738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JvE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Jürgen van Eik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Service Manager SWORD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8781-8868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9748 1026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juergen.van-eik@dbschenker.com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99696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HMR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13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Herber Mayer-Rückleben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Global 24/7 Support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707385" y="4731688"/>
            <a:ext cx="376393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8781-8195 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+49 170 782 3258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herbert.mayer-rueckleben@dbschenker.com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185976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GK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794000" y="4379263"/>
            <a:ext cx="324000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Gabriele Klar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Customer Service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250310" y="4731688"/>
            <a:ext cx="2527103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8781-8194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+49 160 899 0219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gabriele.klar@dbschenker.com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167143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MS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Michael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Scherner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SWORD Engineering Competence Center   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8781-8218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+49 175 182 2287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michael.scherner@dbschenker.com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195550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BB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Birgit Bogumil 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Head </a:t>
            </a:r>
            <a:r>
              <a:rPr lang="de-DE" sz="1200" b="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b="0" dirty="0">
                <a:solidFill>
                  <a:srgbClr val="000000"/>
                </a:solidFill>
                <a:latin typeface="DB Office"/>
              </a:rPr>
              <a:t> Special Projects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7145535" y="4731688"/>
            <a:ext cx="26318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8781-8568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+49 170 922 6014 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birgit.bogumil@dbschenker.com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273575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slide MM_N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5" name="Picture 1077" descr="DB-SCHENKER_rgb_M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51"/>
          <p:cNvGrpSpPr>
            <a:grpSpLocks/>
          </p:cNvGrpSpPr>
          <p:nvPr userDrawn="1"/>
        </p:nvGrpSpPr>
        <p:grpSpPr bwMode="auto">
          <a:xfrm>
            <a:off x="0" y="3014663"/>
            <a:ext cx="9906000" cy="287337"/>
            <a:chOff x="0" y="324"/>
            <a:chExt cx="6240" cy="181"/>
          </a:xfrm>
        </p:grpSpPr>
        <p:sp>
          <p:nvSpPr>
            <p:cNvPr id="7" name="Rectangle 1052"/>
            <p:cNvSpPr>
              <a:spLocks noChangeArrowheads="1"/>
            </p:cNvSpPr>
            <p:nvPr/>
          </p:nvSpPr>
          <p:spPr bwMode="auto">
            <a:xfrm>
              <a:off x="0" y="324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8" name="Rectangle 1053"/>
            <p:cNvSpPr>
              <a:spLocks noChangeArrowheads="1"/>
            </p:cNvSpPr>
            <p:nvPr/>
          </p:nvSpPr>
          <p:spPr bwMode="auto">
            <a:xfrm>
              <a:off x="0" y="324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grpSp>
        <p:nvGrpSpPr>
          <p:cNvPr id="9" name="Gruppieren 8"/>
          <p:cNvGrpSpPr/>
          <p:nvPr userDrawn="1"/>
        </p:nvGrpSpPr>
        <p:grpSpPr>
          <a:xfrm>
            <a:off x="-12519" y="1268099"/>
            <a:ext cx="9921962" cy="1749600"/>
            <a:chOff x="-12519" y="1125224"/>
            <a:chExt cx="9921962" cy="1749600"/>
          </a:xfrm>
        </p:grpSpPr>
        <p:pic>
          <p:nvPicPr>
            <p:cNvPr id="10" name="Grafik 9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19" y="1125224"/>
              <a:ext cx="1980000" cy="1749600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1922" y="1125224"/>
              <a:ext cx="1987200" cy="174960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3392" y="1125224"/>
              <a:ext cx="1980000" cy="1749600"/>
            </a:xfrm>
            <a:prstGeom prst="rect">
              <a:avLst/>
            </a:prstGeom>
          </p:spPr>
        </p:pic>
        <p:pic>
          <p:nvPicPr>
            <p:cNvPr id="13" name="Grafik 12"/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2243" y="1125224"/>
              <a:ext cx="1987200" cy="174960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2810" y="1125224"/>
              <a:ext cx="2016000" cy="1749600"/>
            </a:xfrm>
            <a:prstGeom prst="rect">
              <a:avLst/>
            </a:prstGeom>
          </p:spPr>
        </p:pic>
      </p:grpSp>
      <p:sp>
        <p:nvSpPr>
          <p:cNvPr id="15" name="Textfeld 14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 bwMode="auto">
          <a:xfrm>
            <a:off x="200025" y="500063"/>
            <a:ext cx="7092950" cy="3021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DB Office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de-DE" dirty="0" err="1">
                <a:solidFill>
                  <a:srgbClr val="000000"/>
                </a:solidFill>
                <a:latin typeface="DB Office"/>
              </a:rPr>
              <a:t>Any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DB Office"/>
              </a:rPr>
              <a:t>Questions</a:t>
            </a:r>
            <a:r>
              <a:rPr lang="de-DE" dirty="0">
                <a:solidFill>
                  <a:srgbClr val="000000"/>
                </a:solidFill>
                <a:latin typeface="DB Office"/>
              </a:rPr>
              <a:t>?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80" y="4025715"/>
            <a:ext cx="2319335" cy="247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feld 21"/>
          <p:cNvSpPr txBox="1"/>
          <p:nvPr userDrawn="1"/>
        </p:nvSpPr>
        <p:spPr>
          <a:xfrm>
            <a:off x="2370728" y="34290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Thank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for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your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 </a:t>
            </a:r>
            <a:r>
              <a:rPr lang="de-DE" sz="2800" b="1" dirty="0" err="1">
                <a:solidFill>
                  <a:srgbClr val="000000"/>
                </a:solidFill>
                <a:latin typeface="DB Office"/>
              </a:rPr>
              <a:t>attention</a:t>
            </a:r>
            <a:r>
              <a:rPr lang="de-DE" sz="2800" b="1" dirty="0">
                <a:solidFill>
                  <a:srgbClr val="000000"/>
                </a:solidFill>
                <a:latin typeface="DB Office"/>
              </a:rPr>
              <a:t>! </a:t>
            </a:r>
          </a:p>
        </p:txBody>
      </p:sp>
      <p:sp>
        <p:nvSpPr>
          <p:cNvPr id="23" name="Text Box 16"/>
          <p:cNvSpPr txBox="1">
            <a:spLocks noChangeArrowheads="1"/>
          </p:cNvSpPr>
          <p:nvPr userDrawn="1"/>
        </p:nvSpPr>
        <p:spPr bwMode="auto">
          <a:xfrm>
            <a:off x="3498724" y="4379263"/>
            <a:ext cx="3722814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sz="1400" b="1">
                <a:solidFill>
                  <a:schemeClr val="tx1"/>
                </a:solidFill>
                <a:latin typeface="DB Office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DB Office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DB Offic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DB Office" pitchFamily="34" charset="0"/>
              </a:defRPr>
            </a:lvl9pPr>
          </a:lstStyle>
          <a:p>
            <a:pPr algn="l"/>
            <a:r>
              <a:rPr lang="de-DE" sz="1200" dirty="0">
                <a:solidFill>
                  <a:srgbClr val="000000"/>
                </a:solidFill>
                <a:latin typeface="DB Office"/>
              </a:rPr>
              <a:t>Markus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Melms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  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Project Manager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E-Solutions &amp; IT Management </a:t>
            </a:r>
          </a:p>
          <a:p>
            <a:pPr algn="l"/>
            <a:r>
              <a:rPr lang="de-DE" sz="1200" b="0" dirty="0">
                <a:solidFill>
                  <a:srgbClr val="000000"/>
                </a:solidFill>
                <a:latin typeface="DB Office"/>
              </a:rPr>
              <a:t>Corporate Customer &amp; Enterprise Integration </a:t>
            </a:r>
          </a:p>
          <a:p>
            <a:pPr algn="l"/>
            <a:endParaRPr lang="de-DE" sz="1200" b="0" dirty="0">
              <a:solidFill>
                <a:srgbClr val="000000"/>
              </a:solidFill>
              <a:latin typeface="DB Office"/>
            </a:endParaRPr>
          </a:p>
        </p:txBody>
      </p:sp>
      <p:sp>
        <p:nvSpPr>
          <p:cNvPr id="24" name="Rectangle 17"/>
          <p:cNvSpPr>
            <a:spLocks noChangeArrowheads="1"/>
          </p:cNvSpPr>
          <p:nvPr userDrawn="1"/>
        </p:nvSpPr>
        <p:spPr bwMode="auto">
          <a:xfrm>
            <a:off x="6802635" y="4731688"/>
            <a:ext cx="2974778" cy="1756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Phone: +49 201 8781-8107</a:t>
            </a:r>
          </a:p>
          <a:p>
            <a:pPr algn="l">
              <a:tabLst>
                <a:tab pos="441325" algn="l"/>
              </a:tabLst>
              <a:defRPr/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Mobile: +49 151 651 66627 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Fax: +49 201 8781-8228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markus.melms.extern@dbschenker.com </a:t>
            </a:r>
          </a:p>
          <a:p>
            <a:pPr algn="l">
              <a:tabLst>
                <a:tab pos="441325" algn="l"/>
              </a:tabLst>
            </a:pPr>
            <a:endParaRPr lang="de-DE" sz="1200" dirty="0">
              <a:solidFill>
                <a:srgbClr val="000000"/>
              </a:solidFill>
              <a:latin typeface="DB Office"/>
            </a:endParaRP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On behalf </a:t>
            </a:r>
            <a:r>
              <a:rPr lang="de-DE" sz="1200" dirty="0" err="1">
                <a:solidFill>
                  <a:srgbClr val="000000"/>
                </a:solidFill>
                <a:latin typeface="DB Office"/>
              </a:rPr>
              <a:t>of</a:t>
            </a:r>
            <a:r>
              <a:rPr lang="de-DE" sz="1200" dirty="0">
                <a:solidFill>
                  <a:srgbClr val="000000"/>
                </a:solidFill>
                <a:latin typeface="DB Office"/>
              </a:rPr>
              <a:t> Schenker AG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Alfredstr. 150-154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45131 Essen </a:t>
            </a:r>
          </a:p>
          <a:p>
            <a:pPr algn="l">
              <a:tabLst>
                <a:tab pos="441325" algn="l"/>
              </a:tabLst>
            </a:pPr>
            <a:r>
              <a:rPr lang="de-DE" sz="1200" dirty="0">
                <a:solidFill>
                  <a:srgbClr val="000000"/>
                </a:solidFill>
                <a:latin typeface="DB Office"/>
              </a:rPr>
              <a:t>www.dbschenker.com </a:t>
            </a:r>
          </a:p>
        </p:txBody>
      </p:sp>
    </p:spTree>
    <p:extLst>
      <p:ext uri="{BB962C8B-B14F-4D97-AF65-F5344CB8AC3E}">
        <p14:creationId xmlns:p14="http://schemas.microsoft.com/office/powerpoint/2010/main" val="289735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fld id="{E5685BC4-D040-4D83-92FE-61768DB7A4BE}" type="slidenum">
              <a:rPr lang="de-DE" smtClean="0">
                <a:solidFill>
                  <a:srgbClr val="000000"/>
                </a:solidFill>
              </a:rPr>
              <a:pPr/>
              <a:t>‹#›</a:t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</p:spTree>
    <p:extLst>
      <p:ext uri="{BB962C8B-B14F-4D97-AF65-F5344CB8AC3E}">
        <p14:creationId xmlns:p14="http://schemas.microsoft.com/office/powerpoint/2010/main" val="183782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Rechteck 30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502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4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816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174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6827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502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2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_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02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828000" y="502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297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297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485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485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3000"/>
            <a:ext cx="5932800" cy="57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635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 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975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1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99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953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 Topic 3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430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10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oints_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28000" y="430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76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76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828000" y="430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0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0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600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605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64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2 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1719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oints_Topic 3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828000" y="3582000"/>
            <a:ext cx="5932800" cy="5760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828000" y="3582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53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5607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neutr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62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578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553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Points_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pPr algn="ctr"/>
            <a:endParaRPr lang="en-US" sz="1400" i="0" dirty="0">
              <a:latin typeface="DB Office" pitchFamily="34" charset="0"/>
              <a:cs typeface="Arial" charset="0"/>
            </a:endParaRPr>
          </a:p>
        </p:txBody>
      </p:sp>
      <p:sp>
        <p:nvSpPr>
          <p:cNvPr id="17" name="Rechteck 16"/>
          <p:cNvSpPr/>
          <p:nvPr userDrawn="1"/>
        </p:nvSpPr>
        <p:spPr bwMode="auto">
          <a:xfrm>
            <a:off x="828000" y="2124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17"/>
          </p:nvPr>
        </p:nvSpPr>
        <p:spPr>
          <a:xfrm>
            <a:off x="828000" y="2124000"/>
            <a:ext cx="5932800" cy="57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23" name="Rechteck 22"/>
          <p:cNvSpPr/>
          <p:nvPr userDrawn="1"/>
        </p:nvSpPr>
        <p:spPr bwMode="auto">
          <a:xfrm>
            <a:off x="828000" y="2862000"/>
            <a:ext cx="59328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20"/>
          </p:nvPr>
        </p:nvSpPr>
        <p:spPr>
          <a:xfrm>
            <a:off x="828000" y="2853000"/>
            <a:ext cx="5932800" cy="57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933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Neu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3794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497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468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971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960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207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765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1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335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3990975" y="6692900"/>
            <a:ext cx="1905000" cy="93663"/>
          </a:xfrm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8FCD0415-9DE9-479C-B705-9CCDC294208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de-DE" dirty="0"/>
              <a:t>Headline 1</a:t>
            </a:r>
            <a:br>
              <a:rPr lang="de-DE" dirty="0"/>
            </a:br>
            <a:r>
              <a:rPr lang="de-DE" dirty="0"/>
              <a:t>Headline 2 </a:t>
            </a:r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10800000">
            <a:off x="200026" y="1984725"/>
            <a:ext cx="972000" cy="3816000"/>
          </a:xfrm>
          <a:prstGeom prst="rect">
            <a:avLst/>
          </a:prstGeom>
          <a:solidFill>
            <a:schemeClr val="bg2"/>
          </a:solidFill>
          <a:ln w="12700" algn="ctr">
            <a:solidFill>
              <a:srgbClr val="878C96"/>
            </a:solidFill>
            <a:miter lim="800000"/>
            <a:headEnd/>
            <a:tailEnd/>
          </a:ln>
        </p:spPr>
        <p:txBody>
          <a:bodyPr rot="10800000" lIns="72000" tIns="72000" rIns="72000" bIns="72000" anchor="ctr"/>
          <a:lstStyle/>
          <a:p>
            <a:endParaRPr lang="en-US" sz="1400" dirty="0">
              <a:solidFill>
                <a:srgbClr val="000000"/>
              </a:solidFill>
              <a:latin typeface="DB Office" pitchFamily="34" charset="0"/>
              <a:cs typeface="Arial" charset="0"/>
            </a:endParaRPr>
          </a:p>
        </p:txBody>
      </p:sp>
      <p:sp>
        <p:nvSpPr>
          <p:cNvPr id="10" name="Rechteck 9"/>
          <p:cNvSpPr/>
          <p:nvPr userDrawn="1"/>
        </p:nvSpPr>
        <p:spPr bwMode="auto">
          <a:xfrm>
            <a:off x="828000" y="2981026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 bwMode="auto">
          <a:xfrm>
            <a:off x="828001" y="2124000"/>
            <a:ext cx="5932800" cy="396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3" name="Rechteck 12"/>
          <p:cNvSpPr/>
          <p:nvPr userDrawn="1"/>
        </p:nvSpPr>
        <p:spPr bwMode="auto">
          <a:xfrm>
            <a:off x="828000" y="2047800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828000" y="2981026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5" name="Rechteck 14"/>
          <p:cNvSpPr/>
          <p:nvPr userDrawn="1"/>
        </p:nvSpPr>
        <p:spPr bwMode="auto">
          <a:xfrm>
            <a:off x="828000" y="534870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22"/>
          </p:nvPr>
        </p:nvSpPr>
        <p:spPr>
          <a:xfrm>
            <a:off x="828000" y="2047800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24"/>
          </p:nvPr>
        </p:nvSpPr>
        <p:spPr>
          <a:xfrm>
            <a:off x="828000" y="5348703"/>
            <a:ext cx="8640000" cy="396000"/>
          </a:xfrm>
          <a:solidFill>
            <a:schemeClr val="accent5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19" name="Rechteck 18"/>
          <p:cNvSpPr/>
          <p:nvPr userDrawn="1"/>
        </p:nvSpPr>
        <p:spPr bwMode="auto">
          <a:xfrm>
            <a:off x="828000" y="2514413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1" name="Rechteck 20"/>
          <p:cNvSpPr/>
          <p:nvPr userDrawn="1"/>
        </p:nvSpPr>
        <p:spPr bwMode="auto">
          <a:xfrm>
            <a:off x="1496616" y="3447639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4" name="Rechteck 23"/>
          <p:cNvSpPr/>
          <p:nvPr userDrawn="1"/>
        </p:nvSpPr>
        <p:spPr bwMode="auto">
          <a:xfrm>
            <a:off x="1496616" y="3806252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5" name="Rechteck 24"/>
          <p:cNvSpPr/>
          <p:nvPr userDrawn="1"/>
        </p:nvSpPr>
        <p:spPr bwMode="auto">
          <a:xfrm>
            <a:off x="1496616" y="4164865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6" name="Rechteck 25"/>
          <p:cNvSpPr/>
          <p:nvPr userDrawn="1"/>
        </p:nvSpPr>
        <p:spPr bwMode="auto">
          <a:xfrm>
            <a:off x="1496616" y="4523478"/>
            <a:ext cx="68400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7" name="Textplatzhalter 11"/>
          <p:cNvSpPr>
            <a:spLocks noGrp="1"/>
          </p:cNvSpPr>
          <p:nvPr>
            <p:ph type="body" sz="quarter" idx="25"/>
          </p:nvPr>
        </p:nvSpPr>
        <p:spPr>
          <a:xfrm>
            <a:off x="1496616" y="3447639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8" name="Textplatzhalter 11"/>
          <p:cNvSpPr>
            <a:spLocks noGrp="1"/>
          </p:cNvSpPr>
          <p:nvPr>
            <p:ph type="body" sz="quarter" idx="26"/>
          </p:nvPr>
        </p:nvSpPr>
        <p:spPr>
          <a:xfrm>
            <a:off x="1496616" y="3806252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29" name="Textplatzhalter 11"/>
          <p:cNvSpPr>
            <a:spLocks noGrp="1"/>
          </p:cNvSpPr>
          <p:nvPr>
            <p:ph type="body" sz="quarter" idx="27"/>
          </p:nvPr>
        </p:nvSpPr>
        <p:spPr>
          <a:xfrm>
            <a:off x="1496616" y="4164865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0" name="Textplatzhalter 11"/>
          <p:cNvSpPr>
            <a:spLocks noGrp="1"/>
          </p:cNvSpPr>
          <p:nvPr>
            <p:ph type="body" sz="quarter" idx="28"/>
          </p:nvPr>
        </p:nvSpPr>
        <p:spPr>
          <a:xfrm>
            <a:off x="1496616" y="4523478"/>
            <a:ext cx="6840000" cy="288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11"/>
          <p:cNvSpPr>
            <a:spLocks noGrp="1"/>
          </p:cNvSpPr>
          <p:nvPr>
            <p:ph type="body" sz="quarter" idx="29"/>
          </p:nvPr>
        </p:nvSpPr>
        <p:spPr>
          <a:xfrm>
            <a:off x="828000" y="2514413"/>
            <a:ext cx="8640000" cy="396000"/>
          </a:xfrm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32" name="Rechteck 31"/>
          <p:cNvSpPr/>
          <p:nvPr userDrawn="1"/>
        </p:nvSpPr>
        <p:spPr bwMode="auto">
          <a:xfrm>
            <a:off x="828000" y="4882091"/>
            <a:ext cx="8640000" cy="396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33" name="Textplatzhalter 11"/>
          <p:cNvSpPr>
            <a:spLocks noGrp="1"/>
          </p:cNvSpPr>
          <p:nvPr>
            <p:ph type="body" sz="quarter" idx="30"/>
          </p:nvPr>
        </p:nvSpPr>
        <p:spPr>
          <a:xfrm>
            <a:off x="828000" y="4882091"/>
            <a:ext cx="8640000" cy="396000"/>
          </a:xfrm>
          <a:noFill/>
          <a:ln>
            <a:solidFill>
              <a:schemeClr val="bg2"/>
            </a:solidFill>
          </a:ln>
        </p:spPr>
        <p:txBody>
          <a:bodyPr lIns="72000" anchor="ctr"/>
          <a:lstStyle>
            <a:lvl1pPr marL="180000">
              <a:defRPr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366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17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18" name="Textplatzhalt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00472" y="5085184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02866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00472" y="1631920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00472" y="3358552"/>
            <a:ext cx="1951200" cy="648000"/>
          </a:xfrm>
          <a:solidFill>
            <a:schemeClr val="bg2"/>
          </a:solidFill>
          <a:ln>
            <a:solidFill>
              <a:schemeClr val="bg2"/>
            </a:solidFill>
          </a:ln>
        </p:spPr>
        <p:txBody>
          <a:bodyPr lIns="72000" anchor="ctr"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426501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95263" y="1631920"/>
            <a:ext cx="1951200" cy="648000"/>
          </a:xfr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Topic 1</a:t>
            </a:r>
          </a:p>
        </p:txBody>
      </p:sp>
    </p:spTree>
    <p:extLst>
      <p:ext uri="{BB962C8B-B14F-4D97-AF65-F5344CB8AC3E}">
        <p14:creationId xmlns:p14="http://schemas.microsoft.com/office/powerpoint/2010/main" val="306893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22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ic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2300288" y="1622395"/>
            <a:ext cx="0" cy="480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10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2432720" y="1631920"/>
            <a:ext cx="7131600" cy="482760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195263" y="1631920"/>
            <a:ext cx="1951200" cy="64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DB Offic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15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DB Office" pitchFamily="34" charset="0"/>
              </a:defRPr>
            </a:lvl1pPr>
          </a:lstStyle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200025" y="1557338"/>
            <a:ext cx="9505950" cy="4897437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5606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0025" y="1557338"/>
            <a:ext cx="950595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00500" y="6692900"/>
            <a:ext cx="1905000" cy="9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900"/>
            </a:lvl1pPr>
          </a:lstStyle>
          <a:p>
            <a:fld id="{775CC551-11A1-4996-9818-EF2E6E972248}" type="slidenum">
              <a:rPr lang="de-DE">
                <a:solidFill>
                  <a:srgbClr val="000000"/>
                </a:solidFill>
                <a:latin typeface="DB Office" pitchFamily="34" charset="0"/>
              </a:rPr>
              <a:pPr/>
              <a:t>‹#›</a:t>
            </a:fld>
            <a:endParaRPr lang="de-DE" dirty="0">
              <a:solidFill>
                <a:srgbClr val="000000"/>
              </a:solidFill>
              <a:latin typeface="DB Office" pitchFamily="34" charset="0"/>
            </a:endParaRPr>
          </a:p>
        </p:txBody>
      </p:sp>
      <p:grpSp>
        <p:nvGrpSpPr>
          <p:cNvPr id="3126" name="Group 54"/>
          <p:cNvGrpSpPr>
            <a:grpSpLocks/>
          </p:cNvGrpSpPr>
          <p:nvPr/>
        </p:nvGrpSpPr>
        <p:grpSpPr bwMode="auto">
          <a:xfrm>
            <a:off x="0" y="1123950"/>
            <a:ext cx="9906000" cy="287338"/>
            <a:chOff x="0" y="708"/>
            <a:chExt cx="6240" cy="181"/>
          </a:xfrm>
        </p:grpSpPr>
        <p:sp>
          <p:nvSpPr>
            <p:cNvPr id="3127" name="Rectangle 55"/>
            <p:cNvSpPr>
              <a:spLocks noChangeArrowheads="1"/>
            </p:cNvSpPr>
            <p:nvPr/>
          </p:nvSpPr>
          <p:spPr bwMode="auto">
            <a:xfrm>
              <a:off x="0" y="708"/>
              <a:ext cx="6240" cy="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  <p:sp>
          <p:nvSpPr>
            <p:cNvPr id="3128" name="Rectangle 56"/>
            <p:cNvSpPr>
              <a:spLocks noChangeArrowheads="1"/>
            </p:cNvSpPr>
            <p:nvPr/>
          </p:nvSpPr>
          <p:spPr bwMode="auto">
            <a:xfrm>
              <a:off x="0" y="708"/>
              <a:ext cx="2122" cy="1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600" dirty="0">
                <a:solidFill>
                  <a:srgbClr val="000000"/>
                </a:solidFill>
                <a:latin typeface="DB Office" pitchFamily="34" charset="0"/>
              </a:endParaRPr>
            </a:p>
          </p:txBody>
        </p:sp>
      </p:grpSp>
      <p:pic>
        <p:nvPicPr>
          <p:cNvPr id="3135" name="Picture 63" descr="DB-SCHENKER_rgb_M"/>
          <p:cNvPicPr>
            <a:picLocks noChangeAspect="1" noChangeArrowheads="1"/>
          </p:cNvPicPr>
          <p:nvPr userDrawn="1">
            <p:custDataLst>
              <p:tags r:id="rId45"/>
            </p:custDataLst>
          </p:nvPr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1" t="-47281" r="-8994" b="-16318"/>
          <a:stretch>
            <a:fillRect/>
          </a:stretch>
        </p:blipFill>
        <p:spPr bwMode="auto">
          <a:xfrm>
            <a:off x="7400925" y="0"/>
            <a:ext cx="2505075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128588" y="6610618"/>
            <a:ext cx="3536546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de-DE" sz="900" b="0" i="0" dirty="0">
                <a:solidFill>
                  <a:srgbClr val="000000"/>
                </a:solidFill>
                <a:latin typeface="+mn-lt"/>
              </a:rPr>
              <a:t>Schenker AG l Richard</a:t>
            </a:r>
            <a:r>
              <a:rPr lang="de-DE" sz="900" b="0" i="0" baseline="0" dirty="0">
                <a:solidFill>
                  <a:srgbClr val="000000"/>
                </a:solidFill>
                <a:latin typeface="+mn-lt"/>
              </a:rPr>
              <a:t> Schulz </a:t>
            </a:r>
            <a:r>
              <a:rPr lang="de-DE" sz="900" b="0" i="0" dirty="0">
                <a:solidFill>
                  <a:srgbClr val="000000"/>
                </a:solidFill>
                <a:latin typeface="+mn-lt"/>
              </a:rPr>
              <a:t>l 01 - 2015| Basic XML-Knowledge</a:t>
            </a:r>
          </a:p>
        </p:txBody>
      </p:sp>
      <p:sp>
        <p:nvSpPr>
          <p:cNvPr id="11" name="Textfeld 10"/>
          <p:cNvSpPr txBox="1"/>
          <p:nvPr userDrawn="1"/>
        </p:nvSpPr>
        <p:spPr>
          <a:xfrm>
            <a:off x="95250" y="208718"/>
            <a:ext cx="45752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600" b="1" dirty="0">
                <a:solidFill>
                  <a:srgbClr val="878C96"/>
                </a:solidFill>
                <a:latin typeface="DB Office"/>
              </a:rPr>
              <a:t>Corporate Customer &amp; Enterprise Integration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" y="500063"/>
            <a:ext cx="950436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736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das Titelformat zu bearbeiten</a:t>
            </a:r>
          </a:p>
        </p:txBody>
      </p:sp>
      <p:pic>
        <p:nvPicPr>
          <p:cNvPr id="12" name="Grafik 11"/>
          <p:cNvPicPr preferRelativeResize="0">
            <a:picLocks noChangeAspect="1"/>
          </p:cNvPicPr>
          <p:nvPr userDrawn="1"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647701"/>
            <a:ext cx="1130455" cy="40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98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838" r:id="rId2"/>
    <p:sldLayoutId id="2147483839" r:id="rId3"/>
    <p:sldLayoutId id="2147483841" r:id="rId4"/>
    <p:sldLayoutId id="2147483842" r:id="rId5"/>
    <p:sldLayoutId id="2147483843" r:id="rId6"/>
    <p:sldLayoutId id="2147483840" r:id="rId7"/>
    <p:sldLayoutId id="2147483844" r:id="rId8"/>
    <p:sldLayoutId id="2147483687" r:id="rId9"/>
    <p:sldLayoutId id="214748378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04" r:id="rId16"/>
    <p:sldLayoutId id="2147483805" r:id="rId17"/>
    <p:sldLayoutId id="2147483806" r:id="rId18"/>
    <p:sldLayoutId id="2147483807" r:id="rId19"/>
    <p:sldLayoutId id="2147483808" r:id="rId20"/>
    <p:sldLayoutId id="2147483803" r:id="rId21"/>
    <p:sldLayoutId id="2147483809" r:id="rId22"/>
    <p:sldLayoutId id="2147483810" r:id="rId23"/>
    <p:sldLayoutId id="2147483811" r:id="rId24"/>
    <p:sldLayoutId id="2147483822" r:id="rId25"/>
    <p:sldLayoutId id="2147483823" r:id="rId26"/>
    <p:sldLayoutId id="2147483824" r:id="rId27"/>
    <p:sldLayoutId id="2147483845" r:id="rId28"/>
    <p:sldLayoutId id="2147483846" r:id="rId29"/>
    <p:sldLayoutId id="2147483847" r:id="rId30"/>
    <p:sldLayoutId id="2147483848" r:id="rId31"/>
    <p:sldLayoutId id="2147483853" r:id="rId32"/>
    <p:sldLayoutId id="2147483854" r:id="rId33"/>
    <p:sldLayoutId id="2147483855" r:id="rId34"/>
    <p:sldLayoutId id="2147483849" r:id="rId35"/>
    <p:sldLayoutId id="2147483850" r:id="rId36"/>
    <p:sldLayoutId id="2147483851" r:id="rId37"/>
    <p:sldLayoutId id="2147483701" r:id="rId38"/>
    <p:sldLayoutId id="2147483815" r:id="rId39"/>
    <p:sldLayoutId id="2147483819" r:id="rId40"/>
    <p:sldLayoutId id="2147483820" r:id="rId41"/>
    <p:sldLayoutId id="2147483821" r:id="rId42"/>
    <p:sldLayoutId id="2147483800" r:id="rId4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DB Office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ct val="0"/>
        </a:spcAft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85738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SzPct val="85000"/>
        <a:buFont typeface="Wingdings" pitchFamily="2" charset="2"/>
        <a:buChar char="n"/>
        <a:defRPr sz="1600">
          <a:solidFill>
            <a:schemeClr val="tx1"/>
          </a:solidFill>
          <a:latin typeface="+mn-lt"/>
        </a:defRPr>
      </a:lvl2pPr>
      <a:lvl3pPr marL="358775" indent="-1714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3pPr>
      <a:lvl4pPr marL="544513" indent="-184150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4pPr>
      <a:lvl5pPr marL="7286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5pPr>
      <a:lvl6pPr marL="11858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6pPr>
      <a:lvl7pPr marL="16430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7pPr>
      <a:lvl8pPr marL="21002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8pPr>
      <a:lvl9pPr marL="2557463" indent="-182563" algn="l" rtl="0" eaLnBrk="0" fontAlgn="base" hangingPunct="0">
        <a:spcBef>
          <a:spcPct val="0"/>
        </a:spcBef>
        <a:spcAft>
          <a:spcPct val="0"/>
        </a:spcAft>
        <a:buClr>
          <a:srgbClr val="FF0000"/>
        </a:buClr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9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0"/>
          </p:nvPr>
        </p:nvSpPr>
        <p:spPr>
          <a:xfrm>
            <a:off x="210450" y="4081463"/>
            <a:ext cx="9648000" cy="576000"/>
          </a:xfrm>
        </p:spPr>
        <p:txBody>
          <a:bodyPr/>
          <a:lstStyle/>
          <a:p>
            <a:r>
              <a:rPr lang="en-US" dirty="0">
                <a:latin typeface="+mj-lt"/>
              </a:rPr>
              <a:t>Convert between Json and XML</a:t>
            </a:r>
            <a:endParaRPr lang="en-US" noProof="0" dirty="0">
              <a:latin typeface="+mj-lt"/>
            </a:endParaRPr>
          </a:p>
        </p:txBody>
      </p:sp>
      <p:sp>
        <p:nvSpPr>
          <p:cNvPr id="3" name="FirmaBox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37325" y="5589588"/>
            <a:ext cx="33686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Name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Referent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</a:p>
        </p:txBody>
      </p:sp>
      <p:sp>
        <p:nvSpPr>
          <p:cNvPr id="4" name="Referentbox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37325" y="5876925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Title/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DB Office" pitchFamily="34" charset="0"/>
              </a:rPr>
              <a:t> </a:t>
            </a:r>
          </a:p>
        </p:txBody>
      </p:sp>
      <p:sp>
        <p:nvSpPr>
          <p:cNvPr id="5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6537325" y="5561013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6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537325" y="5849938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7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537325" y="6137275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8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6537325" y="6426200"/>
            <a:ext cx="3368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600" dirty="0">
              <a:solidFill>
                <a:srgbClr val="000000"/>
              </a:solidFill>
              <a:latin typeface="DB Office" pitchFamily="34" charset="0"/>
            </a:endParaRPr>
          </a:p>
        </p:txBody>
      </p:sp>
      <p:sp>
        <p:nvSpPr>
          <p:cNvPr id="9" name="Referentbox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537220" y="616551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Corporate Customer &amp; Enterprise Integration</a:t>
            </a:r>
          </a:p>
        </p:txBody>
      </p:sp>
      <p:sp>
        <p:nvSpPr>
          <p:cNvPr id="10" name="Referentbox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537220" y="6453550"/>
            <a:ext cx="3367088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0" bIns="0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+mn-lt"/>
              </a:rPr>
              <a:t>Date </a:t>
            </a:r>
          </a:p>
        </p:txBody>
      </p:sp>
    </p:spTree>
    <p:extLst>
      <p:ext uri="{BB962C8B-B14F-4D97-AF65-F5344CB8AC3E}">
        <p14:creationId xmlns:p14="http://schemas.microsoft.com/office/powerpoint/2010/main" val="420321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2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	</a:t>
            </a:r>
            <a:br>
              <a:rPr lang="en-US" noProof="0" dirty="0"/>
            </a:br>
            <a:endParaRPr lang="en-US" noProof="0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87AFD7CE-4FB0-486D-8FC2-E0598257F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828280"/>
              </p:ext>
            </p:extLst>
          </p:nvPr>
        </p:nvGraphicFramePr>
        <p:xfrm>
          <a:off x="488504" y="1772816"/>
          <a:ext cx="65319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3860083584"/>
                    </a:ext>
                  </a:extLst>
                </a:gridCol>
                <a:gridCol w="5739904">
                  <a:extLst>
                    <a:ext uri="{9D8B030D-6E8A-4147-A177-3AD203B41FA5}">
                      <a16:colId xmlns:a16="http://schemas.microsoft.com/office/drawing/2014/main" val="24140674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79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JSON to XML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89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XML to 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25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580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altLang="zh-C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CR_AddHeaderFooter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MBC to a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dd xml tag in process before the transfer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Header: &lt;DELAY_BRACKETCODES&gt;&lt;BRO&gt;json&lt;BRC&gt;&lt;BRO&gt;![CDATA[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Footer: ]]&lt;BRC&gt;&lt;BRO&gt;/json&lt;BRC&gt;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&lt;json&gt;&lt;![CDATA[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dateTimeZone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": "2021-11-28T03:23:59.939Z",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invoiceNumber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": "13457",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invoiceDate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": "2021-11-23",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}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]]&gt;&lt;/json&gt;</a:t>
            </a:r>
            <a:endParaRPr lang="en-US" sz="1800" dirty="0">
              <a:solidFill>
                <a:srgbClr val="8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3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to XML</a:t>
            </a:r>
            <a:r>
              <a:rPr lang="en-US" noProof="0" dirty="0"/>
              <a:t>	</a:t>
            </a:r>
            <a:br>
              <a:rPr lang="en-US" noProof="0" dirty="0"/>
            </a:br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86BBCC-04F9-44A8-BF5B-64B42CC75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40" y="2348880"/>
            <a:ext cx="7859222" cy="847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F28489-5848-436C-8C2D-3C7AFAD01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3" y="3717032"/>
            <a:ext cx="5687219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1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altLang="zh-CN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 json to xml using function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json-to-xml(/) and store in the variable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 err="1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xsl:variable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name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input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select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json-to-xml(/)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"/&gt;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Result: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&lt;?xml version="1.0" encoding="UTF-8"?&gt;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nn-NO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map</a:t>
            </a:r>
            <a:r>
              <a:rPr lang="nn-NO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xmlns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http://www.w3.org/2005/xpath-functions/json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endParaRPr lang="nn-NO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number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amountExcludingTaxInCurrency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210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number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number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amountInCurrency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219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number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bookingDate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2021-11-23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map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buyer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addressLine1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2ND CENTER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searchName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CNCL-FRESENIUS500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map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buyerInvoiceReference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UAT_010220_T6_User1_SHP737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map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4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to XML</a:t>
            </a:r>
            <a:r>
              <a:rPr lang="en-US" noProof="0" dirty="0"/>
              <a:t>	</a:t>
            </a:r>
            <a:br>
              <a:rPr lang="en-US" noProof="0" dirty="0"/>
            </a:b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2083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altLang="zh-C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Fetch value from resul</a:t>
            </a:r>
            <a:r>
              <a:rPr lang="en-US" altLang="zh-CN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 xml using </a:t>
            </a:r>
            <a:r>
              <a:rPr lang="en-US" altLang="zh-CN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xpath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lvl="1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 err="1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xsl:value-of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select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$input//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f:map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[@key='result']/f:number[@key='id']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"/&gt;</a:t>
            </a:r>
          </a:p>
          <a:p>
            <a:pPr lvl="1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800" dirty="0">
              <a:solidFill>
                <a:srgbClr val="0000FF"/>
              </a:solidFill>
              <a:highlight>
                <a:srgbClr val="FFFFFF"/>
              </a:highlight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5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to XML</a:t>
            </a:r>
            <a:r>
              <a:rPr lang="en-US" noProof="0" dirty="0"/>
              <a:t>	</a:t>
            </a:r>
            <a:br>
              <a:rPr lang="en-US" noProof="0" dirty="0"/>
            </a:b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7551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>
          <a:xfrm>
            <a:off x="200025" y="1555899"/>
            <a:ext cx="9505950" cy="4897437"/>
          </a:xfrm>
        </p:spPr>
        <p:txBody>
          <a:bodyPr/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Restrictions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Flow: json in-&gt;xml in -&gt;xml out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Using 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CR_AddHeaderFooter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MBC to add xml root tag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(pay attention the special character ‘&lt;&gt;’)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the following namespace in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xslt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but keep the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/json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local test and remove the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/json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namespace before check in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svn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lvl="1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xmlns:f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http://www.w3.org/2005/xpath-functions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/json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3" indent="0">
              <a:lnSpc>
                <a:spcPct val="150000"/>
              </a:lnSpc>
              <a:buNone/>
            </a:pPr>
            <a:endParaRPr lang="de-DE" sz="1800" dirty="0"/>
          </a:p>
          <a:p>
            <a:pPr marL="471488" lvl="1" indent="-285750">
              <a:lnSpc>
                <a:spcPct val="150000"/>
              </a:lnSpc>
              <a:buFontTx/>
              <a:buChar char="-"/>
            </a:pPr>
            <a:endParaRPr lang="de-DE" sz="1800" b="1" dirty="0"/>
          </a:p>
          <a:p>
            <a:pPr>
              <a:lnSpc>
                <a:spcPct val="150000"/>
              </a:lnSpc>
            </a:pPr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6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to XML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696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 1: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Convert the request json to xml as the result template</a:t>
            </a:r>
          </a:p>
          <a:p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nn-NO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map</a:t>
            </a:r>
            <a:r>
              <a:rPr lang="nn-NO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xmlns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http://www.w3.org/2005/xpath-functions/json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endParaRPr lang="nn-NO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number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amountExcludingTaxInCurrency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210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number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number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amountInCurrency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219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number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bookingDate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2021-11-23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map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buyer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addressLine1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2ND CENTER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searchName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CNCL-FRESENIUS500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map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buyerInvoiceReference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UAT_010220_T6_User1_SHP737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string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map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L="342900" marR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AutoNum type="arabicPeriod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7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to Json</a:t>
            </a:r>
            <a:br>
              <a:rPr lang="en-US" noProof="0" dirty="0"/>
            </a:b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08090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the </a:t>
            </a:r>
            <a:r>
              <a:rPr lang="en-US" altLang="zh-C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xslt</a:t>
            </a:r>
            <a:r>
              <a:rPr lang="en-US" altLang="zh-C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mapping to convert the xml to xml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store the result xml into variable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 err="1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xsl:variable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name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outxml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nn-NO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map</a:t>
            </a:r>
            <a:r>
              <a:rPr lang="nn-NO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xmlns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nn-NO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http://www.w3.org/2005/xpath-functions/json</a:t>
            </a:r>
            <a:r>
              <a:rPr lang="nn-NO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endParaRPr lang="nn-NO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number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amountExcludingTaxInCurrency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210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number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number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key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amountInCurrency</a:t>
            </a:r>
            <a:r>
              <a:rPr lang="en-US" sz="1800" i="1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210</a:t>
            </a:r>
            <a:r>
              <a:rPr lang="en-US" sz="1800" i="1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/</a:t>
            </a:r>
            <a:r>
              <a:rPr lang="en-US" sz="1800" dirty="0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number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Convert the result to json using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xml-to-json($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outxml,map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{ 'indent' : true() })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8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to Json</a:t>
            </a:r>
            <a:br>
              <a:rPr lang="en-US" noProof="0" dirty="0"/>
            </a:b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548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 2:</a:t>
            </a: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the output json directly as the text template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 err="1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xsl:output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method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text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"/&gt;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 err="1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xsl:template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match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/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amountExcludingTaxInCurrency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": 210,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amountInCurrency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":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</a:t>
            </a:r>
            <a:r>
              <a:rPr lang="en-US" sz="1800" dirty="0" err="1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xsl:value-of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select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="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/persons/employees/person[1]/id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"/&gt;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,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bookingDate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": "2021-11-23",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"buyer":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 "addressLine1": "2ND FLOOR, AXIS TECHNOLOGY CENTER",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 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searchName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": "CNCL-FRESENIUS500"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}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}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&lt;/</a:t>
            </a:r>
            <a:r>
              <a:rPr lang="en-US" sz="1800" dirty="0" err="1">
                <a:solidFill>
                  <a:srgbClr val="8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xsl:template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&gt;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E0B5BB-B465-4A53-BD8E-672FD4A25165}" type="slidenum">
              <a:rPr lang="de-DE" smtClean="0"/>
              <a:pPr>
                <a:defRPr/>
              </a:pPr>
              <a:t>9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 to Json</a:t>
            </a:r>
            <a:br>
              <a:rPr lang="en-US" noProof="0" dirty="0"/>
            </a:b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8531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15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RANS_1" val="ppEffectCoverLeftDown"/>
  <p:tag name="TRANS_0" val="ppEffectNone"/>
  <p:tag name="TRANS_COUNT" val="2"/>
  <p:tag name="OPTIONS_SOUND" val="Falsch"/>
  <p:tag name="OPTIONS_VIDEO" val="Falsch"/>
  <p:tag name="OPTIONS_OBJECTANIMATION" val="Falsch"/>
  <p:tag name="OPTIONS_TEXTANIMATION" val="Falsch"/>
  <p:tag name="PAGESETUP_O" val="1"/>
  <p:tag name="PAGESETUP_H" val="540"/>
  <p:tag name="PAGESETUP_W" val="780"/>
  <p:tag name="SC_8" val="16777215"/>
  <p:tag name="SC_7" val="15395562"/>
  <p:tag name="SC_6" val="15854824"/>
  <p:tag name="SC_5" val="12165005"/>
  <p:tag name="SC_4" val="6684672"/>
  <p:tag name="SC_3" val="39423"/>
  <p:tag name="SC_2" val="3507008"/>
  <p:tag name="SC_1" val="255"/>
  <p:tag name="THC_1" val="255"/>
  <p:tag name="PC_8" val="15196894"/>
  <p:tag name="PC_7" val="12165005"/>
  <p:tag name="PC_6" val="6684672"/>
  <p:tag name="PC_5" val="12632256"/>
  <p:tag name="PC_4" val="0"/>
  <p:tag name="PC_3" val="9868950"/>
  <p:tag name="PC_2" val="0"/>
  <p:tag name="PC_1" val="16777215"/>
  <p:tag name="NM_PAGEN_FONT_C" val="0"/>
  <p:tag name="NM_PAGEN_FONT_S" val="12"/>
  <p:tag name="NM_PAGEN_FONT" val="Arial"/>
  <p:tag name="NM_PAGEN_H" val="39"/>
  <p:tag name="NM_PAGEN_W" val="234,875"/>
  <p:tag name="NM_PAGEN_L" val="307,125"/>
  <p:tag name="NM_PAGEN_T" val="741"/>
  <p:tag name="NM_NOTES_FONT_C" val="0"/>
  <p:tag name="NM_NOTES_FONT_S" val="12"/>
  <p:tag name="NM_NOTES_FONT" val="Arial"/>
  <p:tag name="NM_NOTES_H" val="351"/>
  <p:tag name="NM_NOTES_W" val="397,5"/>
  <p:tag name="NM_NOTES_L" val="72,25"/>
  <p:tag name="NM_NOTES_T" val="370,5"/>
  <p:tag name="NM_DATE_FONT_C" val="0"/>
  <p:tag name="NM_DATE_FONT_S" val="12"/>
  <p:tag name="NM_DATE_FONT" val="Arial"/>
  <p:tag name="NM_DATE_H" val="39"/>
  <p:tag name="NM_DATE_W" val="234,875"/>
  <p:tag name="NM_DATE_L" val="307,125"/>
  <p:tag name="NM_DATE_T" val="0"/>
  <p:tag name="NM_FOOTER_FONT_C" val="0"/>
  <p:tag name="NM_FOOTER_FONT_S" val="12"/>
  <p:tag name="NM_FOOTER_FONT" val="Arial"/>
  <p:tag name="NM_FOOTER_H" val="39"/>
  <p:tag name="NM_FOOTER_W" val="234,875"/>
  <p:tag name="NM_FOOTER_L" val="0"/>
  <p:tag name="NM_FOOTER_T" val="741"/>
  <p:tag name="NM_PREVIEW_FONT_C" val="16777215"/>
  <p:tag name="NM_PREVIEW_FONT_S" val=""/>
  <p:tag name="NM_PREVIEW_H" val="292,5"/>
  <p:tag name="NM_PREVIEW_W" val="422,5"/>
  <p:tag name="NM_PREVIEW_L" val="59,75"/>
  <p:tag name="NM_PREVIEW_T" val="58,5"/>
  <p:tag name="NM_HEADER_FONT_C" val="0"/>
  <p:tag name="NM_HEADER_FONT_S" val="12"/>
  <p:tag name="NM_HEADER_FONT" val="Arial"/>
  <p:tag name="NM_HEADER_H" val="39"/>
  <p:tag name="NM_HEADER_W" val="234,875"/>
  <p:tag name="NM_HEADER_L" val="0"/>
  <p:tag name="NM_HEADER_T" val="0"/>
  <p:tag name="HM_PAGEN_FONT_C" val="0"/>
  <p:tag name="HM_PAGEN_FONT_S" val="12"/>
  <p:tag name="HM_PAGEN_FONT" val="Arial"/>
  <p:tag name="HM_PAGEN_H" val="35,875"/>
  <p:tag name="HM_PAGEN_W" val="230,875"/>
  <p:tag name="HM_PAGEN_L" val="309,875"/>
  <p:tag name="HM_PAGEN_T" val="742,5"/>
  <p:tag name="HM_DATE_FONT_C" val="0"/>
  <p:tag name="HM_DATE_FONT_S" val="12"/>
  <p:tag name="HM_DATE_FONT" val="Arial"/>
  <p:tag name="HM_DATE_H" val="41,875"/>
  <p:tag name="HM_DATE_W" val="230,875"/>
  <p:tag name="HM_DATE_L" val="309,875"/>
  <p:tag name="HM_DATE_T" val="0"/>
  <p:tag name="HM_FOOTER_FONT_C" val="0"/>
  <p:tag name="HM_FOOTER_FONT_S" val="12"/>
  <p:tag name="HM_FOOTER_FONT" val="Arial"/>
  <p:tag name="HM_FOOTER_H" val="35,875"/>
  <p:tag name="HM_FOOTER_W" val="237"/>
  <p:tag name="HM_FOOTER_L" val="0"/>
  <p:tag name="HM_FOOTER_T" val="742,5"/>
  <p:tag name="HM_HEADER_FONT_C" val="0"/>
  <p:tag name="HM_HEADER_FONT_S" val="12"/>
  <p:tag name="HM_HEADER_FONT" val="Arial"/>
  <p:tag name="HM_HEADER_H" val="41,875"/>
  <p:tag name="HM_HEADER_W" val="237"/>
  <p:tag name="HM_HEADER_L" val="0"/>
  <p:tag name="HM_HEADER_T" val="0"/>
  <p:tag name="TM_STITLE_FONT_C" val="0"/>
  <p:tag name="TM_STITLE_FONT_S" val="28"/>
  <p:tag name="TM_STITLE_FONT" val="Arial"/>
  <p:tag name="TM_STITLE_H" val="68"/>
  <p:tag name="TM_STITLE_W" val="748,5"/>
  <p:tag name="TM_STITLE_L" val="15,75"/>
  <p:tag name="TM_STITLE_T" val="355,125"/>
  <p:tag name="TM_TITLE_FONT_C" val="0"/>
  <p:tag name="TM_TITLE_FONT_S" val="28"/>
  <p:tag name="TM_TITLE_FONT" val="Arial"/>
  <p:tag name="TM_TITLE_H" val="68"/>
  <p:tag name="TM_TITLE_W" val="748,5"/>
  <p:tag name="TM_TITLE_L" val="15,75"/>
  <p:tag name="TM_TITLE_T" val="281,375"/>
  <p:tag name="SM_PAGEN_FONT_C" val="16777215"/>
  <p:tag name="SM_PAGEN_FONT_S" val=""/>
  <p:tag name="SM_PAGEN_FONT" val=""/>
  <p:tag name="SM_PAGEN_H" val=""/>
  <p:tag name="SM_PAGEN_W" val=""/>
  <p:tag name="SM_PAGEN_L" val=""/>
  <p:tag name="SM_PAGEN_T" val=""/>
  <p:tag name="SM_FOOTER_FONT_C" val="16777215"/>
  <p:tag name="SM_FOOTER_FONT_S" val=""/>
  <p:tag name="SM_FOOTER_FONT" val=""/>
  <p:tag name="SM_FOOTER_H" val=""/>
  <p:tag name="SM_FOOTER_W" val=""/>
  <p:tag name="SM_FOOTER_L" val=""/>
  <p:tag name="SM_FOOTER_T" val=""/>
  <p:tag name="SM_DATE_FONT_C" val="0"/>
  <p:tag name="SM_DATE_FONT_S" val="9"/>
  <p:tag name="SM_DATE_FONT" val="Arial"/>
  <p:tag name="SM_DATE_H" val="7,375"/>
  <p:tag name="SM_DATE_W" val="150"/>
  <p:tag name="SM_DATE_L" val="315"/>
  <p:tag name="SM_DATE_T" val="527"/>
  <p:tag name="SM_AUTOLAYOUT_FONT_C" val="0"/>
  <p:tag name="SM_AUTOLAYOUT_FONT_S" val="18"/>
  <p:tag name="SM_AUTOLAYOUT_FONT" val="Arial"/>
  <p:tag name="SM_AUTOLAYOUT_H" val="385,625"/>
  <p:tag name="SM_AUTOLAYOUT_W" val="748,5"/>
  <p:tag name="SM_AUTOLAYOUT_L" val="15,75"/>
  <p:tag name="SM_AUTOLAYOUT_T" val="122,625"/>
  <p:tag name="SM_TITLE_FONT_C" val="0"/>
  <p:tag name="SM_TITLE_FONT_S" val="20"/>
  <p:tag name="SM_TITLE_FONT" val="Arial"/>
  <p:tag name="SM_TITLE_H" val="51"/>
  <p:tag name="SM_TITLE_W" val="601"/>
  <p:tag name="SM_TITLE_L" val="15,75"/>
  <p:tag name="SM_TITLE_T" val="31,875"/>
  <p:tag name="MASTERISTAGED" val="Y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MINIMIZE" val="-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heme/theme1.xml><?xml version="1.0" encoding="utf-8"?>
<a:theme xmlns:a="http://schemas.openxmlformats.org/drawingml/2006/main" name="Die Bahn_2003">
  <a:themeElements>
    <a:clrScheme name="Die Bahn_2003 1">
      <a:dk1>
        <a:srgbClr val="000000"/>
      </a:dk1>
      <a:lt1>
        <a:srgbClr val="FFFFFF"/>
      </a:lt1>
      <a:dk2>
        <a:srgbClr val="000000"/>
      </a:dk2>
      <a:lt2>
        <a:srgbClr val="878C96"/>
      </a:lt2>
      <a:accent1>
        <a:srgbClr val="C8C8CD"/>
      </a:accent1>
      <a:accent2>
        <a:srgbClr val="000066"/>
      </a:accent2>
      <a:accent3>
        <a:srgbClr val="FFFFFF"/>
      </a:accent3>
      <a:accent4>
        <a:srgbClr val="000000"/>
      </a:accent4>
      <a:accent5>
        <a:srgbClr val="E0E0E3"/>
      </a:accent5>
      <a:accent6>
        <a:srgbClr val="00005C"/>
      </a:accent6>
      <a:hlink>
        <a:srgbClr val="004BB4"/>
      </a:hlink>
      <a:folHlink>
        <a:srgbClr val="D7DEE2"/>
      </a:folHlink>
    </a:clrScheme>
    <a:fontScheme name="Die Bahn_2003">
      <a:majorFont>
        <a:latin typeface="DB Office"/>
        <a:ea typeface=""/>
        <a:cs typeface=""/>
      </a:majorFont>
      <a:minorFont>
        <a:latin typeface="DB Offic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B Office" pitchFamily="34" charset="0"/>
          </a:defRPr>
        </a:defPPr>
      </a:lstStyle>
    </a:lnDef>
  </a:objectDefaults>
  <a:extraClrSchemeLst>
    <a:extraClrScheme>
      <a:clrScheme name="Die Bahn_2003 1">
        <a:dk1>
          <a:srgbClr val="000000"/>
        </a:dk1>
        <a:lt1>
          <a:srgbClr val="FFFFFF"/>
        </a:lt1>
        <a:dk2>
          <a:srgbClr val="000000"/>
        </a:dk2>
        <a:lt2>
          <a:srgbClr val="878C96"/>
        </a:lt2>
        <a:accent1>
          <a:srgbClr val="C8C8CD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0E0E3"/>
        </a:accent5>
        <a:accent6>
          <a:srgbClr val="00005C"/>
        </a:accent6>
        <a:hlink>
          <a:srgbClr val="004BB4"/>
        </a:hlink>
        <a:folHlink>
          <a:srgbClr val="D7DE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226AA39FA88A44AFA62822AA17F4C7" ma:contentTypeVersion="17" ma:contentTypeDescription="Create a new document." ma:contentTypeScope="" ma:versionID="c0535d27d85ef8e73c7490146f1a7776">
  <xsd:schema xmlns:xsd="http://www.w3.org/2001/XMLSchema" xmlns:xs="http://www.w3.org/2001/XMLSchema" xmlns:p="http://schemas.microsoft.com/office/2006/metadata/properties" xmlns:ns2="36e88c28-51f7-4cf2-bf07-d5dd31bd1c61" xmlns:ns3="ebd01039-58b0-4616-9cbc-df5c8ae803a8" targetNamespace="http://schemas.microsoft.com/office/2006/metadata/properties" ma:root="true" ma:fieldsID="d64e3a2961643c026222916d5e9ecfd7" ns2:_="" ns3:_="">
    <xsd:import namespace="36e88c28-51f7-4cf2-bf07-d5dd31bd1c61"/>
    <xsd:import namespace="ebd01039-58b0-4616-9cbc-df5c8ae803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_Flow_SignoffStatu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88c28-51f7-4cf2-bf07-d5dd31bd1c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6" nillable="true" ma:displayName="Sign-off status" ma:internalName="_x0024_Resources_x003a_core_x002c_Signoff_Status_x003b_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a2fdd27-ee36-42ac-901d-ae0f66495c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d01039-58b0-4616-9cbc-df5c8ae803a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a76a38d-9741-4a60-801e-cd6cd965268c}" ma:internalName="TaxCatchAll" ma:showField="CatchAllData" ma:web="ebd01039-58b0-4616-9cbc-df5c8ae803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36e88c28-51f7-4cf2-bf07-d5dd31bd1c61" xsi:nil="true"/>
    <TaxCatchAll xmlns="ebd01039-58b0-4616-9cbc-df5c8ae803a8" xsi:nil="true"/>
    <lcf76f155ced4ddcb4097134ff3c332f xmlns="36e88c28-51f7-4cf2-bf07-d5dd31bd1c6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550159B654B3469BEC8F5FCB2D3E65" ma:contentTypeVersion="10" ma:contentTypeDescription="Create a new document." ma:contentTypeScope="" ma:versionID="c79d44ee12fb737209a0b9715c9c4a9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rca:RCAuthoringProperties xmlns:rca="urn:sharePointPublishingRcaProperties">
  <rca:Converter rca:guid="6dfdc5b4-2a28-4a06-b0c6-ad3901e3a807">
    <rca:property rca:type="InheritParentSettings">False</rca:property>
    <rca:property rca:type="SelectedPageLayout">23</rca:property>
    <rca:property rca:type="SelectedPageField">f55c4d88-1f2e-4ad9-aaa8-819af4ee7ee8</rca:property>
    <rca:property rca:type="SelectedStylesField">a932ec3f-94c1-48b1-b6dc-41aaa6eb7e54</rca:property>
    <rca:property rca:type="CreatePageWithSourceDocument">True</rca:property>
    <rca:property rca:type="AllowChangeLocationConfig">True</rca:property>
    <rca:property rca:type="ConfiguredPageLocation">http://pegasus</rca:property>
    <rca:property rca:type="CreateSynchronously">True</rca:property>
    <rca:property rca:type="AllowChangeProcessingConfig">True</rca:property>
    <rca:property rca:type="ConverterSpecificSettings"/>
  </rca:Converter>
</rca:RCAuthoringProperties>
</file>

<file path=customXml/itemProps1.xml><?xml version="1.0" encoding="utf-8"?>
<ds:datastoreItem xmlns:ds="http://schemas.openxmlformats.org/officeDocument/2006/customXml" ds:itemID="{39C7FC39-5AEF-4F25-8024-7C8B3FC2BE9A}"/>
</file>

<file path=customXml/itemProps2.xml><?xml version="1.0" encoding="utf-8"?>
<ds:datastoreItem xmlns:ds="http://schemas.openxmlformats.org/officeDocument/2006/customXml" ds:itemID="{E378E111-E56C-4F90-879B-FBA01762B9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0FD6C9F-E815-411F-A073-4443EB58E7C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4ED07BE0-BCF6-4E72-85E6-E915A93252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5.xml><?xml version="1.0" encoding="utf-8"?>
<ds:datastoreItem xmlns:ds="http://schemas.openxmlformats.org/officeDocument/2006/customXml" ds:itemID="{EEDBAC96-F2B1-4F54-9BE9-39387EEA5BFF}">
  <ds:schemaRefs>
    <ds:schemaRef ds:uri="urn:sharePointPublishingRca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530</TotalTime>
  <Words>700</Words>
  <Application>Microsoft Office PowerPoint</Application>
  <PresentationFormat>A4 Paper (210x297 mm)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DB Office</vt:lpstr>
      <vt:lpstr>Wingdings</vt:lpstr>
      <vt:lpstr>Die Bahn_2003</vt:lpstr>
      <vt:lpstr>PowerPoint Presentation</vt:lpstr>
      <vt:lpstr>  </vt:lpstr>
      <vt:lpstr>Json to XML  </vt:lpstr>
      <vt:lpstr>Json to XML  </vt:lpstr>
      <vt:lpstr>Json to XML  </vt:lpstr>
      <vt:lpstr>Json to XML</vt:lpstr>
      <vt:lpstr>XML to Json </vt:lpstr>
      <vt:lpstr>XML to Json </vt:lpstr>
      <vt:lpstr>XML to Json </vt:lpstr>
      <vt:lpstr>PowerPoint Presentation</vt:lpstr>
    </vt:vector>
  </TitlesOfParts>
  <Company>DB Schenker Deutschland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Zentrale Innovation Vision, Leitbild, Strategische Ausrichtung</dc:title>
  <dc:creator>Administrator</dc:creator>
  <cp:lastModifiedBy>Yang, Charles</cp:lastModifiedBy>
  <cp:revision>656</cp:revision>
  <cp:lastPrinted>2012-11-23T10:04:04Z</cp:lastPrinted>
  <dcterms:created xsi:type="dcterms:W3CDTF">2012-01-09T10:50:23Z</dcterms:created>
  <dcterms:modified xsi:type="dcterms:W3CDTF">2022-05-26T05:21:26Z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0x0101009C226AA39FA88A44AFA62822AA17F4C7</vt:lpwstr>
  </property>
  <property fmtid="{D5CDD505-2E9C-101B-9397-08002B2CF9AE}" pid="3" name="MSIP_Label_705c9e18-d393-4470-8b67-9616c62ec31f_Enabled">
    <vt:lpwstr>true</vt:lpwstr>
  </property>
  <property fmtid="{D5CDD505-2E9C-101B-9397-08002B2CF9AE}" pid="4" name="MSIP_Label_705c9e18-d393-4470-8b67-9616c62ec31f_SetDate">
    <vt:lpwstr>2022-05-19T09:18:31Z</vt:lpwstr>
  </property>
  <property fmtid="{D5CDD505-2E9C-101B-9397-08002B2CF9AE}" pid="5" name="MSIP_Label_705c9e18-d393-4470-8b67-9616c62ec31f_Method">
    <vt:lpwstr>Standard</vt:lpwstr>
  </property>
  <property fmtid="{D5CDD505-2E9C-101B-9397-08002B2CF9AE}" pid="6" name="MSIP_Label_705c9e18-d393-4470-8b67-9616c62ec31f_Name">
    <vt:lpwstr>705c9e18-d393-4470-8b67-9616c62ec31f</vt:lpwstr>
  </property>
  <property fmtid="{D5CDD505-2E9C-101B-9397-08002B2CF9AE}" pid="7" name="MSIP_Label_705c9e18-d393-4470-8b67-9616c62ec31f_SiteId">
    <vt:lpwstr>c5d1e823-e2b8-46bf-92ff-84f54313e0a5</vt:lpwstr>
  </property>
  <property fmtid="{D5CDD505-2E9C-101B-9397-08002B2CF9AE}" pid="8" name="MSIP_Label_705c9e18-d393-4470-8b67-9616c62ec31f_ActionId">
    <vt:lpwstr>6c6d2cde-2730-4036-b8a5-4509633a8501</vt:lpwstr>
  </property>
  <property fmtid="{D5CDD505-2E9C-101B-9397-08002B2CF9AE}" pid="9" name="MSIP_Label_705c9e18-d393-4470-8b67-9616c62ec31f_ContentBits">
    <vt:lpwstr>0</vt:lpwstr>
  </property>
</Properties>
</file>