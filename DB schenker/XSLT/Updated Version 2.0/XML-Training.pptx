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5" r:id="rId4"/>
  </p:sldMasterIdLst>
  <p:notesMasterIdLst>
    <p:notesMasterId r:id="rId22"/>
  </p:notesMasterIdLst>
  <p:handoutMasterIdLst>
    <p:handoutMasterId r:id="rId23"/>
  </p:handoutMasterIdLst>
  <p:sldIdLst>
    <p:sldId id="352" r:id="rId5"/>
    <p:sldId id="428" r:id="rId6"/>
    <p:sldId id="333" r:id="rId7"/>
    <p:sldId id="422" r:id="rId8"/>
    <p:sldId id="397" r:id="rId9"/>
    <p:sldId id="407" r:id="rId10"/>
    <p:sldId id="408" r:id="rId11"/>
    <p:sldId id="404" r:id="rId12"/>
    <p:sldId id="405" r:id="rId13"/>
    <p:sldId id="421" r:id="rId14"/>
    <p:sldId id="427" r:id="rId15"/>
    <p:sldId id="416" r:id="rId16"/>
    <p:sldId id="425" r:id="rId17"/>
    <p:sldId id="419" r:id="rId18"/>
    <p:sldId id="406" r:id="rId19"/>
    <p:sldId id="426" r:id="rId20"/>
    <p:sldId id="379" r:id="rId21"/>
  </p:sldIdLst>
  <p:sldSz cx="9906000" cy="6858000" type="A4"/>
  <p:notesSz cx="6797675" cy="9874250"/>
  <p:custDataLst>
    <p:tags r:id="rId24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356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3521">
          <p15:clr>
            <a:srgbClr val="A4A3A4"/>
          </p15:clr>
        </p15:guide>
        <p15:guide id="7" orient="horz" pos="981">
          <p15:clr>
            <a:srgbClr val="A4A3A4"/>
          </p15:clr>
        </p15:guide>
        <p15:guide id="8" orient="horz" pos="3339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1389">
          <p15:clr>
            <a:srgbClr val="A4A3A4"/>
          </p15:clr>
        </p15:guide>
        <p15:guide id="11" orient="horz" pos="4156">
          <p15:clr>
            <a:srgbClr val="A4A3A4"/>
          </p15:clr>
        </p15:guide>
        <p15:guide id="12" pos="1532">
          <p15:clr>
            <a:srgbClr val="A4A3A4"/>
          </p15:clr>
        </p15:guide>
        <p15:guide id="13" pos="6114">
          <p15:clr>
            <a:srgbClr val="A4A3A4"/>
          </p15:clr>
        </p15:guide>
        <p15:guide id="14" pos="3120">
          <p15:clr>
            <a:srgbClr val="A4A3A4"/>
          </p15:clr>
        </p15:guide>
        <p15:guide id="15" pos="23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23206-A856-44E6-B706-7817F1E1A96B}" v="13" dt="2022-05-23T01:34:26.107"/>
    <p1510:client id="{BFCA061E-9415-4B9D-8E81-FCC1267023DA}" v="7" dt="2022-05-23T01:36:36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6" autoAdjust="0"/>
    <p:restoredTop sz="94645" autoAdjust="0"/>
  </p:normalViewPr>
  <p:slideViewPr>
    <p:cSldViewPr showGuides="1">
      <p:cViewPr varScale="1">
        <p:scale>
          <a:sx n="113" d="100"/>
          <a:sy n="113" d="100"/>
        </p:scale>
        <p:origin x="1182" y="96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Charles" userId="S::charles.yang@dbschenker.com::b7ac3df9-c495-4e11-be7f-4dcbb23ef5d7" providerId="AD" clId="Web-{06923206-A856-44E6-B706-7817F1E1A96B}"/>
    <pc:docChg chg="modSld">
      <pc:chgData name="Yang, Charles" userId="S::charles.yang@dbschenker.com::b7ac3df9-c495-4e11-be7f-4dcbb23ef5d7" providerId="AD" clId="Web-{06923206-A856-44E6-B706-7817F1E1A96B}" dt="2022-05-23T01:34:14.045" v="8" actId="20577"/>
      <pc:docMkLst>
        <pc:docMk/>
      </pc:docMkLst>
      <pc:sldChg chg="modSp">
        <pc:chgData name="Yang, Charles" userId="S::charles.yang@dbschenker.com::b7ac3df9-c495-4e11-be7f-4dcbb23ef5d7" providerId="AD" clId="Web-{06923206-A856-44E6-B706-7817F1E1A96B}" dt="2022-05-23T01:34:14.045" v="8" actId="20577"/>
        <pc:sldMkLst>
          <pc:docMk/>
          <pc:sldMk cId="3973766693" sldId="333"/>
        </pc:sldMkLst>
        <pc:spChg chg="mod">
          <ac:chgData name="Yang, Charles" userId="S::charles.yang@dbschenker.com::b7ac3df9-c495-4e11-be7f-4dcbb23ef5d7" providerId="AD" clId="Web-{06923206-A856-44E6-B706-7817F1E1A96B}" dt="2022-05-23T01:33:54.591" v="6" actId="20577"/>
          <ac:spMkLst>
            <pc:docMk/>
            <pc:sldMk cId="3973766693" sldId="333"/>
            <ac:spMk id="9" creationId="{00000000-0000-0000-0000-000000000000}"/>
          </ac:spMkLst>
        </pc:spChg>
        <pc:spChg chg="mod">
          <ac:chgData name="Yang, Charles" userId="S::charles.yang@dbschenker.com::b7ac3df9-c495-4e11-be7f-4dcbb23ef5d7" providerId="AD" clId="Web-{06923206-A856-44E6-B706-7817F1E1A96B}" dt="2022-05-23T01:34:14.045" v="8" actId="20577"/>
          <ac:spMkLst>
            <pc:docMk/>
            <pc:sldMk cId="3973766693" sldId="333"/>
            <ac:spMk id="32" creationId="{00000000-0000-0000-0000-000000000000}"/>
          </ac:spMkLst>
        </pc:spChg>
      </pc:sldChg>
      <pc:sldChg chg="modSp">
        <pc:chgData name="Yang, Charles" userId="S::charles.yang@dbschenker.com::b7ac3df9-c495-4e11-be7f-4dcbb23ef5d7" providerId="AD" clId="Web-{06923206-A856-44E6-B706-7817F1E1A96B}" dt="2022-05-23T01:33:19.966" v="4" actId="20577"/>
        <pc:sldMkLst>
          <pc:docMk/>
          <pc:sldMk cId="1946210123" sldId="397"/>
        </pc:sldMkLst>
        <pc:spChg chg="mod">
          <ac:chgData name="Yang, Charles" userId="S::charles.yang@dbschenker.com::b7ac3df9-c495-4e11-be7f-4dcbb23ef5d7" providerId="AD" clId="Web-{06923206-A856-44E6-B706-7817F1E1A96B}" dt="2022-05-23T01:33:19.966" v="4" actId="20577"/>
          <ac:spMkLst>
            <pc:docMk/>
            <pc:sldMk cId="1946210123" sldId="397"/>
            <ac:spMk id="6" creationId="{00000000-0000-0000-0000-000000000000}"/>
          </ac:spMkLst>
        </pc:spChg>
      </pc:sldChg>
      <pc:sldChg chg="modSp">
        <pc:chgData name="Yang, Charles" userId="S::charles.yang@dbschenker.com::b7ac3df9-c495-4e11-be7f-4dcbb23ef5d7" providerId="AD" clId="Web-{06923206-A856-44E6-B706-7817F1E1A96B}" dt="2022-05-23T01:33:14.841" v="2" actId="20577"/>
        <pc:sldMkLst>
          <pc:docMk/>
          <pc:sldMk cId="2188091072" sldId="422"/>
        </pc:sldMkLst>
        <pc:spChg chg="mod">
          <ac:chgData name="Yang, Charles" userId="S::charles.yang@dbschenker.com::b7ac3df9-c495-4e11-be7f-4dcbb23ef5d7" providerId="AD" clId="Web-{06923206-A856-44E6-B706-7817F1E1A96B}" dt="2022-05-23T01:33:14.841" v="2" actId="20577"/>
          <ac:spMkLst>
            <pc:docMk/>
            <pc:sldMk cId="2188091072" sldId="422"/>
            <ac:spMk id="16" creationId="{00000000-0000-0000-0000-000000000000}"/>
          </ac:spMkLst>
        </pc:spChg>
      </pc:sldChg>
    </pc:docChg>
  </pc:docChgLst>
  <pc:docChgLst>
    <pc:chgData name="Yang, Charles" userId="S::charles.yang@dbschenker.com::b7ac3df9-c495-4e11-be7f-4dcbb23ef5d7" providerId="AD" clId="Web-{BFCA061E-9415-4B9D-8E81-FCC1267023DA}"/>
    <pc:docChg chg="modSld">
      <pc:chgData name="Yang, Charles" userId="S::charles.yang@dbschenker.com::b7ac3df9-c495-4e11-be7f-4dcbb23ef5d7" providerId="AD" clId="Web-{BFCA061E-9415-4B9D-8E81-FCC1267023DA}" dt="2022-05-23T01:36:36.956" v="6" actId="20577"/>
      <pc:docMkLst>
        <pc:docMk/>
      </pc:docMkLst>
      <pc:sldChg chg="modSp">
        <pc:chgData name="Yang, Charles" userId="S::charles.yang@dbschenker.com::b7ac3df9-c495-4e11-be7f-4dcbb23ef5d7" providerId="AD" clId="Web-{BFCA061E-9415-4B9D-8E81-FCC1267023DA}" dt="2022-05-23T01:36:36.956" v="6" actId="20577"/>
        <pc:sldMkLst>
          <pc:docMk/>
          <pc:sldMk cId="1946210123" sldId="397"/>
        </pc:sldMkLst>
        <pc:spChg chg="mod">
          <ac:chgData name="Yang, Charles" userId="S::charles.yang@dbschenker.com::b7ac3df9-c495-4e11-be7f-4dcbb23ef5d7" providerId="AD" clId="Web-{BFCA061E-9415-4B9D-8E81-FCC1267023DA}" dt="2022-05-23T01:36:36.956" v="6" actId="20577"/>
          <ac:spMkLst>
            <pc:docMk/>
            <pc:sldMk cId="1946210123" sldId="39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777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170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273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9969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8597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6714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95550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73575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8973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  <a:pPr/>
              <a:t>‹#›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</p:spTree>
    <p:extLst>
      <p:ext uri="{BB962C8B-B14F-4D97-AF65-F5344CB8AC3E}">
        <p14:creationId xmlns:p14="http://schemas.microsoft.com/office/powerpoint/2010/main" val="18378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74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82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63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7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9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95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0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05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60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7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5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79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7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0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76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35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6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286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26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306893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5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60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  <a:pPr/>
              <a:t>‹#›</a:t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9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838" r:id="rId2"/>
    <p:sldLayoutId id="2147483839" r:id="rId3"/>
    <p:sldLayoutId id="2147483841" r:id="rId4"/>
    <p:sldLayoutId id="2147483842" r:id="rId5"/>
    <p:sldLayoutId id="2147483843" r:id="rId6"/>
    <p:sldLayoutId id="2147483840" r:id="rId7"/>
    <p:sldLayoutId id="2147483844" r:id="rId8"/>
    <p:sldLayoutId id="2147483687" r:id="rId9"/>
    <p:sldLayoutId id="214748378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3" r:id="rId21"/>
    <p:sldLayoutId id="2147483809" r:id="rId22"/>
    <p:sldLayoutId id="2147483810" r:id="rId23"/>
    <p:sldLayoutId id="2147483811" r:id="rId24"/>
    <p:sldLayoutId id="2147483822" r:id="rId25"/>
    <p:sldLayoutId id="2147483823" r:id="rId26"/>
    <p:sldLayoutId id="2147483824" r:id="rId27"/>
    <p:sldLayoutId id="2147483845" r:id="rId28"/>
    <p:sldLayoutId id="2147483846" r:id="rId29"/>
    <p:sldLayoutId id="2147483847" r:id="rId30"/>
    <p:sldLayoutId id="2147483848" r:id="rId31"/>
    <p:sldLayoutId id="2147483853" r:id="rId32"/>
    <p:sldLayoutId id="2147483854" r:id="rId33"/>
    <p:sldLayoutId id="2147483855" r:id="rId34"/>
    <p:sldLayoutId id="2147483849" r:id="rId35"/>
    <p:sldLayoutId id="2147483850" r:id="rId36"/>
    <p:sldLayoutId id="2147483851" r:id="rId37"/>
    <p:sldLayoutId id="2147483701" r:id="rId38"/>
    <p:sldLayoutId id="2147483815" r:id="rId39"/>
    <p:sldLayoutId id="2147483819" r:id="rId40"/>
    <p:sldLayoutId id="2147483820" r:id="rId41"/>
    <p:sldLayoutId id="2147483821" r:id="rId42"/>
    <p:sldLayoutId id="2147483800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5738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513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6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58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0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2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4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noProof="0" dirty="0"/>
              <a:t>XSLT Knowledge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420321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XSLT Knowledge</a:t>
            </a:r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20"/>
          </p:nvPr>
        </p:nvSpPr>
        <p:spPr>
          <a:xfrm>
            <a:off x="1288192" y="3690012"/>
            <a:ext cx="5932800" cy="576000"/>
          </a:xfrm>
        </p:spPr>
        <p:txBody>
          <a:bodyPr/>
          <a:lstStyle/>
          <a:p>
            <a:r>
              <a:rPr lang="de-DE" dirty="0"/>
              <a:t>XSLT Use in SWORD</a:t>
            </a:r>
            <a:endParaRPr lang="en-US" noProof="0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21"/>
          </p:nvPr>
        </p:nvSpPr>
        <p:spPr>
          <a:xfrm>
            <a:off x="1288192" y="2965512"/>
            <a:ext cx="5932800" cy="576000"/>
          </a:xfrm>
        </p:spPr>
        <p:txBody>
          <a:bodyPr/>
          <a:lstStyle/>
          <a:p>
            <a:r>
              <a:rPr lang="en-US" dirty="0"/>
              <a:t>XSLT-Basic knowledge</a:t>
            </a:r>
            <a:endParaRPr lang="en-US" noProof="0" dirty="0">
              <a:latin typeface="+mj-lt"/>
            </a:endParaRPr>
          </a:p>
        </p:txBody>
      </p:sp>
      <p:sp>
        <p:nvSpPr>
          <p:cNvPr id="30" name="Textplatzhalter 29"/>
          <p:cNvSpPr>
            <a:spLocks noGrp="1"/>
          </p:cNvSpPr>
          <p:nvPr>
            <p:ph type="body" sz="quarter" idx="22"/>
          </p:nvPr>
        </p:nvSpPr>
        <p:spPr>
          <a:xfrm>
            <a:off x="1288192" y="4414512"/>
            <a:ext cx="5932800" cy="576000"/>
          </a:xfrm>
        </p:spPr>
        <p:txBody>
          <a:bodyPr/>
          <a:lstStyle/>
          <a:p>
            <a:r>
              <a:rPr lang="de-DE" dirty="0"/>
              <a:t>Examples</a:t>
            </a:r>
          </a:p>
        </p:txBody>
      </p:sp>
      <p:sp>
        <p:nvSpPr>
          <p:cNvPr id="10" name="Textplatzhalter 28">
            <a:extLst>
              <a:ext uri="{FF2B5EF4-FFF2-40B4-BE49-F238E27FC236}">
                <a16:creationId xmlns:a16="http://schemas.microsoft.com/office/drawing/2014/main" id="{3861BCCC-A5EB-4087-BA45-D22875E1CE8F}"/>
              </a:ext>
            </a:extLst>
          </p:cNvPr>
          <p:cNvSpPr txBox="1">
            <a:spLocks/>
          </p:cNvSpPr>
          <p:nvPr/>
        </p:nvSpPr>
        <p:spPr bwMode="auto">
          <a:xfrm>
            <a:off x="1280592" y="2274150"/>
            <a:ext cx="5932800" cy="576000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0" rIns="0" bIns="0" numCol="1" anchor="ctr" anchorCtr="0" compatLnSpc="1">
            <a:prstTxWarp prst="textNoShape">
              <a:avLst/>
            </a:prstTxWarp>
          </a:bodyPr>
          <a:lstStyle>
            <a:lvl1pPr marL="180000"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5738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2pPr>
            <a:lvl3pPr marL="358775" indent="-1714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544513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7286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1858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6430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1002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5574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noProof="0" dirty="0"/>
              <a:t>XML-Basic knowledge</a:t>
            </a:r>
            <a:r>
              <a:rPr lang="en-US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94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XML-Basic knowledge</a:t>
            </a:r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20"/>
          </p:nvPr>
        </p:nvSpPr>
        <p:spPr>
          <a:xfrm>
            <a:off x="1136576" y="2853000"/>
            <a:ext cx="5932800" cy="576000"/>
          </a:xfrm>
        </p:spPr>
        <p:txBody>
          <a:bodyPr/>
          <a:lstStyle/>
          <a:p>
            <a:r>
              <a:rPr lang="de-DE" dirty="0" err="1"/>
              <a:t>XPath</a:t>
            </a:r>
            <a:r>
              <a:rPr lang="de-DE" dirty="0"/>
              <a:t>-Expression</a:t>
            </a:r>
            <a:endParaRPr lang="en-US" noProof="0" dirty="0"/>
          </a:p>
        </p:txBody>
      </p:sp>
      <p:sp>
        <p:nvSpPr>
          <p:cNvPr id="30" name="Textplatzhalter 29"/>
          <p:cNvSpPr>
            <a:spLocks noGrp="1"/>
          </p:cNvSpPr>
          <p:nvPr>
            <p:ph type="body" sz="quarter" idx="22"/>
          </p:nvPr>
        </p:nvSpPr>
        <p:spPr>
          <a:xfrm>
            <a:off x="1136576" y="3577500"/>
            <a:ext cx="5932800" cy="576000"/>
          </a:xfrm>
        </p:spPr>
        <p:txBody>
          <a:bodyPr/>
          <a:lstStyle/>
          <a:p>
            <a:r>
              <a:rPr lang="en-US" dirty="0"/>
              <a:t>Axis-model</a:t>
            </a:r>
            <a:endParaRPr lang="de-DE" dirty="0"/>
          </a:p>
        </p:txBody>
      </p:sp>
      <p:sp>
        <p:nvSpPr>
          <p:cNvPr id="32" name="Textplatzhalter 31"/>
          <p:cNvSpPr>
            <a:spLocks noGrp="1"/>
          </p:cNvSpPr>
          <p:nvPr>
            <p:ph type="body" sz="quarter" idx="24"/>
          </p:nvPr>
        </p:nvSpPr>
        <p:spPr>
          <a:xfrm>
            <a:off x="1136576" y="4302000"/>
            <a:ext cx="5932800" cy="576000"/>
          </a:xfrm>
        </p:spPr>
        <p:txBody>
          <a:bodyPr/>
          <a:lstStyle/>
          <a:p>
            <a:pPr marL="179705"/>
            <a:r>
              <a:rPr lang="de-DE" i="1" dirty="0" err="1">
                <a:ea typeface="+mn-lt"/>
                <a:cs typeface="+mn-lt"/>
              </a:rPr>
              <a:t>Predicates</a:t>
            </a:r>
          </a:p>
        </p:txBody>
      </p:sp>
      <p:sp>
        <p:nvSpPr>
          <p:cNvPr id="9" name="Textplatzhalter 31"/>
          <p:cNvSpPr>
            <a:spLocks noGrp="1"/>
          </p:cNvSpPr>
          <p:nvPr>
            <p:ph type="body" sz="quarter" idx="24"/>
          </p:nvPr>
        </p:nvSpPr>
        <p:spPr>
          <a:xfrm>
            <a:off x="1128976" y="5017676"/>
            <a:ext cx="5932800" cy="576000"/>
          </a:xfrm>
        </p:spPr>
        <p:txBody>
          <a:bodyPr/>
          <a:lstStyle/>
          <a:p>
            <a:pPr marL="179705"/>
            <a:r>
              <a:rPr lang="de-DE" dirty="0" err="1">
                <a:ea typeface="+mn-lt"/>
                <a:cs typeface="+mn-lt"/>
              </a:rPr>
              <a:t>Functions</a:t>
            </a:r>
            <a:endParaRPr lang="en-US" dirty="0" err="1"/>
          </a:p>
        </p:txBody>
      </p:sp>
      <p:sp>
        <p:nvSpPr>
          <p:cNvPr id="10" name="Textplatzhalter 28">
            <a:extLst>
              <a:ext uri="{FF2B5EF4-FFF2-40B4-BE49-F238E27FC236}">
                <a16:creationId xmlns:a16="http://schemas.microsoft.com/office/drawing/2014/main" id="{3861BCCC-A5EB-4087-BA45-D22875E1CE8F}"/>
              </a:ext>
            </a:extLst>
          </p:cNvPr>
          <p:cNvSpPr txBox="1">
            <a:spLocks/>
          </p:cNvSpPr>
          <p:nvPr/>
        </p:nvSpPr>
        <p:spPr bwMode="auto">
          <a:xfrm>
            <a:off x="1136576" y="2151076"/>
            <a:ext cx="5932800" cy="576000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0" rIns="0" bIns="0" numCol="1" anchor="ctr" anchorCtr="0" compatLnSpc="1">
            <a:prstTxWarp prst="textNoShape">
              <a:avLst/>
            </a:prstTxWarp>
          </a:bodyPr>
          <a:lstStyle>
            <a:lvl1pPr marL="180000"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5738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8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2pPr>
            <a:lvl3pPr marL="358775" indent="-1714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544513" indent="-1841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7286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1858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16430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1002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557463" indent="-18256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/>
              <a:t>What is XML 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7376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Motivation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en-US" dirty="0"/>
              <a:t>XML (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tensible</a:t>
            </a:r>
            <a:r>
              <a:rPr lang="en-US" dirty="0"/>
              <a:t> </a:t>
            </a:r>
            <a:r>
              <a:rPr lang="en-US" b="1" dirty="0"/>
              <a:t>M</a:t>
            </a:r>
            <a:r>
              <a:rPr lang="en-US" dirty="0"/>
              <a:t>arkup </a:t>
            </a:r>
            <a:r>
              <a:rPr lang="en-US" b="1" dirty="0"/>
              <a:t>L</a:t>
            </a:r>
            <a:r>
              <a:rPr lang="en-US" dirty="0"/>
              <a:t>anguage) is a markup language similar to HTML, but without predefined tags to use.</a:t>
            </a:r>
            <a:endParaRPr lang="de-DE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b="1" dirty="0"/>
              <a:t>XML declaration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&lt;?xml version="1.0" encoding="UTF-8"?&gt;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Attributes: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version: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    Used version XML in this document.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encoding 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    Used encoding in this document.</a:t>
            </a: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XML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809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XPath</a:t>
            </a:r>
            <a:r>
              <a:rPr lang="de-DE" dirty="0"/>
              <a:t>-Expression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An Expression </a:t>
            </a:r>
            <a:r>
              <a:rPr lang="de-DE" sz="1800" b="1" dirty="0" err="1"/>
              <a:t>has</a:t>
            </a:r>
            <a:r>
              <a:rPr lang="de-DE" sz="1800" b="1" dirty="0"/>
              <a:t>:</a:t>
            </a:r>
          </a:p>
          <a:p>
            <a:pPr marL="342900" indent="-342900">
              <a:buAutoNum type="arabicParenR"/>
            </a:pPr>
            <a:r>
              <a:rPr lang="de-DE" i="1" dirty="0" err="1"/>
              <a:t>axis</a:t>
            </a:r>
            <a:r>
              <a:rPr lang="de-DE" i="1" dirty="0"/>
              <a:t>- </a:t>
            </a:r>
            <a:r>
              <a:rPr lang="de-DE" i="1" dirty="0" err="1"/>
              <a:t>model</a:t>
            </a:r>
          </a:p>
          <a:p>
            <a:pPr marL="342900" indent="-342900">
              <a:buAutoNum type="arabicParenR"/>
            </a:pPr>
            <a:r>
              <a:rPr lang="de-DE" i="1" dirty="0" err="1"/>
              <a:t>node</a:t>
            </a:r>
            <a:r>
              <a:rPr lang="de-DE" i="1" dirty="0"/>
              <a:t>-test</a:t>
            </a:r>
          </a:p>
          <a:p>
            <a:pPr marL="342900" indent="-342900">
              <a:buAutoNum type="arabicParenR"/>
            </a:pPr>
            <a:r>
              <a:rPr lang="de-DE" i="1" dirty="0" err="1"/>
              <a:t>Predicates</a:t>
            </a:r>
            <a:r>
              <a:rPr lang="de-DE" i="1" dirty="0"/>
              <a:t> (optional)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1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1498823"/>
            <a:ext cx="878205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69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1378756"/>
            <a:ext cx="8409384" cy="516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38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8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Axis-model	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10" name="Inhaltsplatzhalt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948193"/>
              </p:ext>
            </p:extLst>
          </p:nvPr>
        </p:nvGraphicFramePr>
        <p:xfrm>
          <a:off x="560512" y="1484784"/>
          <a:ext cx="8784976" cy="4658574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008">
                <a:tc>
                  <a:txBody>
                    <a:bodyPr/>
                    <a:lstStyle/>
                    <a:p>
                      <a:r>
                        <a:rPr lang="de-DE" sz="1200" dirty="0"/>
                        <a:t>Achse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adressierte Knoten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Beispiel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Abkürzung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child</a:t>
                      </a:r>
                      <a:br>
                        <a:rPr lang="de-DE" sz="1200" dirty="0"/>
                      </a:br>
                      <a:endParaRPr lang="de-DE" sz="6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direct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child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nodes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child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*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22">
                <a:tc>
                  <a:txBody>
                    <a:bodyPr/>
                    <a:lstStyle/>
                    <a:p>
                      <a:r>
                        <a:rPr lang="de-DE" sz="1200" dirty="0" err="1"/>
                        <a:t>parent</a:t>
                      </a:r>
                      <a:endParaRPr lang="de-DE" sz="9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direct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persons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employees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 err="1"/>
                        <a:t>person</a:t>
                      </a:r>
                      <a:r>
                        <a:rPr lang="de-DE" sz="1200" dirty="0"/>
                        <a:t>[1]/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dirty="0"/>
                        <a:t>::*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..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008">
                <a:tc>
                  <a:txBody>
                    <a:bodyPr/>
                    <a:lstStyle/>
                    <a:p>
                      <a:r>
                        <a:rPr lang="de-DE" sz="1200" dirty="0" err="1"/>
                        <a:t>self</a:t>
                      </a:r>
                      <a:endParaRPr lang="de-DE" sz="8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itselft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.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ancestor</a:t>
                      </a:r>
                      <a:endParaRPr lang="de-DE" sz="9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All </a:t>
                      </a:r>
                      <a:r>
                        <a:rPr lang="de-DE" sz="1200" dirty="0" err="1"/>
                        <a:t>parent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nodes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up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to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root</a:t>
                      </a:r>
                      <a:r>
                        <a:rPr lang="de-DE" sz="1200" dirty="0"/>
                        <a:t> 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ancestor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::*[1]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22">
                <a:tc>
                  <a:txBody>
                    <a:bodyPr/>
                    <a:lstStyle/>
                    <a:p>
                      <a:r>
                        <a:rPr lang="de-DE" sz="1200" dirty="0" err="1"/>
                        <a:t>ancestor-or-self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Same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ancestor</a:t>
                      </a:r>
                      <a:r>
                        <a:rPr lang="de-DE" sz="1200" baseline="0" dirty="0"/>
                        <a:t> but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too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ancestor-or-self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::*[1]</a:t>
                      </a:r>
                      <a:endParaRPr lang="de-DE" sz="10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235">
                <a:tc>
                  <a:txBody>
                    <a:bodyPr/>
                    <a:lstStyle/>
                    <a:p>
                      <a:r>
                        <a:rPr lang="de-DE" sz="1200" dirty="0" err="1"/>
                        <a:t>descendant</a:t>
                      </a:r>
                      <a:endParaRPr lang="de-DE" sz="6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All </a:t>
                      </a:r>
                      <a:r>
                        <a:rPr lang="de-DE" sz="1200" dirty="0" err="1"/>
                        <a:t>child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follwoing</a:t>
                      </a:r>
                      <a:r>
                        <a:rPr lang="de-DE" sz="1200" baseline="0" dirty="0"/>
                        <a:t>, not </a:t>
                      </a:r>
                      <a:r>
                        <a:rPr lang="de-DE" sz="1200" baseline="0" dirty="0" err="1"/>
                        <a:t>only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direct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childs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descendant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.//</a:t>
                      </a:r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6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/>
                        <a:t>descendant-or-self</a:t>
                      </a:r>
                      <a:endParaRPr lang="de-DE" sz="800" dirty="0"/>
                    </a:p>
                    <a:p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Same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as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dirty="0" err="1"/>
                        <a:t>descendant</a:t>
                      </a:r>
                      <a:r>
                        <a:rPr lang="de-DE" sz="1200" dirty="0"/>
                        <a:t> </a:t>
                      </a:r>
                      <a:r>
                        <a:rPr lang="de-DE" sz="1200" baseline="0" dirty="0"/>
                        <a:t>but </a:t>
                      </a:r>
                      <a:r>
                        <a:rPr lang="de-DE" sz="1200" baseline="0" dirty="0" err="1"/>
                        <a:t>the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node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itself</a:t>
                      </a:r>
                      <a:r>
                        <a:rPr lang="de-DE" sz="1200" baseline="0" dirty="0"/>
                        <a:t> </a:t>
                      </a:r>
                      <a:r>
                        <a:rPr lang="de-DE" sz="1200" baseline="0" dirty="0" err="1"/>
                        <a:t>too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descendant-or-self</a:t>
                      </a: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200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0462" marR="60462" marT="30231" marB="302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54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Axis-model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512517"/>
              </p:ext>
            </p:extLst>
          </p:nvPr>
        </p:nvGraphicFramePr>
        <p:xfrm>
          <a:off x="560512" y="1484784"/>
          <a:ext cx="8712968" cy="3621465"/>
        </p:xfrm>
        <a:graphic>
          <a:graphicData uri="http://schemas.openxmlformats.org/drawingml/2006/table">
            <a:tbl>
              <a:tblPr/>
              <a:tblGrid>
                <a:gridCol w="2178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605">
                <a:tc>
                  <a:txBody>
                    <a:bodyPr/>
                    <a:lstStyle/>
                    <a:p>
                      <a:r>
                        <a:rPr lang="de-DE" sz="1050" dirty="0" err="1"/>
                        <a:t>achse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adressierte Knoten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Beispiel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Abkürzung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605">
                <a:tc>
                  <a:txBody>
                    <a:bodyPr/>
                    <a:lstStyle/>
                    <a:p>
                      <a:r>
                        <a:rPr lang="de-DE" sz="1050" dirty="0" err="1"/>
                        <a:t>following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following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60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72">
                <a:tc>
                  <a:txBody>
                    <a:bodyPr/>
                    <a:lstStyle/>
                    <a:p>
                      <a:r>
                        <a:rPr lang="de-DE" sz="1050" dirty="0" err="1"/>
                        <a:t>following-sibling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following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r>
                        <a:rPr lang="de-DE" sz="1050" dirty="0"/>
                        <a:t> but on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same </a:t>
                      </a:r>
                      <a:r>
                        <a:rPr lang="de-DE" sz="1050" dirty="0" err="1"/>
                        <a:t>level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following-sibling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6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dirty="0" err="1"/>
                        <a:t>preceding</a:t>
                      </a:r>
                      <a:endParaRPr lang="de-DE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preceding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preceding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72">
                <a:tc>
                  <a:txBody>
                    <a:bodyPr/>
                    <a:lstStyle/>
                    <a:p>
                      <a:r>
                        <a:rPr lang="de-DE" sz="1050" dirty="0" err="1"/>
                        <a:t>preceding-sibling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dirty="0"/>
                        <a:t>All </a:t>
                      </a:r>
                      <a:r>
                        <a:rPr lang="de-DE" sz="1050" dirty="0" err="1"/>
                        <a:t>nodes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which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are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preceding</a:t>
                      </a:r>
                      <a:r>
                        <a:rPr lang="de-DE" sz="1050" dirty="0"/>
                        <a:t> in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whole</a:t>
                      </a:r>
                      <a:r>
                        <a:rPr lang="de-DE" sz="1050" dirty="0"/>
                        <a:t> </a:t>
                      </a:r>
                      <a:r>
                        <a:rPr lang="de-DE" sz="1050" dirty="0" err="1"/>
                        <a:t>document</a:t>
                      </a:r>
                      <a:r>
                        <a:rPr lang="de-DE" sz="1050" dirty="0"/>
                        <a:t> but on </a:t>
                      </a:r>
                      <a:r>
                        <a:rPr lang="de-DE" sz="1050" dirty="0" err="1"/>
                        <a:t>the</a:t>
                      </a:r>
                      <a:r>
                        <a:rPr lang="de-DE" sz="1050" dirty="0"/>
                        <a:t> same </a:t>
                      </a:r>
                      <a:r>
                        <a:rPr lang="de-DE" sz="1050" dirty="0" err="1"/>
                        <a:t>level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preceding-sibling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050" dirty="0" err="1"/>
                        <a:t>attribute</a:t>
                      </a:r>
                      <a:endParaRPr lang="de-DE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/>
                        <a:t>Attributknoten</a:t>
                      </a:r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[2]/</a:t>
                      </a:r>
                      <a:r>
                        <a:rPr lang="de-DE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::*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endParaRPr lang="de-DE" sz="1050" dirty="0"/>
                    </a:p>
                  </a:txBody>
                  <a:tcPr marL="34734" marR="34734" marT="17367" marB="173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8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/>
              <a:t>Node-test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073455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XPath defines several node tests that can be used to select nodes from the source tree.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Strictly speaking, any XPath expression can be considered a node test.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e.g.</a:t>
            </a:r>
          </a:p>
          <a:p>
            <a:pPr>
              <a:lnSpc>
                <a:spcPct val="150000"/>
              </a:lnSpc>
            </a:pPr>
            <a:r>
              <a:rPr lang="en-US" dirty="0"/>
              <a:t>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persons/customers/……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list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person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text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comment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/persons/customers/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processing-instruction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29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/>
              <a:t>Node-test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types of node-test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 1)customized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 2)</a:t>
            </a:r>
            <a:r>
              <a:rPr lang="en-US" altLang="zh-CN" dirty="0"/>
              <a:t>Common use </a:t>
            </a:r>
          </a:p>
          <a:p>
            <a:pPr>
              <a:lnSpc>
                <a:spcPct val="150000"/>
              </a:lnSpc>
            </a:pPr>
            <a:r>
              <a:rPr lang="en-US" dirty="0"/>
              <a:t>a. Text(): Selects all the text-node children of the context node.</a:t>
            </a:r>
          </a:p>
          <a:p>
            <a:pPr>
              <a:lnSpc>
                <a:spcPct val="150000"/>
              </a:lnSpc>
            </a:pPr>
            <a:r>
              <a:rPr lang="en-US" dirty="0"/>
              <a:t>b. Node():Is true for all nodes, regardless of type. Using this node test selects all element nodes, attribute nodes</a:t>
            </a:r>
          </a:p>
          <a:p>
            <a:pPr>
              <a:lnSpc>
                <a:spcPct val="150000"/>
              </a:lnSpc>
            </a:pPr>
            <a:r>
              <a:rPr lang="en-US" dirty="0"/>
              <a:t>c. processing-instruction nodes, etc. </a:t>
            </a:r>
            <a:endParaRPr lang="de-DE" dirty="0"/>
          </a:p>
          <a:p>
            <a:r>
              <a:rPr lang="de-DE" dirty="0"/>
              <a:t>d. comment():</a:t>
            </a:r>
            <a:r>
              <a:rPr lang="en-US" dirty="0"/>
              <a:t>Selects all the comment-node children of the context node.</a:t>
            </a:r>
            <a:endParaRPr lang="de-DE" dirty="0"/>
          </a:p>
          <a:p>
            <a:r>
              <a:rPr lang="de-DE" dirty="0"/>
              <a:t>processing-instruction()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36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/>
              <a:t>Predicates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Predicates: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Predicate refers to the XPath expression written in square brackets. It refers to restrict the selected nodes in a node set for some condition.</a:t>
            </a:r>
            <a:endParaRPr lang="de-DE" sz="1800" b="1" dirty="0"/>
          </a:p>
          <a:p>
            <a:pPr lvl="1" indent="0">
              <a:lnSpc>
                <a:spcPct val="150000"/>
              </a:lnSpc>
              <a:buNone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C7E87F3-1F8F-4662-AD44-EC19564CB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804755"/>
              </p:ext>
            </p:extLst>
          </p:nvPr>
        </p:nvGraphicFramePr>
        <p:xfrm>
          <a:off x="272480" y="3140968"/>
          <a:ext cx="8712967" cy="3049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855469757"/>
                    </a:ext>
                  </a:extLst>
                </a:gridCol>
                <a:gridCol w="7848871">
                  <a:extLst>
                    <a:ext uri="{9D8B030D-6E8A-4147-A177-3AD203B41FA5}">
                      <a16:colId xmlns:a16="http://schemas.microsoft.com/office/drawing/2014/main" val="3328730348"/>
                    </a:ext>
                  </a:extLst>
                </a:gridCol>
              </a:tblGrid>
              <a:tr h="48965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S.No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Predicate &amp;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140253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/person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[1]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 first person element which is child of the 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56514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/person</a:t>
                      </a:r>
                      <a:r>
                        <a:rPr lang="en-US" b="1" dirty="0"/>
                        <a:t>[last()]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/>
                        <a:t>Select last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en-US" dirty="0"/>
                        <a:t> element which is child of the 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dirty="0"/>
                        <a:t>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05906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/person</a:t>
                      </a:r>
                      <a:r>
                        <a:rPr lang="en-US" b="1" dirty="0"/>
                        <a:t>[@gender = ‘male’]</a:t>
                      </a:r>
                      <a:endParaRPr lang="en-US" dirty="0"/>
                    </a:p>
                    <a:p>
                      <a:r>
                        <a:rPr lang="en-US" dirty="0"/>
                        <a:t>Select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en-US" dirty="0"/>
                        <a:t> element with gender is Male.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697741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de-DE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/person</a:t>
                      </a:r>
                      <a:r>
                        <a:rPr lang="en-US" b="1" dirty="0"/>
                        <a:t>[age&gt;25]</a:t>
                      </a:r>
                      <a:endParaRPr lang="en-US" dirty="0"/>
                    </a:p>
                    <a:p>
                      <a:r>
                        <a:rPr lang="en-US" dirty="0"/>
                        <a:t>Select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</a:t>
                      </a:r>
                      <a:r>
                        <a:rPr lang="en-US" dirty="0"/>
                        <a:t> element with age &gt; 25.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64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59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/>
              <a:t>Predicates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Special predicates: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position()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last()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not()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2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/>
              <a:t>Predicates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/>
              <a:t>Logical </a:t>
            </a:r>
            <a:r>
              <a:rPr lang="de-DE" sz="1800" b="1" dirty="0" err="1"/>
              <a:t>operations</a:t>
            </a:r>
            <a:r>
              <a:rPr lang="de-DE" sz="1800" b="1" dirty="0"/>
              <a:t>:</a:t>
            </a: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Syntax: &lt;Expression&gt; </a:t>
            </a:r>
            <a:r>
              <a:rPr lang="en-US" dirty="0" err="1"/>
              <a:t>and|or</a:t>
            </a:r>
            <a:r>
              <a:rPr lang="en-US" dirty="0"/>
              <a:t> &lt;Expression  [Expression][Expression]</a:t>
            </a: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If(/..) then.. else ..</a:t>
            </a: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Example: find all male persons or persons with surname </a:t>
            </a: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A) Find node: //person =&gt; returns all person (employees and customer!)</a:t>
            </a: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/>
              <a:t>B) define condition: </a:t>
            </a:r>
          </a:p>
          <a:p>
            <a:pPr marL="830263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//person[surname=“Sack”]</a:t>
            </a:r>
          </a:p>
          <a:p>
            <a:pPr marL="830263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//person[@gender=“male”]</a:t>
            </a:r>
          </a:p>
          <a:p>
            <a:pPr marL="644525" lvl="2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C) add operation:</a:t>
            </a:r>
          </a:p>
          <a:p>
            <a:pPr marL="830263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//person[surname=“Sack” or @gender=“male”]</a:t>
            </a:r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 2: find all male persons which are older than 30 years:</a:t>
            </a:r>
          </a:p>
          <a:p>
            <a:pPr marL="830263" lvl="3" indent="-285750">
              <a:lnSpc>
                <a:spcPct val="150000"/>
              </a:lnSpc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 //person[surname=“Sack”][age &gt; 30]</a:t>
            </a:r>
            <a:endParaRPr lang="en-US" dirty="0"/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Functions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Important</a:t>
            </a:r>
            <a:r>
              <a:rPr lang="de-DE" sz="1800" b="1" dirty="0"/>
              <a:t>  </a:t>
            </a:r>
            <a:r>
              <a:rPr lang="de-DE" sz="1800" b="1" dirty="0" err="1"/>
              <a:t>functions</a:t>
            </a:r>
            <a:r>
              <a:rPr lang="de-DE" sz="1800" b="1" dirty="0"/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</a:t>
            </a:r>
            <a:r>
              <a:rPr lang="de-DE" dirty="0"/>
              <a:t>()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substring-before</a:t>
            </a:r>
            <a:r>
              <a:rPr lang="de-DE" dirty="0"/>
              <a:t>(</a:t>
            </a:r>
            <a:r>
              <a:rPr lang="de-DE" dirty="0" err="1"/>
              <a:t>source</a:t>
            </a:r>
            <a:r>
              <a:rPr lang="de-DE" dirty="0"/>
              <a:t>, </a:t>
            </a:r>
            <a:r>
              <a:rPr lang="de-DE" dirty="0" err="1"/>
              <a:t>splitter</a:t>
            </a:r>
            <a:r>
              <a:rPr lang="de-DE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substring</a:t>
            </a:r>
            <a:r>
              <a:rPr lang="de-DE" dirty="0"/>
              <a:t>-after(</a:t>
            </a:r>
            <a:r>
              <a:rPr lang="de-DE" dirty="0" err="1"/>
              <a:t>source</a:t>
            </a:r>
            <a:r>
              <a:rPr lang="de-DE" dirty="0"/>
              <a:t>, </a:t>
            </a:r>
            <a:r>
              <a:rPr lang="de-DE" dirty="0" err="1"/>
              <a:t>splitter</a:t>
            </a:r>
            <a:r>
              <a:rPr lang="de-DE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string-length</a:t>
            </a:r>
            <a:r>
              <a:rPr lang="de-DE" dirty="0"/>
              <a:t>()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count()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c</a:t>
            </a:r>
            <a:r>
              <a:rPr lang="en-US" sz="1600" dirty="0" err="1"/>
              <a:t>oncat</a:t>
            </a:r>
            <a:r>
              <a:rPr lang="en-US" sz="1600" dirty="0"/>
              <a:t>()</a:t>
            </a:r>
            <a:endParaRPr lang="de-DE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name</a:t>
            </a:r>
            <a:r>
              <a:rPr lang="de-DE" dirty="0"/>
              <a:t>()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dirty="0" err="1"/>
              <a:t>max</a:t>
            </a:r>
            <a:r>
              <a:rPr lang="de-DE" dirty="0"/>
              <a:t>()</a:t>
            </a:r>
            <a:r>
              <a:rPr lang="en-US" dirty="0"/>
              <a:t> 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de-DE" dirty="0"/>
              <a:t>min() </a:t>
            </a:r>
            <a:r>
              <a:rPr lang="en-US" dirty="0"/>
              <a:t>(</a:t>
            </a:r>
            <a:r>
              <a:rPr lang="en-US" dirty="0" err="1"/>
              <a:t>Xpath</a:t>
            </a:r>
            <a:r>
              <a:rPr lang="en-US" dirty="0"/>
              <a:t> 2.0!)</a:t>
            </a:r>
            <a:endParaRPr lang="de-DE" dirty="0"/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upper-case (</a:t>
            </a:r>
            <a:r>
              <a:rPr lang="en-US" dirty="0" err="1"/>
              <a:t>Xpath</a:t>
            </a:r>
            <a:r>
              <a:rPr lang="en-US" dirty="0"/>
              <a:t> 2.0!)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lower-case (</a:t>
            </a:r>
            <a:r>
              <a:rPr lang="en-US" dirty="0" err="1"/>
              <a:t>Xpath</a:t>
            </a:r>
            <a:r>
              <a:rPr lang="en-US" dirty="0"/>
              <a:t> 2.0!)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format-number(number,format,[decimalformat]) (Xpath 3.0!)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3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Functions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platzhalter 15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b="1" dirty="0" err="1"/>
              <a:t>Important</a:t>
            </a:r>
            <a:r>
              <a:rPr lang="de-DE" sz="1800" b="1" dirty="0"/>
              <a:t>  </a:t>
            </a:r>
            <a:r>
              <a:rPr lang="de-DE" sz="1800" b="1" dirty="0" err="1"/>
              <a:t>functions</a:t>
            </a:r>
            <a:r>
              <a:rPr lang="de-DE" sz="1800" b="1" dirty="0"/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Normalize-space()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Translate()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de-DE" dirty="0"/>
              <a:t>tokenize()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en-US" dirty="0"/>
              <a:t>https://www.w3school.com.cn/xpath/xpath_functions.asp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75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5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FD6C9F-E815-411F-A073-4443EB58E7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78E111-E56C-4F90-879B-FBA01762B9B7}">
  <ds:schemaRefs>
    <ds:schemaRef ds:uri="http://schemas.microsoft.com/office/2006/metadata/properties"/>
    <ds:schemaRef ds:uri="http://schemas.microsoft.com/office/infopath/2007/PartnerControls"/>
    <ds:schemaRef ds:uri="36e88c28-51f7-4cf2-bf07-d5dd31bd1c61"/>
  </ds:schemaRefs>
</ds:datastoreItem>
</file>

<file path=customXml/itemProps3.xml><?xml version="1.0" encoding="utf-8"?>
<ds:datastoreItem xmlns:ds="http://schemas.openxmlformats.org/officeDocument/2006/customXml" ds:itemID="{A65F339F-7AB4-4770-955C-83988E769C5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1304</TotalTime>
  <Words>903</Words>
  <Application>Microsoft Office PowerPoint</Application>
  <PresentationFormat>A4 Paper (210x297 mm)</PresentationFormat>
  <Paragraphs>193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Die Bahn_2003</vt:lpstr>
      <vt:lpstr>PowerPoint Presentation</vt:lpstr>
      <vt:lpstr>XSLT Knowledge</vt:lpstr>
      <vt:lpstr>XML-Basic knowledge</vt:lpstr>
      <vt:lpstr>What is XML  </vt:lpstr>
      <vt:lpstr>XPath-Expression </vt:lpstr>
      <vt:lpstr>Axis-model  </vt:lpstr>
      <vt:lpstr>Axis-model  </vt:lpstr>
      <vt:lpstr>Axis-model  </vt:lpstr>
      <vt:lpstr>Axis-model </vt:lpstr>
      <vt:lpstr>Node-test </vt:lpstr>
      <vt:lpstr>Node-test </vt:lpstr>
      <vt:lpstr>Predicates </vt:lpstr>
      <vt:lpstr>Predicates </vt:lpstr>
      <vt:lpstr>Predicates </vt:lpstr>
      <vt:lpstr>Functions </vt:lpstr>
      <vt:lpstr>Functions </vt:lpstr>
      <vt:lpstr>PowerPoint Presentation</vt:lpstr>
    </vt:vector>
  </TitlesOfParts>
  <Company>DB Schenker Deutschland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Yang, Charles</cp:lastModifiedBy>
  <cp:revision>634</cp:revision>
  <cp:lastPrinted>2012-11-23T10:04:04Z</cp:lastPrinted>
  <dcterms:created xsi:type="dcterms:W3CDTF">2012-01-09T10:50:23Z</dcterms:created>
  <dcterms:modified xsi:type="dcterms:W3CDTF">2022-05-23T01:36:37Z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2022-05-11T06:44:03Z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1a45ac71-7b1a-46e2-8ad9-4f8a50defe46</vt:lpwstr>
  </property>
  <property fmtid="{D5CDD505-2E9C-101B-9397-08002B2CF9AE}" pid="9" name="MSIP_Label_705c9e18-d393-4470-8b67-9616c62ec31f_ContentBits">
    <vt:lpwstr>0</vt:lpwstr>
  </property>
</Properties>
</file>