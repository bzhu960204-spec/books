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5" r:id="rId4"/>
  </p:sldMasterIdLst>
  <p:notesMasterIdLst>
    <p:notesMasterId r:id="rId14"/>
  </p:notesMasterIdLst>
  <p:handoutMasterIdLst>
    <p:handoutMasterId r:id="rId15"/>
  </p:handoutMasterIdLst>
  <p:sldIdLst>
    <p:sldId id="352" r:id="rId5"/>
    <p:sldId id="396" r:id="rId6"/>
    <p:sldId id="425" r:id="rId7"/>
    <p:sldId id="421" r:id="rId8"/>
    <p:sldId id="422" r:id="rId9"/>
    <p:sldId id="423" r:id="rId10"/>
    <p:sldId id="424" r:id="rId11"/>
    <p:sldId id="397" r:id="rId12"/>
    <p:sldId id="379" r:id="rId13"/>
  </p:sldIdLst>
  <p:sldSz cx="9906000" cy="6858000" type="A4"/>
  <p:notesSz cx="6797675" cy="9874250"/>
  <p:custDataLst>
    <p:tags r:id="rId16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570">
          <p15:clr>
            <a:srgbClr val="A4A3A4"/>
          </p15:clr>
        </p15:guide>
        <p15:guide id="3" orient="horz" pos="3566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3521">
          <p15:clr>
            <a:srgbClr val="A4A3A4"/>
          </p15:clr>
        </p15:guide>
        <p15:guide id="7" orient="horz" pos="981">
          <p15:clr>
            <a:srgbClr val="A4A3A4"/>
          </p15:clr>
        </p15:guide>
        <p15:guide id="8" orient="horz" pos="3339">
          <p15:clr>
            <a:srgbClr val="A4A3A4"/>
          </p15:clr>
        </p15:guide>
        <p15:guide id="9" orient="horz" pos="3067">
          <p15:clr>
            <a:srgbClr val="A4A3A4"/>
          </p15:clr>
        </p15:guide>
        <p15:guide id="10" orient="horz" pos="1389">
          <p15:clr>
            <a:srgbClr val="A4A3A4"/>
          </p15:clr>
        </p15:guide>
        <p15:guide id="11" orient="horz" pos="4156">
          <p15:clr>
            <a:srgbClr val="A4A3A4"/>
          </p15:clr>
        </p15:guide>
        <p15:guide id="12" pos="1532">
          <p15:clr>
            <a:srgbClr val="A4A3A4"/>
          </p15:clr>
        </p15:guide>
        <p15:guide id="13" pos="6114">
          <p15:clr>
            <a:srgbClr val="A4A3A4"/>
          </p15:clr>
        </p15:guide>
        <p15:guide id="14" pos="3120">
          <p15:clr>
            <a:srgbClr val="A4A3A4"/>
          </p15:clr>
        </p15:guide>
        <p15:guide id="15" pos="23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A07098-EDD7-3A44-64FF-9722312EF804}" v="2" dt="2022-10-31T06:21:04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6" autoAdjust="0"/>
    <p:restoredTop sz="94645" autoAdjust="0"/>
  </p:normalViewPr>
  <p:slideViewPr>
    <p:cSldViewPr showGuides="1">
      <p:cViewPr>
        <p:scale>
          <a:sx n="90" d="100"/>
          <a:sy n="90" d="100"/>
        </p:scale>
        <p:origin x="-1440" y="-348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g, Grace" userId="S::grace.g.jiang@dbschenker.com::087d71d5-04e2-48c4-a32e-de7dacc6710c" providerId="AD" clId="Web-{C7A07098-EDD7-3A44-64FF-9722312EF804}"/>
    <pc:docChg chg="modSld">
      <pc:chgData name="Jiang, Grace" userId="S::grace.g.jiang@dbschenker.com::087d71d5-04e2-48c4-a32e-de7dacc6710c" providerId="AD" clId="Web-{C7A07098-EDD7-3A44-64FF-9722312EF804}" dt="2022-10-31T06:21:04.716" v="1" actId="1076"/>
      <pc:docMkLst>
        <pc:docMk/>
      </pc:docMkLst>
      <pc:sldChg chg="modSp">
        <pc:chgData name="Jiang, Grace" userId="S::grace.g.jiang@dbschenker.com::087d71d5-04e2-48c4-a32e-de7dacc6710c" providerId="AD" clId="Web-{C7A07098-EDD7-3A44-64FF-9722312EF804}" dt="2022-10-31T06:21:04.716" v="1" actId="1076"/>
        <pc:sldMkLst>
          <pc:docMk/>
          <pc:sldMk cId="1946210123" sldId="397"/>
        </pc:sldMkLst>
        <pc:spChg chg="mod">
          <ac:chgData name="Jiang, Grace" userId="S::grace.g.jiang@dbschenker.com::087d71d5-04e2-48c4-a32e-de7dacc6710c" providerId="AD" clId="Web-{C7A07098-EDD7-3A44-64FF-9722312EF804}" dt="2022-10-31T06:21:04.716" v="1" actId="1076"/>
          <ac:spMkLst>
            <pc:docMk/>
            <pc:sldMk cId="1946210123" sldId="397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777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4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170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273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99696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85976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67143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95550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73575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8973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  <a:pPr/>
              <a:t>‹#›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</p:spTree>
    <p:extLst>
      <p:ext uri="{BB962C8B-B14F-4D97-AF65-F5344CB8AC3E}">
        <p14:creationId xmlns:p14="http://schemas.microsoft.com/office/powerpoint/2010/main" val="183782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1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174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82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63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75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99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953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10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0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605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71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560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578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53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93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794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97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4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7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96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207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765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1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35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36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286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2650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</a:p>
        </p:txBody>
      </p:sp>
    </p:spTree>
    <p:extLst>
      <p:ext uri="{BB962C8B-B14F-4D97-AF65-F5344CB8AC3E}">
        <p14:creationId xmlns:p14="http://schemas.microsoft.com/office/powerpoint/2010/main" val="306893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22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15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606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  <a:pPr/>
              <a:t>‹#›</a:t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5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9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838" r:id="rId2"/>
    <p:sldLayoutId id="2147483839" r:id="rId3"/>
    <p:sldLayoutId id="2147483841" r:id="rId4"/>
    <p:sldLayoutId id="2147483842" r:id="rId5"/>
    <p:sldLayoutId id="2147483843" r:id="rId6"/>
    <p:sldLayoutId id="2147483840" r:id="rId7"/>
    <p:sldLayoutId id="2147483844" r:id="rId8"/>
    <p:sldLayoutId id="2147483687" r:id="rId9"/>
    <p:sldLayoutId id="214748378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3" r:id="rId21"/>
    <p:sldLayoutId id="2147483809" r:id="rId22"/>
    <p:sldLayoutId id="2147483810" r:id="rId23"/>
    <p:sldLayoutId id="2147483811" r:id="rId24"/>
    <p:sldLayoutId id="2147483822" r:id="rId25"/>
    <p:sldLayoutId id="2147483823" r:id="rId26"/>
    <p:sldLayoutId id="2147483824" r:id="rId27"/>
    <p:sldLayoutId id="2147483845" r:id="rId28"/>
    <p:sldLayoutId id="2147483846" r:id="rId29"/>
    <p:sldLayoutId id="2147483847" r:id="rId30"/>
    <p:sldLayoutId id="2147483848" r:id="rId31"/>
    <p:sldLayoutId id="2147483853" r:id="rId32"/>
    <p:sldLayoutId id="2147483854" r:id="rId33"/>
    <p:sldLayoutId id="2147483855" r:id="rId34"/>
    <p:sldLayoutId id="2147483849" r:id="rId35"/>
    <p:sldLayoutId id="2147483850" r:id="rId36"/>
    <p:sldLayoutId id="2147483851" r:id="rId37"/>
    <p:sldLayoutId id="2147483701" r:id="rId38"/>
    <p:sldLayoutId id="2147483815" r:id="rId39"/>
    <p:sldLayoutId id="2147483819" r:id="rId40"/>
    <p:sldLayoutId id="2147483820" r:id="rId41"/>
    <p:sldLayoutId id="2147483821" r:id="rId42"/>
    <p:sldLayoutId id="2147483800" r:id="rId4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5738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513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6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58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0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2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4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TR/html4/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bschenker.com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dirty="0"/>
              <a:t>XML- Namespaces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</a:p>
        </p:txBody>
      </p:sp>
    </p:spTree>
    <p:extLst>
      <p:ext uri="{BB962C8B-B14F-4D97-AF65-F5344CB8AC3E}">
        <p14:creationId xmlns:p14="http://schemas.microsoft.com/office/powerpoint/2010/main" val="420321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Problem of possible conflicts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XML tags are </a:t>
            </a:r>
            <a:r>
              <a:rPr lang="en-US" b="1" dirty="0"/>
              <a:t>not well known </a:t>
            </a:r>
            <a:r>
              <a:rPr lang="en-US" dirty="0"/>
              <a:t>per definition!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A &lt;table&gt;-tag could be a html-table, or a furniture…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So it’s not clear what is mentioned if you are looking for a &lt;table&gt;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Namespaces avoid element name conflicts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Clarify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meaning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tag</a:t>
            </a:r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 Namespaces</a:t>
            </a:r>
            <a:br>
              <a:rPr lang="en-US" dirty="0"/>
            </a:b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592" y="2752725"/>
            <a:ext cx="22479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936" y="2652209"/>
            <a:ext cx="32766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Gewitterblitz 1"/>
          <p:cNvSpPr/>
          <p:nvPr/>
        </p:nvSpPr>
        <p:spPr bwMode="auto">
          <a:xfrm>
            <a:off x="3656856" y="2996952"/>
            <a:ext cx="576064" cy="720080"/>
          </a:xfrm>
          <a:prstGeom prst="lightningBol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4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How</a:t>
            </a:r>
            <a:r>
              <a:rPr lang="de-DE" sz="1800" b="1" dirty="0"/>
              <a:t> </a:t>
            </a:r>
            <a:r>
              <a:rPr lang="de-DE" sz="1800" b="1" dirty="0" err="1"/>
              <a:t>to</a:t>
            </a:r>
            <a:r>
              <a:rPr lang="de-DE" sz="1800" b="1" dirty="0"/>
              <a:t> </a:t>
            </a:r>
            <a:r>
              <a:rPr lang="de-DE" sz="1800" b="1" dirty="0" err="1"/>
              <a:t>solve</a:t>
            </a:r>
            <a:r>
              <a:rPr lang="de-DE" sz="1800" b="1" dirty="0"/>
              <a:t>?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We need a possibility to differentiate between available options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Namespaces avoid element name conflicts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Namespace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seen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„</a:t>
            </a:r>
            <a:r>
              <a:rPr lang="de-DE" dirty="0" err="1"/>
              <a:t>grammar</a:t>
            </a:r>
            <a:r>
              <a:rPr lang="de-DE" dirty="0"/>
              <a:t>“:</a:t>
            </a:r>
            <a:br>
              <a:rPr lang="de-DE" dirty="0"/>
            </a:br>
            <a:r>
              <a:rPr lang="de-DE" dirty="0"/>
              <a:t>	</a:t>
            </a:r>
          </a:p>
          <a:p>
            <a:pPr>
              <a:lnSpc>
                <a:spcPct val="150000"/>
              </a:lnSpc>
            </a:pPr>
            <a:r>
              <a:rPr lang="de-DE" dirty="0">
                <a:sym typeface="Wingdings" panose="05000000000000000000" pitchFamily="2" charset="2"/>
              </a:rPr>
              <a:t>		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a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meaning</a:t>
            </a:r>
            <a:r>
              <a:rPr lang="de-DE" dirty="0"/>
              <a:t> in </a:t>
            </a:r>
            <a:r>
              <a:rPr lang="de-DE" dirty="0" err="1"/>
              <a:t>his</a:t>
            </a:r>
            <a:r>
              <a:rPr lang="de-DE" dirty="0"/>
              <a:t> </a:t>
            </a:r>
            <a:r>
              <a:rPr lang="de-DE" dirty="0" err="1"/>
              <a:t>grammar</a:t>
            </a:r>
            <a:endParaRPr lang="de-DE" dirty="0"/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 Namespaces</a:t>
            </a:r>
            <a:br>
              <a:rPr lang="en-US" dirty="0"/>
            </a:b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340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Defenition</a:t>
            </a:r>
            <a:r>
              <a:rPr lang="de-DE" sz="1800" b="1" dirty="0"/>
              <a:t> </a:t>
            </a:r>
            <a:r>
              <a:rPr lang="de-DE" sz="1800" b="1" dirty="0" err="1"/>
              <a:t>of</a:t>
            </a:r>
            <a:r>
              <a:rPr lang="de-DE" sz="1800" b="1" dirty="0"/>
              <a:t> a </a:t>
            </a:r>
            <a:r>
              <a:rPr lang="de-DE" sz="1800" b="1" dirty="0" err="1"/>
              <a:t>namespace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Namespaces are declared in the elements where they are used or in the XML root element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nl-NL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root xmlns:ns=</a:t>
            </a:r>
            <a:r>
              <a:rPr lang="nl-NL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  <a:hlinkClick r:id="rId2"/>
              </a:rPr>
              <a:t>“http://www.dbschenker.com/</a:t>
            </a:r>
            <a:r>
              <a:rPr lang="nl-NL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mynamespace”&gt;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The namespace URI could be anything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The namespace URI is </a:t>
            </a:r>
            <a:r>
              <a:rPr lang="en-US" b="1" u="sng" dirty="0"/>
              <a:t>not</a:t>
            </a:r>
            <a:r>
              <a:rPr lang="en-US" dirty="0"/>
              <a:t> used by the parser to look up information.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 so there is no need to store any kind of data on this URI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The name of the namespace (ns) can be anything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Example:</a:t>
            </a:r>
          </a:p>
          <a:p>
            <a:pPr marL="644525" lvl="2" indent="-285750">
              <a:buFontTx/>
              <a:buChar char="-"/>
            </a:pP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&lt;root xmlns:ns="</a:t>
            </a:r>
            <a:r>
              <a:rPr lang="nl-NL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  <a:hlinkClick r:id="rId2"/>
              </a:rPr>
              <a:t> http://www.dbschenker.com/</a:t>
            </a:r>
            <a:r>
              <a:rPr lang="nl-NL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mynamespace/”&gt;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&lt;ns:table&gt;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  	  &lt;ns:tr&gt;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   &lt;ns:td&gt;Apples&lt;/ns:td&gt;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      &lt;ns:td&gt;Bananas&lt;/ns:td&gt;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  &lt;/ns:tr&gt;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&lt;/ns:table&gt;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&lt;/root&gt;</a:t>
            </a:r>
          </a:p>
          <a:p>
            <a:pPr marL="644525" lvl="2" indent="-285750">
              <a:buFontTx/>
              <a:buChar char="-"/>
            </a:pPr>
            <a:endParaRPr lang="en-US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endParaRPr lang="en-US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 Namespaces</a:t>
            </a:r>
            <a:br>
              <a:rPr lang="en-US" dirty="0"/>
            </a:b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515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Default </a:t>
            </a:r>
            <a:r>
              <a:rPr lang="en-US" sz="2000" b="1" dirty="0"/>
              <a:t>Namespaces</a:t>
            </a: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sz="1800" dirty="0"/>
              <a:t>- Default namespaces can be used to reduce the overhead:</a:t>
            </a:r>
            <a:endParaRPr lang="en-US" sz="1800" b="1" dirty="0"/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endParaRPr lang="en-US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5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 Namespaces</a:t>
            </a:r>
            <a:br>
              <a:rPr lang="en-US" dirty="0"/>
            </a:b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 txBox="1">
            <a:spLocks/>
          </p:cNvSpPr>
          <p:nvPr/>
        </p:nvSpPr>
        <p:spPr bwMode="auto">
          <a:xfrm>
            <a:off x="386764" y="2492896"/>
            <a:ext cx="4600575" cy="2583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5738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8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2pPr>
            <a:lvl3pPr marL="358775" indent="-1714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544513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7286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1858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6430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1002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5574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&lt;root&gt;</a:t>
            </a:r>
          </a:p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&lt;table 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xmlns:ns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="http://www..."&gt;</a:t>
            </a:r>
          </a:p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&lt;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ns:tr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ns:td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&gt;Apples&lt;/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ns:td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ns:td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&gt;Bananas&lt;/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ns:td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&lt;/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ns:tr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&lt;/table&gt;</a:t>
            </a:r>
          </a:p>
          <a:p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&lt;/root&gt;</a:t>
            </a:r>
            <a:endParaRPr lang="en-US" kern="0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de-DE" kern="0" dirty="0"/>
          </a:p>
          <a:p>
            <a:endParaRPr lang="de-DE" kern="0" dirty="0"/>
          </a:p>
          <a:p>
            <a:endParaRPr lang="en-US" kern="0" dirty="0"/>
          </a:p>
        </p:txBody>
      </p:sp>
      <p:sp>
        <p:nvSpPr>
          <p:cNvPr id="7" name="Textplatzhalter 15"/>
          <p:cNvSpPr txBox="1">
            <a:spLocks/>
          </p:cNvSpPr>
          <p:nvPr/>
        </p:nvSpPr>
        <p:spPr bwMode="auto">
          <a:xfrm>
            <a:off x="4987339" y="2487141"/>
            <a:ext cx="4600575" cy="2583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5738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8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2pPr>
            <a:lvl3pPr marL="358775" indent="-1714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544513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7286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1858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6430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1002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5574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 indent="0">
              <a:buNone/>
            </a:pP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&lt;root&gt;</a:t>
            </a:r>
            <a:b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pt-BR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&lt;table 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xmlns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="</a:t>
            </a:r>
            <a:r>
              <a:rPr lang="nl-NL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  <a:hlinkClick r:id="rId2"/>
              </a:rPr>
              <a:t>http://www..</a:t>
            </a:r>
            <a:r>
              <a:rPr lang="nl-NL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.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"&gt;</a:t>
            </a:r>
            <a:b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  &lt;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tr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  <a:b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    &lt;td&gt;Apples&lt;/td&gt;</a:t>
            </a:r>
            <a:b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      &lt;td&gt;Bananas&lt;/td&gt;</a:t>
            </a:r>
            <a:b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    &lt;/</a:t>
            </a:r>
            <a:r>
              <a:rPr lang="en-US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tr</a:t>
            </a: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  <a:b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&lt;/table&gt; </a:t>
            </a:r>
            <a:b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</a:br>
            <a:r>
              <a:rPr lang="en-US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&lt;/root&gt;</a:t>
            </a:r>
          </a:p>
          <a:p>
            <a:pPr>
              <a:lnSpc>
                <a:spcPct val="150000"/>
              </a:lnSpc>
            </a:pPr>
            <a:endParaRPr lang="de-DE" kern="0" dirty="0"/>
          </a:p>
          <a:p>
            <a:endParaRPr lang="de-DE" kern="0" dirty="0"/>
          </a:p>
          <a:p>
            <a:endParaRPr lang="en-US" kern="0" dirty="0"/>
          </a:p>
        </p:txBody>
      </p:sp>
      <p:sp>
        <p:nvSpPr>
          <p:cNvPr id="2" name="Pfeil nach rechts 1"/>
          <p:cNvSpPr/>
          <p:nvPr/>
        </p:nvSpPr>
        <p:spPr bwMode="auto">
          <a:xfrm>
            <a:off x="4160912" y="3140968"/>
            <a:ext cx="1080120" cy="864096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5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Multiple</a:t>
            </a:r>
            <a:r>
              <a:rPr lang="en-US" dirty="0"/>
              <a:t> </a:t>
            </a:r>
            <a:r>
              <a:rPr lang="en-US" sz="1800" b="1" dirty="0"/>
              <a:t>Namespaces</a:t>
            </a:r>
            <a:endParaRPr lang="en-US" dirty="0"/>
          </a:p>
          <a:p>
            <a:r>
              <a:rPr lang="nl-NL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&lt;root xmlns:h="http://www.dbschenker.com/html" </a:t>
            </a:r>
          </a:p>
          <a:p>
            <a:r>
              <a:rPr lang="nl-NL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xmlns:f="http://www.dbschenker.com/furniture"&gt;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h:tr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h:td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&gt;African Coffee Table&lt;/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	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&gt;80&lt;/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	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&gt;120&lt;/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	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   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h:td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h:td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	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&gt;Kitchen Table&lt;/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	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&gt;100&lt;/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	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&gt;200&lt;/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	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    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h:td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     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h:tr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	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h:table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&lt;/root&gt;</a:t>
            </a:r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endParaRPr lang="en-US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endParaRPr lang="en-US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 Namespaces</a:t>
            </a:r>
            <a:br>
              <a:rPr lang="en-US" dirty="0"/>
            </a:b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56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Multiple Namespaces / default Namespaces</a:t>
            </a:r>
            <a:endParaRPr lang="nl-NL" sz="1800" b="1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&lt;root 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xmlns:h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="http://www.dbschenker.com/html" 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xmlns:f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="http://www.dbschenker.com/furniture"&gt;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&lt;table 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xmlns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="http://www.dbschenker.com/html"&gt;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tr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&lt;td&gt;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&gt;African Coffee Table&lt;/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&gt;80&lt;/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&gt;120&lt;/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&lt;/td&gt;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&lt;td&gt;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&gt;Kitchen Table&lt;/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&gt;100&lt;/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&gt;200&lt;/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&lt;/td&gt;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&lt;/</a:t>
            </a:r>
            <a:r>
              <a:rPr lang="en-US" sz="140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tr</a:t>
            </a:r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&lt;/table&gt;</a:t>
            </a:r>
          </a:p>
          <a:p>
            <a:r>
              <a:rPr lang="en-US" sz="140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&lt;/root&gt;</a:t>
            </a:r>
            <a:endParaRPr lang="en-US" dirty="0">
              <a:latin typeface="BatangChe" panose="02030609000101010101" pitchFamily="49" charset="-127"/>
              <a:ea typeface="BatangChe" panose="02030609000101010101" pitchFamily="49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7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 Namespaces</a:t>
            </a:r>
            <a:br>
              <a:rPr lang="en-US" dirty="0"/>
            </a:b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732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XML- Namespaces</a:t>
            </a:r>
            <a:br>
              <a:rPr lang="en-US" dirty="0"/>
            </a:b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340768"/>
            <a:ext cx="9505950" cy="51125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Xpath</a:t>
            </a:r>
            <a:r>
              <a:rPr lang="de-DE" sz="1800" b="1" dirty="0"/>
              <a:t> </a:t>
            </a:r>
            <a:r>
              <a:rPr lang="de-DE" sz="1800" b="1" dirty="0" err="1"/>
              <a:t>access</a:t>
            </a:r>
            <a:endParaRPr lang="de-DE" sz="1800" b="1" dirty="0"/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&lt;root 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xmlns:f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="http://www.dbschenker.com/furniture"&gt;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&lt;table 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xmlns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="http://www.dbschenker.com/html"&gt;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tr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&lt;td&gt;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&gt;African Coffee Table&lt;/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&gt;80&lt;/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&gt;120&lt;/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&lt;/td&gt;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&lt;td&gt;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&gt;Kitchen Table&lt;/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f:name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&gt;100&lt;/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f:width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   &lt;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&gt;200&lt;/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f:length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   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f:table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   &lt;/td&gt;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   &lt;/</a:t>
            </a:r>
            <a:r>
              <a:rPr lang="en-US" sz="1050" dirty="0" err="1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tr</a:t>
            </a:r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&gt;</a:t>
            </a:r>
          </a:p>
          <a:p>
            <a:r>
              <a:rPr lang="en-US" sz="1050" dirty="0">
                <a:latin typeface="BatangChe" panose="02030609000101010101" pitchFamily="49" charset="-127"/>
                <a:ea typeface="BatangChe" panose="02030609000101010101" pitchFamily="49" charset="-127"/>
                <a:cs typeface="Arial" panose="020B0604020202020204" pitchFamily="34" charset="0"/>
              </a:rPr>
              <a:t>   &lt;/table&gt;</a:t>
            </a:r>
          </a:p>
          <a:p>
            <a:pPr lvl="0">
              <a:lnSpc>
                <a:spcPct val="150000"/>
              </a:lnSpc>
            </a:pPr>
            <a:r>
              <a:rPr lang="en-US" sz="1050" dirty="0"/>
              <a:t>&lt;/root&gt;</a:t>
            </a:r>
            <a:br>
              <a:rPr lang="en-US" sz="1050" dirty="0"/>
            </a:br>
            <a:r>
              <a:rPr lang="en-US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Furniture table:</a:t>
            </a:r>
          </a:p>
          <a:p>
            <a:pPr lvl="0">
              <a:lnSpc>
                <a:spcPct val="150000"/>
              </a:lnSpc>
            </a:pPr>
            <a:r>
              <a:rPr lang="en-US" sz="1400" dirty="0"/>
              <a:t>//</a:t>
            </a:r>
            <a:r>
              <a:rPr lang="en-US" sz="1400" dirty="0" err="1"/>
              <a:t>f:table</a:t>
            </a:r>
            <a:endParaRPr lang="en-US" sz="1400" dirty="0"/>
          </a:p>
          <a:p>
            <a:endParaRPr lang="en-US" sz="1050" dirty="0"/>
          </a:p>
          <a:p>
            <a:r>
              <a:rPr lang="en-US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Html table</a:t>
            </a:r>
            <a:r>
              <a:rPr lang="en-US" sz="1400" dirty="0"/>
              <a:t>:</a:t>
            </a:r>
            <a:br>
              <a:rPr lang="en-US" dirty="0"/>
            </a:br>
            <a:r>
              <a:rPr lang="en-US" sz="1400" dirty="0"/>
              <a:t>//*[name()="table" and namespace-</a:t>
            </a:r>
            <a:r>
              <a:rPr lang="en-US" sz="1400" dirty="0" err="1"/>
              <a:t>uri</a:t>
            </a:r>
            <a:r>
              <a:rPr lang="en-US" sz="1400" dirty="0"/>
              <a:t>()="http://www.dbschenker.com/html"]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1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15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6e88c28-51f7-4cf2-bf07-d5dd31bd1c61" xsi:nil="true"/>
    <TaxCatchAll xmlns="ebd01039-58b0-4616-9cbc-df5c8ae803a8" xsi:nil="true"/>
    <lcf76f155ced4ddcb4097134ff3c332f xmlns="36e88c28-51f7-4cf2-bf07-d5dd31bd1c6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226AA39FA88A44AFA62822AA17F4C7" ma:contentTypeVersion="17" ma:contentTypeDescription="Create a new document." ma:contentTypeScope="" ma:versionID="c0535d27d85ef8e73c7490146f1a7776">
  <xsd:schema xmlns:xsd="http://www.w3.org/2001/XMLSchema" xmlns:xs="http://www.w3.org/2001/XMLSchema" xmlns:p="http://schemas.microsoft.com/office/2006/metadata/properties" xmlns:ns2="36e88c28-51f7-4cf2-bf07-d5dd31bd1c61" xmlns:ns3="ebd01039-58b0-4616-9cbc-df5c8ae803a8" targetNamespace="http://schemas.microsoft.com/office/2006/metadata/properties" ma:root="true" ma:fieldsID="d64e3a2961643c026222916d5e9ecfd7" ns2:_="" ns3:_="">
    <xsd:import namespace="36e88c28-51f7-4cf2-bf07-d5dd31bd1c61"/>
    <xsd:import namespace="ebd01039-58b0-4616-9cbc-df5c8ae80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_Flow_SignoffStatu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88c28-51f7-4cf2-bf07-d5dd31bd1c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6" nillable="true" ma:displayName="Sign-off status" ma:internalName="_x0024_Resources_x003a_core_x002c_Signoff_Status_x003b_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2fdd27-ee36-42ac-901d-ae0f66495c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01039-58b0-4616-9cbc-df5c8ae80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a76a38d-9741-4a60-801e-cd6cd965268c}" ma:internalName="TaxCatchAll" ma:showField="CatchAllData" ma:web="ebd01039-58b0-4616-9cbc-df5c8ae80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78E111-E56C-4F90-879B-FBA01762B9B7}">
  <ds:schemaRefs>
    <ds:schemaRef ds:uri="http://schemas.microsoft.com/office/2006/metadata/properties"/>
    <ds:schemaRef ds:uri="http://schemas.microsoft.com/office/infopath/2007/PartnerControls"/>
    <ds:schemaRef ds:uri="36e88c28-51f7-4cf2-bf07-d5dd31bd1c61"/>
    <ds:schemaRef ds:uri="ebd01039-58b0-4616-9cbc-df5c8ae803a8"/>
  </ds:schemaRefs>
</ds:datastoreItem>
</file>

<file path=customXml/itemProps2.xml><?xml version="1.0" encoding="utf-8"?>
<ds:datastoreItem xmlns:ds="http://schemas.openxmlformats.org/officeDocument/2006/customXml" ds:itemID="{60FD6C9F-E815-411F-A073-4443EB58E7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9D4E51-7723-44FD-B380-007EDF7824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88c28-51f7-4cf2-bf07-d5dd31bd1c61"/>
    <ds:schemaRef ds:uri="ebd01039-58b0-4616-9cbc-df5c8ae803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05c9e18-d393-4470-8b67-9616c62ec31f}" enabled="1" method="Standard" siteId="{c5d1e823-e2b8-46bf-92ff-84f54313e0a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452</Words>
  <Application>Microsoft Office PowerPoint</Application>
  <PresentationFormat>A4 纸张(210x297 毫米)</PresentationFormat>
  <Paragraphs>135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Die Bahn_2003</vt:lpstr>
      <vt:lpstr>PowerPoint 演示文稿</vt:lpstr>
      <vt:lpstr>XML- Namespaces   </vt:lpstr>
      <vt:lpstr>XML- Namespaces   </vt:lpstr>
      <vt:lpstr>XML- Namespaces   </vt:lpstr>
      <vt:lpstr>XML- Namespaces   </vt:lpstr>
      <vt:lpstr>XML- Namespaces  </vt:lpstr>
      <vt:lpstr>XML- Namespaces   </vt:lpstr>
      <vt:lpstr>XML- Namespaces  </vt:lpstr>
      <vt:lpstr>PowerPoint 演示文稿</vt:lpstr>
    </vt:vector>
  </TitlesOfParts>
  <Company>DB Schenker Deutschland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Schulz, Richard R</cp:lastModifiedBy>
  <cp:revision>613</cp:revision>
  <cp:lastPrinted>2012-11-23T10:04:04Z</cp:lastPrinted>
  <dcterms:created xsi:type="dcterms:W3CDTF">2012-01-09T10:50:23Z</dcterms:created>
  <dcterms:modified xsi:type="dcterms:W3CDTF">2022-10-31T06:21:14Z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ediaServiceImageTags">
    <vt:lpwstr/>
  </property>
</Properties>
</file>